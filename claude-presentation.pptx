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90C"/>
        </a:solidFill>
      </p:bgPr>
    </p:bg>
    <p:spTree>
      <p:nvGrpSpPr>
        <p:cNvPr id="15" name="Shape 15"/>
        <p:cNvGrpSpPr/>
        <p:nvPr/>
      </p:nvGrpSpPr>
      <p:grpSpPr>
        <a:xfrm>
          <a:off x="0" y="0"/>
          <a:ext cx="0" cy="0"/>
          <a:chOff x="0" y="0"/>
          <a:chExt cx="0" cy="0"/>
        </a:xfrm>
      </p:grpSpPr>
      <p:sp>
        <p:nvSpPr>
          <p:cNvPr id="16" name="Google Shape;16;p3"/>
          <p:cNvSpPr/>
          <p:nvPr/>
        </p:nvSpPr>
        <p:spPr>
          <a:xfrm>
            <a:off x="5840525" y="-1394550"/>
            <a:ext cx="5486400" cy="640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1117"/>
              </a:buClr>
              <a:buSzPts val="28000"/>
              <a:buFont typeface="Calibri"/>
              <a:buNone/>
            </a:pPr>
            <a:r>
              <a:rPr b="1" i="0" lang="en-US" sz="28000" u="none" cap="none" strike="noStrike">
                <a:solidFill>
                  <a:srgbClr val="111117"/>
                </a:solidFill>
                <a:latin typeface="Calibri"/>
                <a:ea typeface="Calibri"/>
                <a:cs typeface="Calibri"/>
                <a:sym typeface="Calibri"/>
              </a:rPr>
              <a:t>C</a:t>
            </a:r>
            <a:endParaRPr b="0" i="0" sz="28000" u="none" cap="none" strike="noStrike">
              <a:solidFill>
                <a:schemeClr val="dk1"/>
              </a:solidFill>
              <a:latin typeface="Calibri"/>
              <a:ea typeface="Calibri"/>
              <a:cs typeface="Calibri"/>
              <a:sym typeface="Calibri"/>
            </a:endParaRPr>
          </a:p>
        </p:txBody>
      </p:sp>
      <p:sp>
        <p:nvSpPr>
          <p:cNvPr id="17" name="Google Shape;17;p3"/>
          <p:cNvSpPr/>
          <p:nvPr/>
        </p:nvSpPr>
        <p:spPr>
          <a:xfrm>
            <a:off x="533750" y="384050"/>
            <a:ext cx="7298700" cy="246900"/>
          </a:xfrm>
          <a:prstGeom prst="rect">
            <a:avLst/>
          </a:prstGeom>
          <a:solidFill>
            <a:srgbClr val="E8602A"/>
          </a:solidFill>
          <a:ln cap="flat" cmpd="sng" w="9525">
            <a:solidFill>
              <a:srgbClr val="E86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33750" y="460573"/>
            <a:ext cx="3657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602A"/>
              </a:buClr>
              <a:buSzPts val="700"/>
              <a:buFont typeface="Calibri"/>
              <a:buNone/>
            </a:pPr>
            <a:r>
              <a:rPr b="1" i="0" lang="en-US" sz="700" u="none" cap="none" strike="noStrike">
                <a:solidFill>
                  <a:srgbClr val="E8602A"/>
                </a:solidFill>
                <a:latin typeface="Calibri"/>
                <a:ea typeface="Calibri"/>
                <a:cs typeface="Calibri"/>
                <a:sym typeface="Calibri"/>
              </a:rPr>
              <a:t>ANTHROPIC  ·  INTERNAL PRESENTATION  ·  MAY 2026</a:t>
            </a:r>
            <a:endParaRPr b="0" i="0" sz="700" u="none" cap="none" strike="noStrike">
              <a:solidFill>
                <a:schemeClr val="dk1"/>
              </a:solidFill>
              <a:latin typeface="Calibri"/>
              <a:ea typeface="Calibri"/>
              <a:cs typeface="Calibri"/>
              <a:sym typeface="Calibri"/>
            </a:endParaRPr>
          </a:p>
        </p:txBody>
      </p:sp>
      <p:sp>
        <p:nvSpPr>
          <p:cNvPr id="19" name="Google Shape;19;p3"/>
          <p:cNvSpPr/>
          <p:nvPr/>
        </p:nvSpPr>
        <p:spPr>
          <a:xfrm>
            <a:off x="457200" y="749794"/>
            <a:ext cx="7298700" cy="269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8800"/>
              <a:buFont typeface="Calibri"/>
              <a:buNone/>
            </a:pPr>
            <a:r>
              <a:rPr b="1" i="0" lang="en-US" sz="8800" u="none" cap="none" strike="noStrike">
                <a:solidFill>
                  <a:srgbClr val="EEEEF2"/>
                </a:solidFill>
                <a:latin typeface="Calibri"/>
                <a:ea typeface="Calibri"/>
                <a:cs typeface="Calibri"/>
                <a:sym typeface="Calibri"/>
              </a:rPr>
              <a:t>Claude by Anthropic</a:t>
            </a:r>
            <a:endParaRPr b="0" i="0" sz="8800" u="none" cap="none" strike="noStrike">
              <a:solidFill>
                <a:schemeClr val="dk1"/>
              </a:solidFill>
              <a:latin typeface="Calibri"/>
              <a:ea typeface="Calibri"/>
              <a:cs typeface="Calibri"/>
              <a:sym typeface="Calibri"/>
            </a:endParaRPr>
          </a:p>
        </p:txBody>
      </p:sp>
      <p:sp>
        <p:nvSpPr>
          <p:cNvPr id="20" name="Google Shape;20;p3"/>
          <p:cNvSpPr/>
          <p:nvPr/>
        </p:nvSpPr>
        <p:spPr>
          <a:xfrm>
            <a:off x="457200" y="3559978"/>
            <a:ext cx="59436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1500"/>
              <a:buFont typeface="Calibri"/>
              <a:buNone/>
            </a:pPr>
            <a:r>
              <a:rPr lang="en-US" sz="1500">
                <a:solidFill>
                  <a:srgbClr val="888898"/>
                </a:solidFill>
                <a:latin typeface="Calibri"/>
                <a:ea typeface="Calibri"/>
                <a:cs typeface="Calibri"/>
                <a:sym typeface="Calibri"/>
              </a:rPr>
              <a:t>Next Generation AI Assistant</a:t>
            </a:r>
            <a:endParaRPr b="0" i="0" sz="1500" u="none" cap="none" strike="noStrike">
              <a:solidFill>
                <a:schemeClr val="dk1"/>
              </a:solidFill>
              <a:latin typeface="Calibri"/>
              <a:ea typeface="Calibri"/>
              <a:cs typeface="Calibri"/>
              <a:sym typeface="Calibri"/>
            </a:endParaRPr>
          </a:p>
        </p:txBody>
      </p:sp>
      <p:pic>
        <p:nvPicPr>
          <p:cNvPr id="21" name="Google Shape;21;p3" title="claude-logo.png"/>
          <p:cNvPicPr preferRelativeResize="0"/>
          <p:nvPr/>
        </p:nvPicPr>
        <p:blipFill>
          <a:blip r:embed="rId3">
            <a:alphaModFix/>
          </a:blip>
          <a:stretch>
            <a:fillRect/>
          </a:stretch>
        </p:blipFill>
        <p:spPr>
          <a:xfrm>
            <a:off x="5120550" y="460575"/>
            <a:ext cx="3076925" cy="3503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90C"/>
        </a:solidFill>
      </p:bgPr>
    </p:bg>
    <p:spTree>
      <p:nvGrpSpPr>
        <p:cNvPr id="26" name="Shape 26"/>
        <p:cNvGrpSpPr/>
        <p:nvPr/>
      </p:nvGrpSpPr>
      <p:grpSpPr>
        <a:xfrm>
          <a:off x="0" y="0"/>
          <a:ext cx="0" cy="0"/>
          <a:chOff x="0" y="0"/>
          <a:chExt cx="0" cy="0"/>
        </a:xfrm>
      </p:grpSpPr>
      <p:sp>
        <p:nvSpPr>
          <p:cNvPr id="27" name="Google Shape;27;p4"/>
          <p:cNvSpPr/>
          <p:nvPr/>
        </p:nvSpPr>
        <p:spPr>
          <a:xfrm>
            <a:off x="365760" y="164592"/>
            <a:ext cx="84124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BACKGROUND</a:t>
            </a:r>
            <a:endParaRPr b="0" i="0" sz="800" u="none" cap="none" strike="noStrike">
              <a:solidFill>
                <a:schemeClr val="dk1"/>
              </a:solidFill>
              <a:latin typeface="Calibri"/>
              <a:ea typeface="Calibri"/>
              <a:cs typeface="Calibri"/>
              <a:sym typeface="Calibri"/>
            </a:endParaRPr>
          </a:p>
        </p:txBody>
      </p:sp>
      <p:sp>
        <p:nvSpPr>
          <p:cNvPr id="28" name="Google Shape;28;p4"/>
          <p:cNvSpPr/>
          <p:nvPr/>
        </p:nvSpPr>
        <p:spPr>
          <a:xfrm>
            <a:off x="365760" y="347472"/>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2200"/>
              <a:buFont typeface="Calibri"/>
              <a:buNone/>
            </a:pPr>
            <a:r>
              <a:rPr b="1" i="0" lang="en-US" sz="2200" u="none" cap="none" strike="noStrike">
                <a:solidFill>
                  <a:srgbClr val="EEEEF2"/>
                </a:solidFill>
                <a:latin typeface="Calibri"/>
                <a:ea typeface="Calibri"/>
                <a:cs typeface="Calibri"/>
                <a:sym typeface="Calibri"/>
              </a:rPr>
              <a:t>Who Is Anthropic?</a:t>
            </a:r>
            <a:endParaRPr b="0" i="0" sz="2200" u="none" cap="none" strike="noStrike">
              <a:solidFill>
                <a:schemeClr val="dk1"/>
              </a:solidFill>
              <a:latin typeface="Calibri"/>
              <a:ea typeface="Calibri"/>
              <a:cs typeface="Calibri"/>
              <a:sym typeface="Calibri"/>
            </a:endParaRPr>
          </a:p>
        </p:txBody>
      </p:sp>
      <p:sp>
        <p:nvSpPr>
          <p:cNvPr id="29" name="Google Shape;29;p4"/>
          <p:cNvSpPr/>
          <p:nvPr/>
        </p:nvSpPr>
        <p:spPr>
          <a:xfrm>
            <a:off x="365760" y="822960"/>
            <a:ext cx="8412480" cy="16459"/>
          </a:xfrm>
          <a:prstGeom prst="rect">
            <a:avLst/>
          </a:prstGeom>
          <a:solidFill>
            <a:srgbClr val="2A2A38"/>
          </a:solidFill>
          <a:ln cap="flat" cmpd="sng" w="12700">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365760" y="960120"/>
            <a:ext cx="4069080" cy="141732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475488" y="1033272"/>
            <a:ext cx="3886200" cy="1554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FOUNDING &amp; LEADERSHIP</a:t>
            </a:r>
            <a:endParaRPr b="0" i="0" sz="800" u="none" cap="none" strike="noStrike">
              <a:solidFill>
                <a:schemeClr val="dk1"/>
              </a:solidFill>
              <a:latin typeface="Calibri"/>
              <a:ea typeface="Calibri"/>
              <a:cs typeface="Calibri"/>
              <a:sym typeface="Calibri"/>
            </a:endParaRPr>
          </a:p>
        </p:txBody>
      </p:sp>
      <p:sp>
        <p:nvSpPr>
          <p:cNvPr id="32" name="Google Shape;32;p4"/>
          <p:cNvSpPr/>
          <p:nvPr/>
        </p:nvSpPr>
        <p:spPr>
          <a:xfrm>
            <a:off x="475488" y="1170432"/>
            <a:ext cx="384048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602A"/>
              </a:buClr>
              <a:buSzPts val="950"/>
              <a:buFont typeface="Calibri"/>
              <a:buNone/>
            </a:pPr>
            <a:r>
              <a:rPr b="1" i="0" lang="en-US" sz="950" u="none" cap="none" strike="noStrike">
                <a:solidFill>
                  <a:srgbClr val="E8602A"/>
                </a:solidFill>
                <a:latin typeface="Calibri"/>
                <a:ea typeface="Calibri"/>
                <a:cs typeface="Calibri"/>
                <a:sym typeface="Calibri"/>
              </a:rPr>
              <a:t>›  </a:t>
            </a:r>
            <a:r>
              <a:rPr b="1" i="0" lang="en-US" sz="950" u="none" cap="none" strike="noStrike">
                <a:solidFill>
                  <a:srgbClr val="EEEEF2"/>
                </a:solidFill>
                <a:latin typeface="Calibri"/>
                <a:ea typeface="Calibri"/>
                <a:cs typeface="Calibri"/>
                <a:sym typeface="Calibri"/>
              </a:rPr>
              <a:t>Founded 2021 — 7 former OpenAI researchers &amp; executives</a:t>
            </a:r>
            <a:endParaRPr b="0" i="0" sz="95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E8602A"/>
              </a:buClr>
              <a:buSzPts val="950"/>
              <a:buFont typeface="Calibri"/>
              <a:buNone/>
            </a:pPr>
            <a:r>
              <a:rPr b="1" i="0" lang="en-US" sz="950" u="none" cap="none" strike="noStrike">
                <a:solidFill>
                  <a:srgbClr val="E8602A"/>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CEO: Dario Amodei — ex OpenAI VP of Research</a:t>
            </a:r>
            <a:endParaRPr b="0" i="0" sz="95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E8602A"/>
              </a:buClr>
              <a:buSzPts val="950"/>
              <a:buFont typeface="Calibri"/>
              <a:buNone/>
            </a:pPr>
            <a:r>
              <a:rPr b="1" i="0" lang="en-US" sz="950" u="none" cap="none" strike="noStrike">
                <a:solidFill>
                  <a:srgbClr val="E8602A"/>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President: Daniela Amodei — ex OpenAI VP of Operations</a:t>
            </a:r>
            <a:endParaRPr b="0" i="0" sz="95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E8602A"/>
              </a:buClr>
              <a:buSzPts val="950"/>
              <a:buFont typeface="Calibri"/>
              <a:buNone/>
            </a:pPr>
            <a:r>
              <a:rPr b="1" i="0" lang="en-US" sz="950" u="none" cap="none" strike="noStrike">
                <a:solidFill>
                  <a:srgbClr val="E8602A"/>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Mission: Build the world's safest and most capable AI — safety is a first-class engineering constraint</a:t>
            </a:r>
            <a:endParaRPr b="0" i="0" sz="950" u="none" cap="none" strike="noStrike">
              <a:solidFill>
                <a:schemeClr val="dk1"/>
              </a:solidFill>
              <a:latin typeface="Calibri"/>
              <a:ea typeface="Calibri"/>
              <a:cs typeface="Calibri"/>
              <a:sym typeface="Calibri"/>
            </a:endParaRPr>
          </a:p>
        </p:txBody>
      </p:sp>
      <p:sp>
        <p:nvSpPr>
          <p:cNvPr id="33" name="Google Shape;33;p4"/>
          <p:cNvSpPr/>
          <p:nvPr/>
        </p:nvSpPr>
        <p:spPr>
          <a:xfrm>
            <a:off x="365760" y="2468880"/>
            <a:ext cx="4069080" cy="164592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475488" y="2542032"/>
            <a:ext cx="3886200" cy="1554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SAFETY METHODOLOGY — CONSTITUTIONAL AI (CAI)</a:t>
            </a:r>
            <a:endParaRPr b="0" i="0" sz="800" u="none" cap="none" strike="noStrike">
              <a:solidFill>
                <a:schemeClr val="dk1"/>
              </a:solidFill>
              <a:latin typeface="Calibri"/>
              <a:ea typeface="Calibri"/>
              <a:cs typeface="Calibri"/>
              <a:sym typeface="Calibri"/>
            </a:endParaRPr>
          </a:p>
        </p:txBody>
      </p:sp>
      <p:sp>
        <p:nvSpPr>
          <p:cNvPr id="35" name="Google Shape;35;p4"/>
          <p:cNvSpPr/>
          <p:nvPr/>
        </p:nvSpPr>
        <p:spPr>
          <a:xfrm>
            <a:off x="475488" y="2679192"/>
            <a:ext cx="3840480"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602A"/>
              </a:buClr>
              <a:buSzPts val="950"/>
              <a:buFont typeface="Calibri"/>
              <a:buNone/>
            </a:pPr>
            <a:r>
              <a:rPr b="1" i="0" lang="en-US" sz="950" u="none" cap="none" strike="noStrike">
                <a:solidFill>
                  <a:srgbClr val="E8602A"/>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Model self-critiques responses against a 'constitution' of guiding principles during training.</a:t>
            </a:r>
            <a:endParaRPr b="0" i="0" sz="95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E8602A"/>
              </a:buClr>
              <a:buSzPts val="950"/>
              <a:buFont typeface="Calibri"/>
              <a:buNone/>
            </a:pPr>
            <a:r>
              <a:rPr b="1" i="0" lang="en-US" sz="950" u="none" cap="none" strike="noStrike">
                <a:solidFill>
                  <a:srgbClr val="E8602A"/>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Two phases: </a:t>
            </a:r>
            <a:r>
              <a:rPr lang="en-US" sz="950">
                <a:solidFill>
                  <a:srgbClr val="888898"/>
                </a:solidFill>
                <a:latin typeface="Calibri"/>
                <a:ea typeface="Calibri"/>
                <a:cs typeface="Calibri"/>
                <a:sym typeface="Calibri"/>
              </a:rPr>
              <a:t>S</a:t>
            </a:r>
            <a:r>
              <a:rPr b="0" i="0" lang="en-US" sz="950" u="none" cap="none" strike="noStrike">
                <a:solidFill>
                  <a:srgbClr val="888898"/>
                </a:solidFill>
                <a:latin typeface="Calibri"/>
                <a:ea typeface="Calibri"/>
                <a:cs typeface="Calibri"/>
                <a:sym typeface="Calibri"/>
              </a:rPr>
              <a:t>upervised learning (self-critique + revise) then RLAIF — reinforcement learning from AI feedback.</a:t>
            </a:r>
            <a:endParaRPr b="0" i="0" sz="95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E8602A"/>
              </a:buClr>
              <a:buSzPts val="950"/>
              <a:buFont typeface="Calibri"/>
              <a:buNone/>
            </a:pPr>
            <a:r>
              <a:rPr b="1" i="0" lang="en-US" sz="950" u="none" cap="none" strike="noStrike">
                <a:solidFill>
                  <a:srgbClr val="E8602A"/>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More robustly aligned than standard RLHF</a:t>
            </a:r>
            <a:r>
              <a:rPr lang="en-US" sz="950">
                <a:solidFill>
                  <a:srgbClr val="888898"/>
                </a:solidFill>
                <a:latin typeface="Calibri"/>
                <a:ea typeface="Calibri"/>
                <a:cs typeface="Calibri"/>
                <a:sym typeface="Calibri"/>
              </a:rPr>
              <a:t>. R</a:t>
            </a:r>
            <a:r>
              <a:rPr b="0" i="0" lang="en-US" sz="950" u="none" cap="none" strike="noStrike">
                <a:solidFill>
                  <a:srgbClr val="888898"/>
                </a:solidFill>
                <a:latin typeface="Calibri"/>
                <a:ea typeface="Calibri"/>
                <a:cs typeface="Calibri"/>
                <a:sym typeface="Calibri"/>
              </a:rPr>
              <a:t>esistance to misuse is baked into training, not layered on.</a:t>
            </a:r>
            <a:endParaRPr b="0" i="0" sz="95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E8602A"/>
              </a:buClr>
              <a:buSzPts val="950"/>
              <a:buFont typeface="Calibri"/>
              <a:buNone/>
            </a:pPr>
            <a:r>
              <a:rPr b="1" i="0" lang="en-US" sz="950" u="none" cap="none" strike="noStrike">
                <a:solidFill>
                  <a:srgbClr val="E8602A"/>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2026 constitution: 23,000 words explaining the rationale behind every guideline</a:t>
            </a:r>
            <a:r>
              <a:rPr lang="en-US" sz="950">
                <a:solidFill>
                  <a:srgbClr val="888898"/>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36" name="Google Shape;36;p4"/>
          <p:cNvSpPr/>
          <p:nvPr/>
        </p:nvSpPr>
        <p:spPr>
          <a:xfrm>
            <a:off x="4617720" y="960120"/>
            <a:ext cx="2011680" cy="96012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4709160" y="1051560"/>
            <a:ext cx="18288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602A"/>
              </a:buClr>
              <a:buSzPts val="2200"/>
              <a:buFont typeface="Calibri"/>
              <a:buNone/>
            </a:pPr>
            <a:r>
              <a:rPr b="1" i="0" lang="en-US" sz="2200" u="none" cap="none" strike="noStrike">
                <a:solidFill>
                  <a:srgbClr val="E8602A"/>
                </a:solidFill>
                <a:latin typeface="Calibri"/>
                <a:ea typeface="Calibri"/>
                <a:cs typeface="Calibri"/>
                <a:sym typeface="Calibri"/>
              </a:rPr>
              <a:t>$380B</a:t>
            </a:r>
            <a:endParaRPr b="0" i="0" sz="2200" u="none" cap="none" strike="noStrike">
              <a:solidFill>
                <a:schemeClr val="dk1"/>
              </a:solidFill>
              <a:latin typeface="Calibri"/>
              <a:ea typeface="Calibri"/>
              <a:cs typeface="Calibri"/>
              <a:sym typeface="Calibri"/>
            </a:endParaRPr>
          </a:p>
        </p:txBody>
      </p:sp>
      <p:sp>
        <p:nvSpPr>
          <p:cNvPr id="38" name="Google Shape;38;p4"/>
          <p:cNvSpPr/>
          <p:nvPr/>
        </p:nvSpPr>
        <p:spPr>
          <a:xfrm>
            <a:off x="4709160" y="1417320"/>
            <a:ext cx="182880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EEEF2"/>
              </a:buClr>
              <a:buSzPts val="1000"/>
              <a:buFont typeface="Calibri"/>
              <a:buNone/>
            </a:pPr>
            <a:r>
              <a:rPr b="1" i="0" lang="en-US" sz="1000" u="none" cap="none" strike="noStrike">
                <a:solidFill>
                  <a:srgbClr val="EEEEF2"/>
                </a:solidFill>
                <a:latin typeface="Calibri"/>
                <a:ea typeface="Calibri"/>
                <a:cs typeface="Calibri"/>
                <a:sym typeface="Calibri"/>
              </a:rPr>
              <a:t>Valuation</a:t>
            </a:r>
            <a:endParaRPr b="0" i="0" sz="1000" u="none" cap="none" strike="noStrike">
              <a:solidFill>
                <a:schemeClr val="dk1"/>
              </a:solidFill>
              <a:latin typeface="Calibri"/>
              <a:ea typeface="Calibri"/>
              <a:cs typeface="Calibri"/>
              <a:sym typeface="Calibri"/>
            </a:endParaRPr>
          </a:p>
        </p:txBody>
      </p:sp>
      <p:sp>
        <p:nvSpPr>
          <p:cNvPr id="39" name="Google Shape;39;p4"/>
          <p:cNvSpPr/>
          <p:nvPr/>
        </p:nvSpPr>
        <p:spPr>
          <a:xfrm>
            <a:off x="4709160" y="1600200"/>
            <a:ext cx="182880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8898"/>
              </a:buClr>
              <a:buSzPts val="800"/>
              <a:buFont typeface="Calibri"/>
              <a:buNone/>
            </a:pPr>
            <a:r>
              <a:rPr b="0" i="0" lang="en-US" sz="800" u="none" cap="none" strike="noStrike">
                <a:solidFill>
                  <a:srgbClr val="888898"/>
                </a:solidFill>
                <a:latin typeface="Calibri"/>
                <a:ea typeface="Calibri"/>
                <a:cs typeface="Calibri"/>
                <a:sym typeface="Calibri"/>
              </a:rPr>
              <a:t>Feb 2026</a:t>
            </a:r>
            <a:endParaRPr b="0" i="0" sz="800" u="none" cap="none" strike="noStrike">
              <a:solidFill>
                <a:schemeClr val="dk1"/>
              </a:solidFill>
              <a:latin typeface="Calibri"/>
              <a:ea typeface="Calibri"/>
              <a:cs typeface="Calibri"/>
              <a:sym typeface="Calibri"/>
            </a:endParaRPr>
          </a:p>
        </p:txBody>
      </p:sp>
      <p:sp>
        <p:nvSpPr>
          <p:cNvPr id="40" name="Google Shape;40;p4"/>
          <p:cNvSpPr/>
          <p:nvPr/>
        </p:nvSpPr>
        <p:spPr>
          <a:xfrm>
            <a:off x="6766560" y="960120"/>
            <a:ext cx="2011680" cy="96012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6858000" y="1051560"/>
            <a:ext cx="18288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602A"/>
              </a:buClr>
              <a:buSzPts val="2200"/>
              <a:buFont typeface="Calibri"/>
              <a:buNone/>
            </a:pPr>
            <a:r>
              <a:rPr b="1" i="0" lang="en-US" sz="2200" u="none" cap="none" strike="noStrike">
                <a:solidFill>
                  <a:srgbClr val="E8602A"/>
                </a:solidFill>
                <a:latin typeface="Calibri"/>
                <a:ea typeface="Calibri"/>
                <a:cs typeface="Calibri"/>
                <a:sym typeface="Calibri"/>
              </a:rPr>
              <a:t>~80%</a:t>
            </a:r>
            <a:endParaRPr b="0" i="0" sz="2200" u="none" cap="none" strike="noStrike">
              <a:solidFill>
                <a:schemeClr val="dk1"/>
              </a:solidFill>
              <a:latin typeface="Calibri"/>
              <a:ea typeface="Calibri"/>
              <a:cs typeface="Calibri"/>
              <a:sym typeface="Calibri"/>
            </a:endParaRPr>
          </a:p>
        </p:txBody>
      </p:sp>
      <p:sp>
        <p:nvSpPr>
          <p:cNvPr id="42" name="Google Shape;42;p4"/>
          <p:cNvSpPr/>
          <p:nvPr/>
        </p:nvSpPr>
        <p:spPr>
          <a:xfrm>
            <a:off x="6858000" y="1417320"/>
            <a:ext cx="182880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EEEF2"/>
              </a:buClr>
              <a:buSzPts val="1000"/>
              <a:buFont typeface="Calibri"/>
              <a:buNone/>
            </a:pPr>
            <a:r>
              <a:rPr b="1" i="0" lang="en-US" sz="1000" u="none" cap="none" strike="noStrike">
                <a:solidFill>
                  <a:srgbClr val="EEEEF2"/>
                </a:solidFill>
                <a:latin typeface="Calibri"/>
                <a:ea typeface="Calibri"/>
                <a:cs typeface="Calibri"/>
                <a:sym typeface="Calibri"/>
              </a:rPr>
              <a:t>Enterprise Revenue</a:t>
            </a:r>
            <a:endParaRPr b="0" i="0" sz="1000" u="none" cap="none" strike="noStrike">
              <a:solidFill>
                <a:schemeClr val="dk1"/>
              </a:solidFill>
              <a:latin typeface="Calibri"/>
              <a:ea typeface="Calibri"/>
              <a:cs typeface="Calibri"/>
              <a:sym typeface="Calibri"/>
            </a:endParaRPr>
          </a:p>
        </p:txBody>
      </p:sp>
      <p:sp>
        <p:nvSpPr>
          <p:cNvPr id="43" name="Google Shape;43;p4"/>
          <p:cNvSpPr/>
          <p:nvPr/>
        </p:nvSpPr>
        <p:spPr>
          <a:xfrm>
            <a:off x="6858000" y="1600200"/>
            <a:ext cx="182880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8898"/>
              </a:buClr>
              <a:buSzPts val="800"/>
              <a:buFont typeface="Calibri"/>
              <a:buNone/>
            </a:pPr>
            <a:r>
              <a:rPr b="0" i="0" lang="en-US" sz="800" u="none" cap="none" strike="noStrike">
                <a:solidFill>
                  <a:srgbClr val="888898"/>
                </a:solidFill>
                <a:latin typeface="Calibri"/>
                <a:ea typeface="Calibri"/>
                <a:cs typeface="Calibri"/>
                <a:sym typeface="Calibri"/>
              </a:rPr>
              <a:t>of total business</a:t>
            </a:r>
            <a:endParaRPr b="0" i="0" sz="800" u="none" cap="none" strike="noStrike">
              <a:solidFill>
                <a:schemeClr val="dk1"/>
              </a:solidFill>
              <a:latin typeface="Calibri"/>
              <a:ea typeface="Calibri"/>
              <a:cs typeface="Calibri"/>
              <a:sym typeface="Calibri"/>
            </a:endParaRPr>
          </a:p>
        </p:txBody>
      </p:sp>
      <p:sp>
        <p:nvSpPr>
          <p:cNvPr id="44" name="Google Shape;44;p4"/>
          <p:cNvSpPr/>
          <p:nvPr/>
        </p:nvSpPr>
        <p:spPr>
          <a:xfrm>
            <a:off x="4617720" y="2011680"/>
            <a:ext cx="2011680" cy="96012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4709160" y="2103120"/>
            <a:ext cx="18288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602A"/>
              </a:buClr>
              <a:buSzPts val="2200"/>
              <a:buFont typeface="Calibri"/>
              <a:buNone/>
            </a:pPr>
            <a:r>
              <a:rPr b="1" i="0" lang="en-US" sz="2200" u="none" cap="none" strike="noStrike">
                <a:solidFill>
                  <a:srgbClr val="E8602A"/>
                </a:solidFill>
                <a:latin typeface="Calibri"/>
                <a:ea typeface="Calibri"/>
                <a:cs typeface="Calibri"/>
                <a:sym typeface="Calibri"/>
              </a:rPr>
              <a:t>$4B</a:t>
            </a:r>
            <a:endParaRPr b="0" i="0" sz="2200" u="none" cap="none" strike="noStrike">
              <a:solidFill>
                <a:schemeClr val="dk1"/>
              </a:solidFill>
              <a:latin typeface="Calibri"/>
              <a:ea typeface="Calibri"/>
              <a:cs typeface="Calibri"/>
              <a:sym typeface="Calibri"/>
            </a:endParaRPr>
          </a:p>
        </p:txBody>
      </p:sp>
      <p:sp>
        <p:nvSpPr>
          <p:cNvPr id="46" name="Google Shape;46;p4"/>
          <p:cNvSpPr/>
          <p:nvPr/>
        </p:nvSpPr>
        <p:spPr>
          <a:xfrm>
            <a:off x="4709160" y="2468880"/>
            <a:ext cx="182880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EEEF2"/>
              </a:buClr>
              <a:buSzPts val="1000"/>
              <a:buFont typeface="Calibri"/>
              <a:buNone/>
            </a:pPr>
            <a:r>
              <a:rPr b="1" i="0" lang="en-US" sz="1000" u="none" cap="none" strike="noStrike">
                <a:solidFill>
                  <a:srgbClr val="EEEEF2"/>
                </a:solidFill>
                <a:latin typeface="Calibri"/>
                <a:ea typeface="Calibri"/>
                <a:cs typeface="Calibri"/>
                <a:sym typeface="Calibri"/>
              </a:rPr>
              <a:t>AWS Investment</a:t>
            </a:r>
            <a:endParaRPr b="0" i="0" sz="1000" u="none" cap="none" strike="noStrike">
              <a:solidFill>
                <a:schemeClr val="dk1"/>
              </a:solidFill>
              <a:latin typeface="Calibri"/>
              <a:ea typeface="Calibri"/>
              <a:cs typeface="Calibri"/>
              <a:sym typeface="Calibri"/>
            </a:endParaRPr>
          </a:p>
        </p:txBody>
      </p:sp>
      <p:sp>
        <p:nvSpPr>
          <p:cNvPr id="47" name="Google Shape;47;p4"/>
          <p:cNvSpPr/>
          <p:nvPr/>
        </p:nvSpPr>
        <p:spPr>
          <a:xfrm>
            <a:off x="4709160" y="2651760"/>
            <a:ext cx="182880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8898"/>
              </a:buClr>
              <a:buSzPts val="800"/>
              <a:buFont typeface="Calibri"/>
              <a:buNone/>
            </a:pPr>
            <a:r>
              <a:rPr b="0" i="0" lang="en-US" sz="800" u="none" cap="none" strike="noStrike">
                <a:solidFill>
                  <a:srgbClr val="888898"/>
                </a:solidFill>
                <a:latin typeface="Calibri"/>
                <a:ea typeface="Calibri"/>
                <a:cs typeface="Calibri"/>
                <a:sym typeface="Calibri"/>
              </a:rPr>
              <a:t>Amazon partnership</a:t>
            </a:r>
            <a:endParaRPr b="0" i="0" sz="800" u="none" cap="none" strike="noStrike">
              <a:solidFill>
                <a:schemeClr val="dk1"/>
              </a:solidFill>
              <a:latin typeface="Calibri"/>
              <a:ea typeface="Calibri"/>
              <a:cs typeface="Calibri"/>
              <a:sym typeface="Calibri"/>
            </a:endParaRPr>
          </a:p>
        </p:txBody>
      </p:sp>
      <p:sp>
        <p:nvSpPr>
          <p:cNvPr id="48" name="Google Shape;48;p4"/>
          <p:cNvSpPr/>
          <p:nvPr/>
        </p:nvSpPr>
        <p:spPr>
          <a:xfrm>
            <a:off x="6766560" y="2011680"/>
            <a:ext cx="2011680" cy="96012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6858000" y="2103120"/>
            <a:ext cx="18288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602A"/>
              </a:buClr>
              <a:buSzPts val="2200"/>
              <a:buFont typeface="Calibri"/>
              <a:buNone/>
            </a:pPr>
            <a:r>
              <a:rPr b="1" i="0" lang="en-US" sz="2200" u="none" cap="none" strike="noStrike">
                <a:solidFill>
                  <a:srgbClr val="E8602A"/>
                </a:solidFill>
                <a:latin typeface="Calibri"/>
                <a:ea typeface="Calibri"/>
                <a:cs typeface="Calibri"/>
                <a:sym typeface="Calibri"/>
              </a:rPr>
              <a:t>1M+</a:t>
            </a:r>
            <a:endParaRPr b="0" i="0" sz="2200" u="none" cap="none" strike="noStrike">
              <a:solidFill>
                <a:schemeClr val="dk1"/>
              </a:solidFill>
              <a:latin typeface="Calibri"/>
              <a:ea typeface="Calibri"/>
              <a:cs typeface="Calibri"/>
              <a:sym typeface="Calibri"/>
            </a:endParaRPr>
          </a:p>
        </p:txBody>
      </p:sp>
      <p:sp>
        <p:nvSpPr>
          <p:cNvPr id="50" name="Google Shape;50;p4"/>
          <p:cNvSpPr/>
          <p:nvPr/>
        </p:nvSpPr>
        <p:spPr>
          <a:xfrm>
            <a:off x="6858000" y="2468880"/>
            <a:ext cx="182880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EEEF2"/>
              </a:buClr>
              <a:buSzPts val="1000"/>
              <a:buFont typeface="Calibri"/>
              <a:buNone/>
            </a:pPr>
            <a:r>
              <a:rPr b="1" i="0" lang="en-US" sz="1000" u="none" cap="none" strike="noStrike">
                <a:solidFill>
                  <a:srgbClr val="EEEEF2"/>
                </a:solidFill>
                <a:latin typeface="Calibri"/>
                <a:ea typeface="Calibri"/>
                <a:cs typeface="Calibri"/>
                <a:sym typeface="Calibri"/>
              </a:rPr>
              <a:t>Google TPUs</a:t>
            </a:r>
            <a:endParaRPr b="0" i="0" sz="1000" u="none" cap="none" strike="noStrike">
              <a:solidFill>
                <a:schemeClr val="dk1"/>
              </a:solidFill>
              <a:latin typeface="Calibri"/>
              <a:ea typeface="Calibri"/>
              <a:cs typeface="Calibri"/>
              <a:sym typeface="Calibri"/>
            </a:endParaRPr>
          </a:p>
        </p:txBody>
      </p:sp>
      <p:sp>
        <p:nvSpPr>
          <p:cNvPr id="51" name="Google Shape;51;p4"/>
          <p:cNvSpPr/>
          <p:nvPr/>
        </p:nvSpPr>
        <p:spPr>
          <a:xfrm>
            <a:off x="6858000" y="2651760"/>
            <a:ext cx="182880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8898"/>
              </a:buClr>
              <a:buSzPts val="800"/>
              <a:buFont typeface="Calibri"/>
              <a:buNone/>
            </a:pPr>
            <a:r>
              <a:rPr b="0" i="0" lang="en-US" sz="800" u="none" cap="none" strike="noStrike">
                <a:solidFill>
                  <a:srgbClr val="888898"/>
                </a:solidFill>
                <a:latin typeface="Calibri"/>
                <a:ea typeface="Calibri"/>
                <a:cs typeface="Calibri"/>
                <a:sym typeface="Calibri"/>
              </a:rPr>
              <a:t>compute access</a:t>
            </a:r>
            <a:endParaRPr b="0" i="0" sz="800" u="none" cap="none" strike="noStrike">
              <a:solidFill>
                <a:schemeClr val="dk1"/>
              </a:solidFill>
              <a:latin typeface="Calibri"/>
              <a:ea typeface="Calibri"/>
              <a:cs typeface="Calibri"/>
              <a:sym typeface="Calibri"/>
            </a:endParaRPr>
          </a:p>
        </p:txBody>
      </p:sp>
      <p:sp>
        <p:nvSpPr>
          <p:cNvPr id="52" name="Google Shape;52;p4"/>
          <p:cNvSpPr/>
          <p:nvPr/>
        </p:nvSpPr>
        <p:spPr>
          <a:xfrm>
            <a:off x="4617720" y="3090672"/>
            <a:ext cx="4160520" cy="1024128"/>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4727448" y="3163824"/>
            <a:ext cx="3977640" cy="1554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CLOUD &amp; INFRASTRUCTURE PARTNERS</a:t>
            </a:r>
            <a:endParaRPr b="0" i="0" sz="800" u="none" cap="none" strike="noStrike">
              <a:solidFill>
                <a:schemeClr val="dk1"/>
              </a:solidFill>
              <a:latin typeface="Calibri"/>
              <a:ea typeface="Calibri"/>
              <a:cs typeface="Calibri"/>
              <a:sym typeface="Calibri"/>
            </a:endParaRPr>
          </a:p>
        </p:txBody>
      </p:sp>
      <p:sp>
        <p:nvSpPr>
          <p:cNvPr id="54" name="Google Shape;54;p4"/>
          <p:cNvSpPr/>
          <p:nvPr/>
        </p:nvSpPr>
        <p:spPr>
          <a:xfrm>
            <a:off x="4736592" y="3310128"/>
            <a:ext cx="1920240" cy="246888"/>
          </a:xfrm>
          <a:prstGeom prst="rect">
            <a:avLst/>
          </a:prstGeom>
          <a:solidFill>
            <a:srgbClr val="000000"/>
          </a:solidFill>
          <a:ln cap="flat" cmpd="sng" w="9525">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4736592" y="3310128"/>
            <a:ext cx="19202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C9A8"/>
              </a:buClr>
              <a:buSzPts val="800"/>
              <a:buFont typeface="Calibri"/>
              <a:buNone/>
            </a:pPr>
            <a:r>
              <a:rPr b="1" i="0" lang="en-US" sz="800" u="none" cap="none" strike="noStrike">
                <a:solidFill>
                  <a:srgbClr val="1DC9A8"/>
                </a:solidFill>
                <a:latin typeface="Calibri"/>
                <a:ea typeface="Calibri"/>
                <a:cs typeface="Calibri"/>
                <a:sym typeface="Calibri"/>
              </a:rPr>
              <a:t>Amazon Bedrock</a:t>
            </a:r>
            <a:endParaRPr b="0" i="0" sz="800" u="none" cap="none" strike="noStrike">
              <a:solidFill>
                <a:schemeClr val="dk1"/>
              </a:solidFill>
              <a:latin typeface="Calibri"/>
              <a:ea typeface="Calibri"/>
              <a:cs typeface="Calibri"/>
              <a:sym typeface="Calibri"/>
            </a:endParaRPr>
          </a:p>
        </p:txBody>
      </p:sp>
      <p:sp>
        <p:nvSpPr>
          <p:cNvPr id="56" name="Google Shape;56;p4"/>
          <p:cNvSpPr/>
          <p:nvPr/>
        </p:nvSpPr>
        <p:spPr>
          <a:xfrm>
            <a:off x="6748272" y="3310128"/>
            <a:ext cx="1920240" cy="246888"/>
          </a:xfrm>
          <a:prstGeom prst="rect">
            <a:avLst/>
          </a:prstGeom>
          <a:solidFill>
            <a:srgbClr val="000000"/>
          </a:solidFill>
          <a:ln cap="flat" cmpd="sng" w="9525">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6748272" y="3310128"/>
            <a:ext cx="19202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C9A8"/>
              </a:buClr>
              <a:buSzPts val="800"/>
              <a:buFont typeface="Calibri"/>
              <a:buNone/>
            </a:pPr>
            <a:r>
              <a:rPr b="1" i="0" lang="en-US" sz="800" u="none" cap="none" strike="noStrike">
                <a:solidFill>
                  <a:srgbClr val="1DC9A8"/>
                </a:solidFill>
                <a:latin typeface="Calibri"/>
                <a:ea typeface="Calibri"/>
                <a:cs typeface="Calibri"/>
                <a:sym typeface="Calibri"/>
              </a:rPr>
              <a:t>Google Vertex AI</a:t>
            </a:r>
            <a:endParaRPr b="0" i="0" sz="800" u="none" cap="none" strike="noStrike">
              <a:solidFill>
                <a:schemeClr val="dk1"/>
              </a:solidFill>
              <a:latin typeface="Calibri"/>
              <a:ea typeface="Calibri"/>
              <a:cs typeface="Calibri"/>
              <a:sym typeface="Calibri"/>
            </a:endParaRPr>
          </a:p>
        </p:txBody>
      </p:sp>
      <p:sp>
        <p:nvSpPr>
          <p:cNvPr id="58" name="Google Shape;58;p4"/>
          <p:cNvSpPr/>
          <p:nvPr/>
        </p:nvSpPr>
        <p:spPr>
          <a:xfrm>
            <a:off x="4736592" y="3611880"/>
            <a:ext cx="1920240" cy="246888"/>
          </a:xfrm>
          <a:prstGeom prst="rect">
            <a:avLst/>
          </a:prstGeom>
          <a:solidFill>
            <a:srgbClr val="000000"/>
          </a:solidFill>
          <a:ln cap="flat" cmpd="sng" w="9525">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4736592" y="3611880"/>
            <a:ext cx="19202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C9A8"/>
              </a:buClr>
              <a:buSzPts val="800"/>
              <a:buFont typeface="Calibri"/>
              <a:buNone/>
            </a:pPr>
            <a:r>
              <a:rPr b="1" i="0" lang="en-US" sz="800" u="none" cap="none" strike="noStrike">
                <a:solidFill>
                  <a:srgbClr val="1DC9A8"/>
                </a:solidFill>
                <a:latin typeface="Calibri"/>
                <a:ea typeface="Calibri"/>
                <a:cs typeface="Calibri"/>
                <a:sym typeface="Calibri"/>
              </a:rPr>
              <a:t>Microsoft Azure Foundry</a:t>
            </a:r>
            <a:endParaRPr b="0" i="0" sz="800" u="none" cap="none" strike="noStrike">
              <a:solidFill>
                <a:schemeClr val="dk1"/>
              </a:solidFill>
              <a:latin typeface="Calibri"/>
              <a:ea typeface="Calibri"/>
              <a:cs typeface="Calibri"/>
              <a:sym typeface="Calibri"/>
            </a:endParaRPr>
          </a:p>
        </p:txBody>
      </p:sp>
      <p:sp>
        <p:nvSpPr>
          <p:cNvPr id="60" name="Google Shape;60;p4"/>
          <p:cNvSpPr/>
          <p:nvPr/>
        </p:nvSpPr>
        <p:spPr>
          <a:xfrm>
            <a:off x="6748272" y="3611880"/>
            <a:ext cx="1920240" cy="246888"/>
          </a:xfrm>
          <a:prstGeom prst="rect">
            <a:avLst/>
          </a:prstGeom>
          <a:solidFill>
            <a:srgbClr val="000000"/>
          </a:solidFill>
          <a:ln cap="flat" cmpd="sng" w="9525">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6748272" y="3611880"/>
            <a:ext cx="19202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C9A8"/>
              </a:buClr>
              <a:buSzPts val="800"/>
              <a:buFont typeface="Calibri"/>
              <a:buNone/>
            </a:pPr>
            <a:r>
              <a:rPr b="1" i="0" lang="en-US" sz="800" u="none" cap="none" strike="noStrike">
                <a:solidFill>
                  <a:srgbClr val="1DC9A8"/>
                </a:solidFill>
                <a:latin typeface="Calibri"/>
                <a:ea typeface="Calibri"/>
                <a:cs typeface="Calibri"/>
                <a:sym typeface="Calibri"/>
              </a:rPr>
              <a:t>S</a:t>
            </a:r>
            <a:r>
              <a:rPr b="1" lang="en-US" sz="800">
                <a:solidFill>
                  <a:srgbClr val="1DC9A8"/>
                </a:solidFill>
                <a:latin typeface="Calibri"/>
                <a:ea typeface="Calibri"/>
                <a:cs typeface="Calibri"/>
                <a:sym typeface="Calibri"/>
              </a:rPr>
              <a:t>paceX</a:t>
            </a:r>
            <a:endParaRPr b="0" i="0" sz="800" u="none" cap="none" strike="noStrike">
              <a:solidFill>
                <a:schemeClr val="dk1"/>
              </a:solidFill>
              <a:latin typeface="Calibri"/>
              <a:ea typeface="Calibri"/>
              <a:cs typeface="Calibri"/>
              <a:sym typeface="Calibri"/>
            </a:endParaRPr>
          </a:p>
        </p:txBody>
      </p:sp>
      <p:sp>
        <p:nvSpPr>
          <p:cNvPr id="62" name="Google Shape;62;p4"/>
          <p:cNvSpPr/>
          <p:nvPr/>
        </p:nvSpPr>
        <p:spPr>
          <a:xfrm>
            <a:off x="4617720" y="4187952"/>
            <a:ext cx="4160520" cy="749808"/>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4727448" y="4261104"/>
            <a:ext cx="3977640" cy="1554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POLICY</a:t>
            </a:r>
            <a:endParaRPr b="0" i="0" sz="800" u="none" cap="none" strike="noStrike">
              <a:solidFill>
                <a:schemeClr val="dk1"/>
              </a:solidFill>
              <a:latin typeface="Calibri"/>
              <a:ea typeface="Calibri"/>
              <a:cs typeface="Calibri"/>
              <a:sym typeface="Calibri"/>
            </a:endParaRPr>
          </a:p>
        </p:txBody>
      </p:sp>
      <p:sp>
        <p:nvSpPr>
          <p:cNvPr id="64" name="Google Shape;64;p4"/>
          <p:cNvSpPr/>
          <p:nvPr/>
        </p:nvSpPr>
        <p:spPr>
          <a:xfrm>
            <a:off x="4727448" y="4370832"/>
            <a:ext cx="393192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Sales restricted to entities majority-owned by Chinese, Russian, Iranian, or North Korean entities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8898"/>
              </a:buClr>
              <a:buSzPts val="850"/>
              <a:buFont typeface="Calibri"/>
              <a:buNone/>
            </a:pPr>
            <a:r>
              <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90C"/>
        </a:solidFill>
      </p:bgPr>
    </p:bg>
    <p:spTree>
      <p:nvGrpSpPr>
        <p:cNvPr id="69" name="Shape 69"/>
        <p:cNvGrpSpPr/>
        <p:nvPr/>
      </p:nvGrpSpPr>
      <p:grpSpPr>
        <a:xfrm>
          <a:off x="0" y="0"/>
          <a:ext cx="0" cy="0"/>
          <a:chOff x="0" y="0"/>
          <a:chExt cx="0" cy="0"/>
        </a:xfrm>
      </p:grpSpPr>
      <p:sp>
        <p:nvSpPr>
          <p:cNvPr id="70" name="Google Shape;70;p5"/>
          <p:cNvSpPr/>
          <p:nvPr/>
        </p:nvSpPr>
        <p:spPr>
          <a:xfrm>
            <a:off x="365760" y="164592"/>
            <a:ext cx="84124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HISTORY</a:t>
            </a:r>
            <a:endParaRPr b="0" i="0" sz="800" u="none" cap="none" strike="noStrike">
              <a:solidFill>
                <a:schemeClr val="dk1"/>
              </a:solidFill>
              <a:latin typeface="Calibri"/>
              <a:ea typeface="Calibri"/>
              <a:cs typeface="Calibri"/>
              <a:sym typeface="Calibri"/>
            </a:endParaRPr>
          </a:p>
        </p:txBody>
      </p:sp>
      <p:sp>
        <p:nvSpPr>
          <p:cNvPr id="71" name="Google Shape;71;p5"/>
          <p:cNvSpPr/>
          <p:nvPr/>
        </p:nvSpPr>
        <p:spPr>
          <a:xfrm>
            <a:off x="365760" y="347472"/>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2200"/>
              <a:buFont typeface="Calibri"/>
              <a:buNone/>
            </a:pPr>
            <a:r>
              <a:rPr b="1" i="0" lang="en-US" sz="2200" u="none" cap="none" strike="noStrike">
                <a:solidFill>
                  <a:srgbClr val="EEEEF2"/>
                </a:solidFill>
                <a:latin typeface="Calibri"/>
                <a:ea typeface="Calibri"/>
                <a:cs typeface="Calibri"/>
                <a:sym typeface="Calibri"/>
              </a:rPr>
              <a:t>Model Timeline</a:t>
            </a:r>
            <a:endParaRPr b="0" i="0" sz="2200" u="none" cap="none" strike="noStrike">
              <a:solidFill>
                <a:schemeClr val="dk1"/>
              </a:solidFill>
              <a:latin typeface="Calibri"/>
              <a:ea typeface="Calibri"/>
              <a:cs typeface="Calibri"/>
              <a:sym typeface="Calibri"/>
            </a:endParaRPr>
          </a:p>
        </p:txBody>
      </p:sp>
      <p:sp>
        <p:nvSpPr>
          <p:cNvPr id="72" name="Google Shape;72;p5"/>
          <p:cNvSpPr/>
          <p:nvPr/>
        </p:nvSpPr>
        <p:spPr>
          <a:xfrm>
            <a:off x="365760" y="822960"/>
            <a:ext cx="8412480" cy="16459"/>
          </a:xfrm>
          <a:prstGeom prst="rect">
            <a:avLst/>
          </a:prstGeom>
          <a:solidFill>
            <a:srgbClr val="2A2A38"/>
          </a:solidFill>
          <a:ln cap="flat" cmpd="sng" w="12700">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1828800" y="960120"/>
            <a:ext cx="16459" cy="4023360"/>
          </a:xfrm>
          <a:prstGeom prst="rect">
            <a:avLst/>
          </a:prstGeom>
          <a:solidFill>
            <a:srgbClr val="2A2A38"/>
          </a:solidFill>
          <a:ln cap="flat" cmpd="sng" w="12700">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320040" y="1014984"/>
            <a:ext cx="1444752"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A3A50"/>
              </a:buClr>
              <a:buSzPts val="800"/>
              <a:buFont typeface="Calibri"/>
              <a:buNone/>
            </a:pPr>
            <a:r>
              <a:rPr b="0" i="0" lang="en-US" sz="800" u="none" cap="none" strike="noStrike">
                <a:solidFill>
                  <a:srgbClr val="3A3A50"/>
                </a:solidFill>
                <a:latin typeface="Calibri"/>
                <a:ea typeface="Calibri"/>
                <a:cs typeface="Calibri"/>
                <a:sym typeface="Calibri"/>
              </a:rPr>
              <a:t>Mar 2023</a:t>
            </a:r>
            <a:endParaRPr b="0" i="0" sz="800" u="none" cap="none" strike="noStrike">
              <a:solidFill>
                <a:schemeClr val="dk1"/>
              </a:solidFill>
              <a:latin typeface="Calibri"/>
              <a:ea typeface="Calibri"/>
              <a:cs typeface="Calibri"/>
              <a:sym typeface="Calibri"/>
            </a:endParaRPr>
          </a:p>
        </p:txBody>
      </p:sp>
      <p:sp>
        <p:nvSpPr>
          <p:cNvPr id="75" name="Google Shape;75;p5"/>
          <p:cNvSpPr/>
          <p:nvPr/>
        </p:nvSpPr>
        <p:spPr>
          <a:xfrm>
            <a:off x="1746504" y="1014984"/>
            <a:ext cx="164592" cy="164592"/>
          </a:xfrm>
          <a:prstGeom prst="ellipse">
            <a:avLst/>
          </a:prstGeom>
          <a:solidFill>
            <a:srgbClr val="2A2A38"/>
          </a:solidFill>
          <a:ln cap="flat" cmpd="sng" w="12700">
            <a:solidFill>
              <a:srgbClr val="3A3A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2084832" y="969264"/>
            <a:ext cx="32918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1100"/>
              <a:buFont typeface="Calibri"/>
              <a:buNone/>
            </a:pPr>
            <a:r>
              <a:rPr b="0" i="0" lang="en-US" sz="1100" u="none" cap="none" strike="noStrike">
                <a:solidFill>
                  <a:srgbClr val="888898"/>
                </a:solidFill>
                <a:latin typeface="Calibri"/>
                <a:ea typeface="Calibri"/>
                <a:cs typeface="Calibri"/>
                <a:sym typeface="Calibri"/>
              </a:rPr>
              <a:t>Claude 1 &amp; Claude Instant</a:t>
            </a:r>
            <a:endParaRPr b="0" i="0" sz="1100" u="none" cap="none" strike="noStrike">
              <a:solidFill>
                <a:schemeClr val="dk1"/>
              </a:solidFill>
              <a:latin typeface="Calibri"/>
              <a:ea typeface="Calibri"/>
              <a:cs typeface="Calibri"/>
              <a:sym typeface="Calibri"/>
            </a:endParaRPr>
          </a:p>
        </p:txBody>
      </p:sp>
      <p:sp>
        <p:nvSpPr>
          <p:cNvPr id="77" name="Google Shape;77;p5"/>
          <p:cNvSpPr/>
          <p:nvPr/>
        </p:nvSpPr>
        <p:spPr>
          <a:xfrm>
            <a:off x="2084832" y="1161288"/>
            <a:ext cx="667512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50"/>
              </a:buClr>
              <a:buSzPts val="850"/>
              <a:buFont typeface="Calibri"/>
              <a:buNone/>
            </a:pPr>
            <a:r>
              <a:rPr b="0" i="0" lang="en-US" sz="850" u="none" cap="none" strike="noStrike">
                <a:solidFill>
                  <a:srgbClr val="3A3A50"/>
                </a:solidFill>
                <a:latin typeface="Calibri"/>
                <a:ea typeface="Calibri"/>
                <a:cs typeface="Calibri"/>
                <a:sym typeface="Calibri"/>
              </a:rPr>
              <a:t>Limited access — research preview</a:t>
            </a:r>
            <a:endParaRPr b="0" i="0" sz="850" u="none" cap="none" strike="noStrike">
              <a:solidFill>
                <a:schemeClr val="dk1"/>
              </a:solidFill>
              <a:latin typeface="Calibri"/>
              <a:ea typeface="Calibri"/>
              <a:cs typeface="Calibri"/>
              <a:sym typeface="Calibri"/>
            </a:endParaRPr>
          </a:p>
        </p:txBody>
      </p:sp>
      <p:sp>
        <p:nvSpPr>
          <p:cNvPr id="78" name="Google Shape;78;p5"/>
          <p:cNvSpPr/>
          <p:nvPr/>
        </p:nvSpPr>
        <p:spPr>
          <a:xfrm>
            <a:off x="320040" y="1463040"/>
            <a:ext cx="1444752"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A3A50"/>
              </a:buClr>
              <a:buSzPts val="800"/>
              <a:buFont typeface="Calibri"/>
              <a:buNone/>
            </a:pPr>
            <a:r>
              <a:rPr b="0" i="0" lang="en-US" sz="800" u="none" cap="none" strike="noStrike">
                <a:solidFill>
                  <a:srgbClr val="3A3A50"/>
                </a:solidFill>
                <a:latin typeface="Calibri"/>
                <a:ea typeface="Calibri"/>
                <a:cs typeface="Calibri"/>
                <a:sym typeface="Calibri"/>
              </a:rPr>
              <a:t>Jul 2023</a:t>
            </a:r>
            <a:endParaRPr b="0" i="0" sz="800" u="none" cap="none" strike="noStrike">
              <a:solidFill>
                <a:schemeClr val="dk1"/>
              </a:solidFill>
              <a:latin typeface="Calibri"/>
              <a:ea typeface="Calibri"/>
              <a:cs typeface="Calibri"/>
              <a:sym typeface="Calibri"/>
            </a:endParaRPr>
          </a:p>
        </p:txBody>
      </p:sp>
      <p:sp>
        <p:nvSpPr>
          <p:cNvPr id="79" name="Google Shape;79;p5"/>
          <p:cNvSpPr/>
          <p:nvPr/>
        </p:nvSpPr>
        <p:spPr>
          <a:xfrm>
            <a:off x="1746504" y="1463040"/>
            <a:ext cx="164592" cy="164592"/>
          </a:xfrm>
          <a:prstGeom prst="ellipse">
            <a:avLst/>
          </a:prstGeom>
          <a:solidFill>
            <a:srgbClr val="2A2A38"/>
          </a:solidFill>
          <a:ln cap="flat" cmpd="sng" w="12700">
            <a:solidFill>
              <a:srgbClr val="3A3A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2084832" y="1417320"/>
            <a:ext cx="32918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1100"/>
              <a:buFont typeface="Calibri"/>
              <a:buNone/>
            </a:pPr>
            <a:r>
              <a:rPr b="0" i="0" lang="en-US" sz="1100" u="none" cap="none" strike="noStrike">
                <a:solidFill>
                  <a:srgbClr val="888898"/>
                </a:solidFill>
                <a:latin typeface="Calibri"/>
                <a:ea typeface="Calibri"/>
                <a:cs typeface="Calibri"/>
                <a:sym typeface="Calibri"/>
              </a:rPr>
              <a:t>Claude 2</a:t>
            </a:r>
            <a:endParaRPr b="0" i="0" sz="1100" u="none" cap="none" strike="noStrike">
              <a:solidFill>
                <a:schemeClr val="dk1"/>
              </a:solidFill>
              <a:latin typeface="Calibri"/>
              <a:ea typeface="Calibri"/>
              <a:cs typeface="Calibri"/>
              <a:sym typeface="Calibri"/>
            </a:endParaRPr>
          </a:p>
        </p:txBody>
      </p:sp>
      <p:sp>
        <p:nvSpPr>
          <p:cNvPr id="81" name="Google Shape;81;p5"/>
          <p:cNvSpPr/>
          <p:nvPr/>
        </p:nvSpPr>
        <p:spPr>
          <a:xfrm>
            <a:off x="2084832" y="1609344"/>
            <a:ext cx="667512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50"/>
              </a:buClr>
              <a:buSzPts val="850"/>
              <a:buFont typeface="Calibri"/>
              <a:buNone/>
            </a:pPr>
            <a:r>
              <a:rPr b="0" i="0" lang="en-US" sz="850" u="none" cap="none" strike="noStrike">
                <a:solidFill>
                  <a:srgbClr val="3A3A50"/>
                </a:solidFill>
                <a:latin typeface="Calibri"/>
                <a:ea typeface="Calibri"/>
                <a:cs typeface="Calibri"/>
                <a:sym typeface="Calibri"/>
              </a:rPr>
              <a:t>Public launch — improved reasoning, 100K context</a:t>
            </a:r>
            <a:endParaRPr b="0" i="0" sz="850" u="none" cap="none" strike="noStrike">
              <a:solidFill>
                <a:schemeClr val="dk1"/>
              </a:solidFill>
              <a:latin typeface="Calibri"/>
              <a:ea typeface="Calibri"/>
              <a:cs typeface="Calibri"/>
              <a:sym typeface="Calibri"/>
            </a:endParaRPr>
          </a:p>
        </p:txBody>
      </p:sp>
      <p:sp>
        <p:nvSpPr>
          <p:cNvPr id="82" name="Google Shape;82;p5"/>
          <p:cNvSpPr/>
          <p:nvPr/>
        </p:nvSpPr>
        <p:spPr>
          <a:xfrm>
            <a:off x="320040" y="1911096"/>
            <a:ext cx="1444752"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A3A50"/>
              </a:buClr>
              <a:buSzPts val="800"/>
              <a:buFont typeface="Calibri"/>
              <a:buNone/>
            </a:pPr>
            <a:r>
              <a:rPr b="0" i="0" lang="en-US" sz="800" u="none" cap="none" strike="noStrike">
                <a:solidFill>
                  <a:srgbClr val="3A3A50"/>
                </a:solidFill>
                <a:latin typeface="Calibri"/>
                <a:ea typeface="Calibri"/>
                <a:cs typeface="Calibri"/>
                <a:sym typeface="Calibri"/>
              </a:rPr>
              <a:t>Mar 2024</a:t>
            </a:r>
            <a:endParaRPr b="0" i="0" sz="800" u="none" cap="none" strike="noStrike">
              <a:solidFill>
                <a:schemeClr val="dk1"/>
              </a:solidFill>
              <a:latin typeface="Calibri"/>
              <a:ea typeface="Calibri"/>
              <a:cs typeface="Calibri"/>
              <a:sym typeface="Calibri"/>
            </a:endParaRPr>
          </a:p>
        </p:txBody>
      </p:sp>
      <p:sp>
        <p:nvSpPr>
          <p:cNvPr id="83" name="Google Shape;83;p5"/>
          <p:cNvSpPr/>
          <p:nvPr/>
        </p:nvSpPr>
        <p:spPr>
          <a:xfrm>
            <a:off x="1746504" y="1911096"/>
            <a:ext cx="164592" cy="164592"/>
          </a:xfrm>
          <a:prstGeom prst="ellipse">
            <a:avLst/>
          </a:prstGeom>
          <a:solidFill>
            <a:srgbClr val="2A2A38"/>
          </a:solidFill>
          <a:ln cap="flat" cmpd="sng" w="12700">
            <a:solidFill>
              <a:srgbClr val="3A3A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2084832" y="1865376"/>
            <a:ext cx="32918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1100"/>
              <a:buFont typeface="Calibri"/>
              <a:buNone/>
            </a:pPr>
            <a:r>
              <a:rPr b="0" i="0" lang="en-US" sz="1100" u="none" cap="none" strike="noStrike">
                <a:solidFill>
                  <a:srgbClr val="888898"/>
                </a:solidFill>
                <a:latin typeface="Calibri"/>
                <a:ea typeface="Calibri"/>
                <a:cs typeface="Calibri"/>
                <a:sym typeface="Calibri"/>
              </a:rPr>
              <a:t>Claude 3: Haiku, Sonnet, Opus</a:t>
            </a:r>
            <a:endParaRPr b="0" i="0" sz="1100" u="none" cap="none" strike="noStrike">
              <a:solidFill>
                <a:schemeClr val="dk1"/>
              </a:solidFill>
              <a:latin typeface="Calibri"/>
              <a:ea typeface="Calibri"/>
              <a:cs typeface="Calibri"/>
              <a:sym typeface="Calibri"/>
            </a:endParaRPr>
          </a:p>
        </p:txBody>
      </p:sp>
      <p:sp>
        <p:nvSpPr>
          <p:cNvPr id="85" name="Google Shape;85;p5"/>
          <p:cNvSpPr/>
          <p:nvPr/>
        </p:nvSpPr>
        <p:spPr>
          <a:xfrm>
            <a:off x="2084832" y="2057400"/>
            <a:ext cx="667512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50"/>
              </a:buClr>
              <a:buSzPts val="850"/>
              <a:buFont typeface="Calibri"/>
              <a:buNone/>
            </a:pPr>
            <a:r>
              <a:rPr b="0" i="0" lang="en-US" sz="850" u="none" cap="none" strike="noStrike">
                <a:solidFill>
                  <a:srgbClr val="3A3A50"/>
                </a:solidFill>
                <a:latin typeface="Calibri"/>
                <a:ea typeface="Calibri"/>
                <a:cs typeface="Calibri"/>
                <a:sym typeface="Calibri"/>
              </a:rPr>
              <a:t>Multi-modal vision; tiered capability model introduced</a:t>
            </a:r>
            <a:endParaRPr b="0" i="0" sz="850" u="none" cap="none" strike="noStrike">
              <a:solidFill>
                <a:schemeClr val="dk1"/>
              </a:solidFill>
              <a:latin typeface="Calibri"/>
              <a:ea typeface="Calibri"/>
              <a:cs typeface="Calibri"/>
              <a:sym typeface="Calibri"/>
            </a:endParaRPr>
          </a:p>
        </p:txBody>
      </p:sp>
      <p:sp>
        <p:nvSpPr>
          <p:cNvPr id="86" name="Google Shape;86;p5"/>
          <p:cNvSpPr/>
          <p:nvPr/>
        </p:nvSpPr>
        <p:spPr>
          <a:xfrm>
            <a:off x="320040" y="2359152"/>
            <a:ext cx="1444752"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A3A50"/>
              </a:buClr>
              <a:buSzPts val="800"/>
              <a:buFont typeface="Calibri"/>
              <a:buNone/>
            </a:pPr>
            <a:r>
              <a:rPr b="0" i="0" lang="en-US" sz="800" u="none" cap="none" strike="noStrike">
                <a:solidFill>
                  <a:srgbClr val="3A3A50"/>
                </a:solidFill>
                <a:latin typeface="Calibri"/>
                <a:ea typeface="Calibri"/>
                <a:cs typeface="Calibri"/>
                <a:sym typeface="Calibri"/>
              </a:rPr>
              <a:t>Jun 2024</a:t>
            </a:r>
            <a:endParaRPr b="0" i="0" sz="800" u="none" cap="none" strike="noStrike">
              <a:solidFill>
                <a:schemeClr val="dk1"/>
              </a:solidFill>
              <a:latin typeface="Calibri"/>
              <a:ea typeface="Calibri"/>
              <a:cs typeface="Calibri"/>
              <a:sym typeface="Calibri"/>
            </a:endParaRPr>
          </a:p>
        </p:txBody>
      </p:sp>
      <p:sp>
        <p:nvSpPr>
          <p:cNvPr id="87" name="Google Shape;87;p5"/>
          <p:cNvSpPr/>
          <p:nvPr/>
        </p:nvSpPr>
        <p:spPr>
          <a:xfrm>
            <a:off x="1746504" y="2359152"/>
            <a:ext cx="164592" cy="164592"/>
          </a:xfrm>
          <a:prstGeom prst="ellipse">
            <a:avLst/>
          </a:prstGeom>
          <a:solidFill>
            <a:srgbClr val="2A2A38"/>
          </a:solidFill>
          <a:ln cap="flat" cmpd="sng" w="12700">
            <a:solidFill>
              <a:srgbClr val="3A3A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2084832" y="2313432"/>
            <a:ext cx="32918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1100"/>
              <a:buFont typeface="Calibri"/>
              <a:buNone/>
            </a:pPr>
            <a:r>
              <a:rPr b="0" i="0" lang="en-US" sz="1100" u="none" cap="none" strike="noStrike">
                <a:solidFill>
                  <a:srgbClr val="888898"/>
                </a:solidFill>
                <a:latin typeface="Calibri"/>
                <a:ea typeface="Calibri"/>
                <a:cs typeface="Calibri"/>
                <a:sym typeface="Calibri"/>
              </a:rPr>
              <a:t>Claude 3.5 Sonnet</a:t>
            </a:r>
            <a:endParaRPr b="0" i="0" sz="1100" u="none" cap="none" strike="noStrike">
              <a:solidFill>
                <a:schemeClr val="dk1"/>
              </a:solidFill>
              <a:latin typeface="Calibri"/>
              <a:ea typeface="Calibri"/>
              <a:cs typeface="Calibri"/>
              <a:sym typeface="Calibri"/>
            </a:endParaRPr>
          </a:p>
        </p:txBody>
      </p:sp>
      <p:sp>
        <p:nvSpPr>
          <p:cNvPr id="89" name="Google Shape;89;p5"/>
          <p:cNvSpPr/>
          <p:nvPr/>
        </p:nvSpPr>
        <p:spPr>
          <a:xfrm>
            <a:off x="2084832" y="2505456"/>
            <a:ext cx="667512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50"/>
              </a:buClr>
              <a:buSzPts val="850"/>
              <a:buFont typeface="Calibri"/>
              <a:buNone/>
            </a:pPr>
            <a:r>
              <a:rPr b="0" i="0" lang="en-US" sz="850" u="none" cap="none" strike="noStrike">
                <a:solidFill>
                  <a:srgbClr val="3A3A50"/>
                </a:solidFill>
                <a:latin typeface="Calibri"/>
                <a:ea typeface="Calibri"/>
                <a:cs typeface="Calibri"/>
                <a:sym typeface="Calibri"/>
              </a:rPr>
              <a:t>Computer use public beta; Artifacts feature launched</a:t>
            </a:r>
            <a:endParaRPr b="0" i="0" sz="850" u="none" cap="none" strike="noStrike">
              <a:solidFill>
                <a:schemeClr val="dk1"/>
              </a:solidFill>
              <a:latin typeface="Calibri"/>
              <a:ea typeface="Calibri"/>
              <a:cs typeface="Calibri"/>
              <a:sym typeface="Calibri"/>
            </a:endParaRPr>
          </a:p>
        </p:txBody>
      </p:sp>
      <p:sp>
        <p:nvSpPr>
          <p:cNvPr id="90" name="Google Shape;90;p5"/>
          <p:cNvSpPr/>
          <p:nvPr/>
        </p:nvSpPr>
        <p:spPr>
          <a:xfrm>
            <a:off x="320040" y="2807208"/>
            <a:ext cx="1444752"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A3A50"/>
              </a:buClr>
              <a:buSzPts val="800"/>
              <a:buFont typeface="Calibri"/>
              <a:buNone/>
            </a:pPr>
            <a:r>
              <a:rPr b="0" i="0" lang="en-US" sz="800" u="none" cap="none" strike="noStrike">
                <a:solidFill>
                  <a:srgbClr val="3A3A50"/>
                </a:solidFill>
                <a:latin typeface="Calibri"/>
                <a:ea typeface="Calibri"/>
                <a:cs typeface="Calibri"/>
                <a:sym typeface="Calibri"/>
              </a:rPr>
              <a:t>May 2025</a:t>
            </a:r>
            <a:endParaRPr b="0" i="0" sz="800" u="none" cap="none" strike="noStrike">
              <a:solidFill>
                <a:schemeClr val="dk1"/>
              </a:solidFill>
              <a:latin typeface="Calibri"/>
              <a:ea typeface="Calibri"/>
              <a:cs typeface="Calibri"/>
              <a:sym typeface="Calibri"/>
            </a:endParaRPr>
          </a:p>
        </p:txBody>
      </p:sp>
      <p:sp>
        <p:nvSpPr>
          <p:cNvPr id="91" name="Google Shape;91;p5"/>
          <p:cNvSpPr/>
          <p:nvPr/>
        </p:nvSpPr>
        <p:spPr>
          <a:xfrm>
            <a:off x="1746504" y="2807208"/>
            <a:ext cx="164592" cy="164592"/>
          </a:xfrm>
          <a:prstGeom prst="ellipse">
            <a:avLst/>
          </a:prstGeom>
          <a:solidFill>
            <a:srgbClr val="2A2A38"/>
          </a:solidFill>
          <a:ln cap="flat" cmpd="sng" w="12700">
            <a:solidFill>
              <a:srgbClr val="3A3A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2084832" y="2761488"/>
            <a:ext cx="32918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1100"/>
              <a:buFont typeface="Calibri"/>
              <a:buNone/>
            </a:pPr>
            <a:r>
              <a:rPr b="0" i="0" lang="en-US" sz="1100" u="none" cap="none" strike="noStrike">
                <a:solidFill>
                  <a:srgbClr val="888898"/>
                </a:solidFill>
                <a:latin typeface="Calibri"/>
                <a:ea typeface="Calibri"/>
                <a:cs typeface="Calibri"/>
                <a:sym typeface="Calibri"/>
              </a:rPr>
              <a:t>Claude 4: Opus + Sonnet</a:t>
            </a:r>
            <a:endParaRPr b="0" i="0" sz="1100" u="none" cap="none" strike="noStrike">
              <a:solidFill>
                <a:schemeClr val="dk1"/>
              </a:solidFill>
              <a:latin typeface="Calibri"/>
              <a:ea typeface="Calibri"/>
              <a:cs typeface="Calibri"/>
              <a:sym typeface="Calibri"/>
            </a:endParaRPr>
          </a:p>
        </p:txBody>
      </p:sp>
      <p:sp>
        <p:nvSpPr>
          <p:cNvPr id="93" name="Google Shape;93;p5"/>
          <p:cNvSpPr/>
          <p:nvPr/>
        </p:nvSpPr>
        <p:spPr>
          <a:xfrm>
            <a:off x="2084832" y="2953512"/>
            <a:ext cx="667512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50"/>
              </a:buClr>
              <a:buSzPts val="850"/>
              <a:buFont typeface="Calibri"/>
              <a:buNone/>
            </a:pPr>
            <a:r>
              <a:rPr b="0" i="0" lang="en-US" sz="850" u="none" cap="none" strike="noStrike">
                <a:solidFill>
                  <a:srgbClr val="3A3A50"/>
                </a:solidFill>
                <a:latin typeface="Calibri"/>
                <a:ea typeface="Calibri"/>
                <a:cs typeface="Calibri"/>
                <a:sym typeface="Calibri"/>
              </a:rPr>
              <a:t>MCP connectors, Files API, code execution tool; Claude Code GA</a:t>
            </a:r>
            <a:endParaRPr b="0" i="0" sz="850" u="none" cap="none" strike="noStrike">
              <a:solidFill>
                <a:schemeClr val="dk1"/>
              </a:solidFill>
              <a:latin typeface="Calibri"/>
              <a:ea typeface="Calibri"/>
              <a:cs typeface="Calibri"/>
              <a:sym typeface="Calibri"/>
            </a:endParaRPr>
          </a:p>
        </p:txBody>
      </p:sp>
      <p:sp>
        <p:nvSpPr>
          <p:cNvPr id="94" name="Google Shape;94;p5"/>
          <p:cNvSpPr/>
          <p:nvPr/>
        </p:nvSpPr>
        <p:spPr>
          <a:xfrm>
            <a:off x="320040" y="3255264"/>
            <a:ext cx="1444752"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8898"/>
              </a:buClr>
              <a:buSzPts val="800"/>
              <a:buFont typeface="Calibri"/>
              <a:buNone/>
            </a:pPr>
            <a:r>
              <a:rPr b="0" i="0" lang="en-US" sz="800" u="none" cap="none" strike="noStrike">
                <a:solidFill>
                  <a:srgbClr val="888898"/>
                </a:solidFill>
                <a:latin typeface="Calibri"/>
                <a:ea typeface="Calibri"/>
                <a:cs typeface="Calibri"/>
                <a:sym typeface="Calibri"/>
              </a:rPr>
              <a:t>Nov 2025</a:t>
            </a:r>
            <a:endParaRPr b="0" i="0" sz="800" u="none" cap="none" strike="noStrike">
              <a:solidFill>
                <a:schemeClr val="dk1"/>
              </a:solidFill>
              <a:latin typeface="Calibri"/>
              <a:ea typeface="Calibri"/>
              <a:cs typeface="Calibri"/>
              <a:sym typeface="Calibri"/>
            </a:endParaRPr>
          </a:p>
        </p:txBody>
      </p:sp>
      <p:sp>
        <p:nvSpPr>
          <p:cNvPr id="95" name="Google Shape;95;p5"/>
          <p:cNvSpPr/>
          <p:nvPr/>
        </p:nvSpPr>
        <p:spPr>
          <a:xfrm>
            <a:off x="1746504" y="3255264"/>
            <a:ext cx="164592" cy="164592"/>
          </a:xfrm>
          <a:prstGeom prst="ellipse">
            <a:avLst/>
          </a:prstGeom>
          <a:solidFill>
            <a:srgbClr val="E8602A"/>
          </a:solidFill>
          <a:ln cap="flat" cmpd="sng" w="12700">
            <a:solidFill>
              <a:srgbClr val="E86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2084832" y="3209544"/>
            <a:ext cx="32918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Claude Opus 4.5</a:t>
            </a:r>
            <a:endParaRPr b="0" i="0" sz="1100" u="none" cap="none" strike="noStrike">
              <a:solidFill>
                <a:schemeClr val="dk1"/>
              </a:solidFill>
              <a:latin typeface="Calibri"/>
              <a:ea typeface="Calibri"/>
              <a:cs typeface="Calibri"/>
              <a:sym typeface="Calibri"/>
            </a:endParaRPr>
          </a:p>
        </p:txBody>
      </p:sp>
      <p:sp>
        <p:nvSpPr>
          <p:cNvPr id="97" name="Google Shape;97;p5"/>
          <p:cNvSpPr/>
          <p:nvPr/>
        </p:nvSpPr>
        <p:spPr>
          <a:xfrm>
            <a:off x="2084832" y="3401568"/>
            <a:ext cx="667512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50"/>
              </a:buClr>
              <a:buSzPts val="850"/>
              <a:buFont typeface="Calibri"/>
              <a:buNone/>
            </a:pPr>
            <a:r>
              <a:rPr b="0" i="0" lang="en-US" sz="850" u="none" cap="none" strike="noStrike">
                <a:solidFill>
                  <a:srgbClr val="3A3A50"/>
                </a:solidFill>
                <a:latin typeface="Calibri"/>
                <a:ea typeface="Calibri"/>
                <a:cs typeface="Calibri"/>
                <a:sym typeface="Calibri"/>
              </a:rPr>
              <a:t>65% fewer tokens on long-horizon tasks; agent team; effort control API</a:t>
            </a:r>
            <a:endParaRPr b="0" i="0" sz="850" u="none" cap="none" strike="noStrike">
              <a:solidFill>
                <a:schemeClr val="dk1"/>
              </a:solidFill>
              <a:latin typeface="Calibri"/>
              <a:ea typeface="Calibri"/>
              <a:cs typeface="Calibri"/>
              <a:sym typeface="Calibri"/>
            </a:endParaRPr>
          </a:p>
        </p:txBody>
      </p:sp>
      <p:sp>
        <p:nvSpPr>
          <p:cNvPr id="98" name="Google Shape;98;p5"/>
          <p:cNvSpPr/>
          <p:nvPr/>
        </p:nvSpPr>
        <p:spPr>
          <a:xfrm>
            <a:off x="320040" y="3703320"/>
            <a:ext cx="1444752"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8898"/>
              </a:buClr>
              <a:buSzPts val="800"/>
              <a:buFont typeface="Calibri"/>
              <a:buNone/>
            </a:pPr>
            <a:r>
              <a:rPr b="0" i="0" lang="en-US" sz="800" u="none" cap="none" strike="noStrike">
                <a:solidFill>
                  <a:srgbClr val="888898"/>
                </a:solidFill>
                <a:latin typeface="Calibri"/>
                <a:ea typeface="Calibri"/>
                <a:cs typeface="Calibri"/>
                <a:sym typeface="Calibri"/>
              </a:rPr>
              <a:t>Feb 5 2026</a:t>
            </a:r>
            <a:endParaRPr b="0" i="0" sz="800" u="none" cap="none" strike="noStrike">
              <a:solidFill>
                <a:schemeClr val="dk1"/>
              </a:solidFill>
              <a:latin typeface="Calibri"/>
              <a:ea typeface="Calibri"/>
              <a:cs typeface="Calibri"/>
              <a:sym typeface="Calibri"/>
            </a:endParaRPr>
          </a:p>
        </p:txBody>
      </p:sp>
      <p:sp>
        <p:nvSpPr>
          <p:cNvPr id="99" name="Google Shape;99;p5"/>
          <p:cNvSpPr/>
          <p:nvPr/>
        </p:nvSpPr>
        <p:spPr>
          <a:xfrm>
            <a:off x="1746504" y="3703320"/>
            <a:ext cx="164592" cy="164592"/>
          </a:xfrm>
          <a:prstGeom prst="ellipse">
            <a:avLst/>
          </a:prstGeom>
          <a:solidFill>
            <a:srgbClr val="E8602A"/>
          </a:solidFill>
          <a:ln cap="flat" cmpd="sng" w="12700">
            <a:solidFill>
              <a:srgbClr val="E86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2084832" y="3657600"/>
            <a:ext cx="32918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Claude Opus 4.6</a:t>
            </a:r>
            <a:endParaRPr b="0" i="0" sz="1100" u="none" cap="none" strike="noStrike">
              <a:solidFill>
                <a:schemeClr val="dk1"/>
              </a:solidFill>
              <a:latin typeface="Calibri"/>
              <a:ea typeface="Calibri"/>
              <a:cs typeface="Calibri"/>
              <a:sym typeface="Calibri"/>
            </a:endParaRPr>
          </a:p>
        </p:txBody>
      </p:sp>
      <p:sp>
        <p:nvSpPr>
          <p:cNvPr id="101" name="Google Shape;101;p5"/>
          <p:cNvSpPr/>
          <p:nvPr/>
        </p:nvSpPr>
        <p:spPr>
          <a:xfrm>
            <a:off x="2084832" y="3849624"/>
            <a:ext cx="667512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50"/>
              </a:buClr>
              <a:buSzPts val="850"/>
              <a:buFont typeface="Calibri"/>
              <a:buNone/>
            </a:pPr>
            <a:r>
              <a:rPr b="0" i="0" lang="en-US" sz="850" u="none" cap="none" strike="noStrike">
                <a:solidFill>
                  <a:srgbClr val="3A3A50"/>
                </a:solidFill>
                <a:latin typeface="Calibri"/>
                <a:ea typeface="Calibri"/>
                <a:cs typeface="Calibri"/>
                <a:sym typeface="Calibri"/>
              </a:rPr>
              <a:t>1M token context; 14.5hr task horizon; agent team; Claude in PowerPoint</a:t>
            </a:r>
            <a:endParaRPr b="0" i="0" sz="850" u="none" cap="none" strike="noStrike">
              <a:solidFill>
                <a:schemeClr val="dk1"/>
              </a:solidFill>
              <a:latin typeface="Calibri"/>
              <a:ea typeface="Calibri"/>
              <a:cs typeface="Calibri"/>
              <a:sym typeface="Calibri"/>
            </a:endParaRPr>
          </a:p>
        </p:txBody>
      </p:sp>
      <p:sp>
        <p:nvSpPr>
          <p:cNvPr id="102" name="Google Shape;102;p5"/>
          <p:cNvSpPr/>
          <p:nvPr/>
        </p:nvSpPr>
        <p:spPr>
          <a:xfrm>
            <a:off x="320040" y="4151376"/>
            <a:ext cx="1444752"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8898"/>
              </a:buClr>
              <a:buSzPts val="800"/>
              <a:buFont typeface="Calibri"/>
              <a:buNone/>
            </a:pPr>
            <a:r>
              <a:rPr b="0" i="0" lang="en-US" sz="800" u="none" cap="none" strike="noStrike">
                <a:solidFill>
                  <a:srgbClr val="888898"/>
                </a:solidFill>
                <a:latin typeface="Calibri"/>
                <a:ea typeface="Calibri"/>
                <a:cs typeface="Calibri"/>
                <a:sym typeface="Calibri"/>
              </a:rPr>
              <a:t>Feb 17 2026</a:t>
            </a:r>
            <a:endParaRPr b="0" i="0" sz="800" u="none" cap="none" strike="noStrike">
              <a:solidFill>
                <a:schemeClr val="dk1"/>
              </a:solidFill>
              <a:latin typeface="Calibri"/>
              <a:ea typeface="Calibri"/>
              <a:cs typeface="Calibri"/>
              <a:sym typeface="Calibri"/>
            </a:endParaRPr>
          </a:p>
        </p:txBody>
      </p:sp>
      <p:sp>
        <p:nvSpPr>
          <p:cNvPr id="103" name="Google Shape;103;p5"/>
          <p:cNvSpPr/>
          <p:nvPr/>
        </p:nvSpPr>
        <p:spPr>
          <a:xfrm>
            <a:off x="1746504" y="4151376"/>
            <a:ext cx="164592" cy="164592"/>
          </a:xfrm>
          <a:prstGeom prst="ellipse">
            <a:avLst/>
          </a:prstGeom>
          <a:solidFill>
            <a:srgbClr val="E8602A"/>
          </a:solidFill>
          <a:ln cap="flat" cmpd="sng" w="12700">
            <a:solidFill>
              <a:srgbClr val="E86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2084832" y="4105656"/>
            <a:ext cx="32918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Claude Sonnet 4.6</a:t>
            </a:r>
            <a:endParaRPr b="0" i="0" sz="1100" u="none" cap="none" strike="noStrike">
              <a:solidFill>
                <a:schemeClr val="dk1"/>
              </a:solidFill>
              <a:latin typeface="Calibri"/>
              <a:ea typeface="Calibri"/>
              <a:cs typeface="Calibri"/>
              <a:sym typeface="Calibri"/>
            </a:endParaRPr>
          </a:p>
        </p:txBody>
      </p:sp>
      <p:sp>
        <p:nvSpPr>
          <p:cNvPr id="105" name="Google Shape;105;p5"/>
          <p:cNvSpPr/>
          <p:nvPr/>
        </p:nvSpPr>
        <p:spPr>
          <a:xfrm>
            <a:off x="2084832" y="4297680"/>
            <a:ext cx="667512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50"/>
              </a:buClr>
              <a:buSzPts val="850"/>
              <a:buFont typeface="Calibri"/>
              <a:buNone/>
            </a:pPr>
            <a:r>
              <a:rPr b="0" i="0" lang="en-US" sz="850" u="none" cap="none" strike="noStrike">
                <a:solidFill>
                  <a:srgbClr val="3A3A50"/>
                </a:solidFill>
                <a:latin typeface="Calibri"/>
                <a:ea typeface="Calibri"/>
                <a:cs typeface="Calibri"/>
                <a:sym typeface="Calibri"/>
              </a:rPr>
              <a:t>72.5% OSWorld computer use; major prompt injection improvements; default model across all plans</a:t>
            </a:r>
            <a:endParaRPr b="0" i="0" sz="850" u="none" cap="none" strike="noStrike">
              <a:solidFill>
                <a:schemeClr val="dk1"/>
              </a:solidFill>
              <a:latin typeface="Calibri"/>
              <a:ea typeface="Calibri"/>
              <a:cs typeface="Calibri"/>
              <a:sym typeface="Calibri"/>
            </a:endParaRPr>
          </a:p>
        </p:txBody>
      </p:sp>
      <p:sp>
        <p:nvSpPr>
          <p:cNvPr id="106" name="Google Shape;106;p5"/>
          <p:cNvSpPr/>
          <p:nvPr/>
        </p:nvSpPr>
        <p:spPr>
          <a:xfrm>
            <a:off x="320040" y="4599432"/>
            <a:ext cx="1444752"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8898"/>
              </a:buClr>
              <a:buSzPts val="800"/>
              <a:buFont typeface="Calibri"/>
              <a:buNone/>
            </a:pPr>
            <a:r>
              <a:rPr b="0" i="0" lang="en-US" sz="800" u="none" cap="none" strike="noStrike">
                <a:solidFill>
                  <a:srgbClr val="888898"/>
                </a:solidFill>
                <a:latin typeface="Calibri"/>
                <a:ea typeface="Calibri"/>
                <a:cs typeface="Calibri"/>
                <a:sym typeface="Calibri"/>
              </a:rPr>
              <a:t>Apr 16 2026</a:t>
            </a:r>
            <a:endParaRPr b="0" i="0" sz="800" u="none" cap="none" strike="noStrike">
              <a:solidFill>
                <a:schemeClr val="dk1"/>
              </a:solidFill>
              <a:latin typeface="Calibri"/>
              <a:ea typeface="Calibri"/>
              <a:cs typeface="Calibri"/>
              <a:sym typeface="Calibri"/>
            </a:endParaRPr>
          </a:p>
        </p:txBody>
      </p:sp>
      <p:sp>
        <p:nvSpPr>
          <p:cNvPr id="107" name="Google Shape;107;p5"/>
          <p:cNvSpPr/>
          <p:nvPr/>
        </p:nvSpPr>
        <p:spPr>
          <a:xfrm>
            <a:off x="1746504" y="4599432"/>
            <a:ext cx="164592" cy="164592"/>
          </a:xfrm>
          <a:prstGeom prst="ellipse">
            <a:avLst/>
          </a:prstGeom>
          <a:solidFill>
            <a:srgbClr val="E8602A"/>
          </a:solidFill>
          <a:ln cap="flat" cmpd="sng" w="12700">
            <a:solidFill>
              <a:srgbClr val="E86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2084832" y="4553712"/>
            <a:ext cx="32918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Claude Opus 4.7</a:t>
            </a:r>
            <a:endParaRPr b="0" i="0" sz="1100" u="none" cap="none" strike="noStrike">
              <a:solidFill>
                <a:schemeClr val="dk1"/>
              </a:solidFill>
              <a:latin typeface="Calibri"/>
              <a:ea typeface="Calibri"/>
              <a:cs typeface="Calibri"/>
              <a:sym typeface="Calibri"/>
            </a:endParaRPr>
          </a:p>
        </p:txBody>
      </p:sp>
      <p:sp>
        <p:nvSpPr>
          <p:cNvPr id="109" name="Google Shape;109;p5"/>
          <p:cNvSpPr/>
          <p:nvPr/>
        </p:nvSpPr>
        <p:spPr>
          <a:xfrm>
            <a:off x="2084832" y="4745736"/>
            <a:ext cx="667512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50"/>
              </a:buClr>
              <a:buSzPts val="850"/>
              <a:buFont typeface="Calibri"/>
              <a:buNone/>
            </a:pPr>
            <a:r>
              <a:rPr b="0" i="0" lang="en-US" sz="850" u="none" cap="none" strike="noStrike">
                <a:solidFill>
                  <a:srgbClr val="3A3A50"/>
                </a:solidFill>
                <a:latin typeface="Calibri"/>
                <a:ea typeface="Calibri"/>
                <a:cs typeface="Calibri"/>
                <a:sym typeface="Calibri"/>
              </a:rPr>
              <a:t>Current frontier — best coding, reasoning, agentic &amp; vision performance</a:t>
            </a:r>
            <a:endParaRPr b="0" i="0" sz="850" u="none" cap="none" strike="noStrike">
              <a:solidFill>
                <a:schemeClr val="dk1"/>
              </a:solidFill>
              <a:latin typeface="Calibri"/>
              <a:ea typeface="Calibri"/>
              <a:cs typeface="Calibri"/>
              <a:sym typeface="Calibri"/>
            </a:endParaRPr>
          </a:p>
        </p:txBody>
      </p:sp>
      <p:sp>
        <p:nvSpPr>
          <p:cNvPr id="110" name="Google Shape;110;p5"/>
          <p:cNvSpPr/>
          <p:nvPr/>
        </p:nvSpPr>
        <p:spPr>
          <a:xfrm>
            <a:off x="192035" y="3798690"/>
            <a:ext cx="128100" cy="128100"/>
          </a:xfrm>
          <a:prstGeom prst="ellipse">
            <a:avLst/>
          </a:prstGeom>
          <a:solidFill>
            <a:srgbClr val="E8602A"/>
          </a:solidFill>
          <a:ln cap="flat" cmpd="sng" w="12700">
            <a:solidFill>
              <a:srgbClr val="E86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388652" y="3771240"/>
            <a:ext cx="13716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00"/>
              <a:buFont typeface="Calibri"/>
              <a:buNone/>
            </a:pPr>
            <a:r>
              <a:rPr b="0" i="0" lang="en-US" sz="800" u="none" cap="none" strike="noStrike">
                <a:solidFill>
                  <a:srgbClr val="888898"/>
                </a:solidFill>
                <a:latin typeface="Calibri"/>
                <a:ea typeface="Calibri"/>
                <a:cs typeface="Calibri"/>
                <a:sym typeface="Calibri"/>
              </a:rPr>
              <a:t>2026 releases</a:t>
            </a:r>
            <a:endParaRPr b="0" i="0" sz="800" u="none" cap="none" strike="noStrike">
              <a:solidFill>
                <a:schemeClr val="dk1"/>
              </a:solidFill>
              <a:latin typeface="Calibri"/>
              <a:ea typeface="Calibri"/>
              <a:cs typeface="Calibri"/>
              <a:sym typeface="Calibri"/>
            </a:endParaRPr>
          </a:p>
        </p:txBody>
      </p:sp>
      <p:sp>
        <p:nvSpPr>
          <p:cNvPr id="112" name="Google Shape;112;p5"/>
          <p:cNvSpPr/>
          <p:nvPr/>
        </p:nvSpPr>
        <p:spPr>
          <a:xfrm>
            <a:off x="2103120" y="4663440"/>
            <a:ext cx="128016" cy="128016"/>
          </a:xfrm>
          <a:prstGeom prst="ellipse">
            <a:avLst/>
          </a:prstGeom>
          <a:solidFill>
            <a:srgbClr val="2A2A38"/>
          </a:solidFill>
          <a:ln cap="flat" cmpd="sng" w="12700">
            <a:solidFill>
              <a:srgbClr val="3A3A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90C"/>
        </a:solidFill>
      </p:bgPr>
    </p:bg>
    <p:spTree>
      <p:nvGrpSpPr>
        <p:cNvPr id="117" name="Shape 117"/>
        <p:cNvGrpSpPr/>
        <p:nvPr/>
      </p:nvGrpSpPr>
      <p:grpSpPr>
        <a:xfrm>
          <a:off x="0" y="0"/>
          <a:ext cx="0" cy="0"/>
          <a:chOff x="0" y="0"/>
          <a:chExt cx="0" cy="0"/>
        </a:xfrm>
      </p:grpSpPr>
      <p:sp>
        <p:nvSpPr>
          <p:cNvPr id="118" name="Google Shape;118;p6"/>
          <p:cNvSpPr/>
          <p:nvPr/>
        </p:nvSpPr>
        <p:spPr>
          <a:xfrm>
            <a:off x="365760" y="164592"/>
            <a:ext cx="84124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MODELS</a:t>
            </a:r>
            <a:endParaRPr b="0" i="0" sz="800" u="none" cap="none" strike="noStrike">
              <a:solidFill>
                <a:schemeClr val="dk1"/>
              </a:solidFill>
              <a:latin typeface="Calibri"/>
              <a:ea typeface="Calibri"/>
              <a:cs typeface="Calibri"/>
              <a:sym typeface="Calibri"/>
            </a:endParaRPr>
          </a:p>
        </p:txBody>
      </p:sp>
      <p:sp>
        <p:nvSpPr>
          <p:cNvPr id="119" name="Google Shape;119;p6"/>
          <p:cNvSpPr/>
          <p:nvPr/>
        </p:nvSpPr>
        <p:spPr>
          <a:xfrm>
            <a:off x="365760" y="347472"/>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2200"/>
              <a:buFont typeface="Calibri"/>
              <a:buNone/>
            </a:pPr>
            <a:r>
              <a:rPr b="1" i="0" lang="en-US" sz="2200" u="none" cap="none" strike="noStrike">
                <a:solidFill>
                  <a:srgbClr val="EEEEF2"/>
                </a:solidFill>
                <a:latin typeface="Calibri"/>
                <a:ea typeface="Calibri"/>
                <a:cs typeface="Calibri"/>
                <a:sym typeface="Calibri"/>
              </a:rPr>
              <a:t>Model Tiers &amp; Selection Guide</a:t>
            </a:r>
            <a:endParaRPr b="0" i="0" sz="2200" u="none" cap="none" strike="noStrike">
              <a:solidFill>
                <a:schemeClr val="dk1"/>
              </a:solidFill>
              <a:latin typeface="Calibri"/>
              <a:ea typeface="Calibri"/>
              <a:cs typeface="Calibri"/>
              <a:sym typeface="Calibri"/>
            </a:endParaRPr>
          </a:p>
        </p:txBody>
      </p:sp>
      <p:sp>
        <p:nvSpPr>
          <p:cNvPr id="120" name="Google Shape;120;p6"/>
          <p:cNvSpPr/>
          <p:nvPr/>
        </p:nvSpPr>
        <p:spPr>
          <a:xfrm>
            <a:off x="365760" y="822960"/>
            <a:ext cx="8412480" cy="16459"/>
          </a:xfrm>
          <a:prstGeom prst="rect">
            <a:avLst/>
          </a:prstGeom>
          <a:solidFill>
            <a:srgbClr val="2A2A38"/>
          </a:solidFill>
          <a:ln cap="flat" cmpd="sng" w="12700">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365760" y="960120"/>
            <a:ext cx="2807208" cy="393192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365760" y="960120"/>
            <a:ext cx="2807208" cy="36576"/>
          </a:xfrm>
          <a:prstGeom prst="rect">
            <a:avLst/>
          </a:prstGeom>
          <a:solidFill>
            <a:srgbClr val="E8602A"/>
          </a:solidFill>
          <a:ln cap="flat" cmpd="sng" w="12700">
            <a:solidFill>
              <a:srgbClr val="E86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475488" y="1051560"/>
            <a:ext cx="2167128"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600"/>
              <a:buFont typeface="Calibri"/>
              <a:buNone/>
            </a:pPr>
            <a:r>
              <a:rPr b="1" i="0" lang="en-US" sz="1600" u="none" cap="none" strike="noStrike">
                <a:solidFill>
                  <a:srgbClr val="EEEEF2"/>
                </a:solidFill>
                <a:latin typeface="Calibri"/>
                <a:ea typeface="Calibri"/>
                <a:cs typeface="Calibri"/>
                <a:sym typeface="Calibri"/>
              </a:rPr>
              <a:t>Opus 4.7</a:t>
            </a:r>
            <a:endParaRPr b="0" i="0" sz="1600" u="none" cap="none" strike="noStrike">
              <a:solidFill>
                <a:schemeClr val="dk1"/>
              </a:solidFill>
              <a:latin typeface="Calibri"/>
              <a:ea typeface="Calibri"/>
              <a:cs typeface="Calibri"/>
              <a:sym typeface="Calibri"/>
            </a:endParaRPr>
          </a:p>
        </p:txBody>
      </p:sp>
      <p:sp>
        <p:nvSpPr>
          <p:cNvPr id="124" name="Google Shape;124;p6"/>
          <p:cNvSpPr/>
          <p:nvPr/>
        </p:nvSpPr>
        <p:spPr>
          <a:xfrm>
            <a:off x="2276856" y="1051560"/>
            <a:ext cx="777240" cy="201168"/>
          </a:xfrm>
          <a:prstGeom prst="rect">
            <a:avLst/>
          </a:prstGeom>
          <a:solidFill>
            <a:srgbClr val="000000"/>
          </a:solidFill>
          <a:ln cap="flat" cmpd="sng" w="9525">
            <a:solidFill>
              <a:srgbClr val="E86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
          <p:cNvSpPr/>
          <p:nvPr/>
        </p:nvSpPr>
        <p:spPr>
          <a:xfrm>
            <a:off x="2276856" y="1051560"/>
            <a:ext cx="7772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602A"/>
              </a:buClr>
              <a:buSzPts val="700"/>
              <a:buFont typeface="Calibri"/>
              <a:buNone/>
            </a:pPr>
            <a:r>
              <a:rPr b="1" i="0" lang="en-US" sz="700" u="none" cap="none" strike="noStrike">
                <a:solidFill>
                  <a:srgbClr val="E8602A"/>
                </a:solidFill>
                <a:latin typeface="Calibri"/>
                <a:ea typeface="Calibri"/>
                <a:cs typeface="Calibri"/>
                <a:sym typeface="Calibri"/>
              </a:rPr>
              <a:t>FRONTIER</a:t>
            </a:r>
            <a:endParaRPr b="0" i="0" sz="700" u="none" cap="none" strike="noStrike">
              <a:solidFill>
                <a:schemeClr val="dk1"/>
              </a:solidFill>
              <a:latin typeface="Calibri"/>
              <a:ea typeface="Calibri"/>
              <a:cs typeface="Calibri"/>
              <a:sym typeface="Calibri"/>
            </a:endParaRPr>
          </a:p>
        </p:txBody>
      </p:sp>
      <p:sp>
        <p:nvSpPr>
          <p:cNvPr id="126" name="Google Shape;126;p6"/>
          <p:cNvSpPr/>
          <p:nvPr/>
        </p:nvSpPr>
        <p:spPr>
          <a:xfrm>
            <a:off x="475488" y="1435608"/>
            <a:ext cx="2578608" cy="329184"/>
          </a:xfrm>
          <a:prstGeom prst="rect">
            <a:avLst/>
          </a:prstGeom>
          <a:solidFill>
            <a:srgbClr val="18181F"/>
          </a:solidFill>
          <a:ln cap="flat" cmpd="sng" w="9525">
            <a:solidFill>
              <a:srgbClr val="1818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530352" y="1472184"/>
            <a:ext cx="2487168" cy="1188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700"/>
              <a:buFont typeface="Calibri"/>
              <a:buNone/>
            </a:pPr>
            <a:r>
              <a:rPr b="1" i="0" lang="en-US" sz="700" u="none" cap="none" strike="noStrike">
                <a:solidFill>
                  <a:srgbClr val="888898"/>
                </a:solidFill>
                <a:latin typeface="Calibri"/>
                <a:ea typeface="Calibri"/>
                <a:cs typeface="Calibri"/>
                <a:sym typeface="Calibri"/>
              </a:rPr>
              <a:t>CONTEXT</a:t>
            </a:r>
            <a:endParaRPr b="0" i="0" sz="700" u="none" cap="none" strike="noStrike">
              <a:solidFill>
                <a:schemeClr val="dk1"/>
              </a:solidFill>
              <a:latin typeface="Calibri"/>
              <a:ea typeface="Calibri"/>
              <a:cs typeface="Calibri"/>
              <a:sym typeface="Calibri"/>
            </a:endParaRPr>
          </a:p>
        </p:txBody>
      </p:sp>
      <p:sp>
        <p:nvSpPr>
          <p:cNvPr id="128" name="Google Shape;128;p6"/>
          <p:cNvSpPr/>
          <p:nvPr/>
        </p:nvSpPr>
        <p:spPr>
          <a:xfrm>
            <a:off x="530352" y="1609344"/>
            <a:ext cx="2487168" cy="1371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900"/>
              <a:buFont typeface="Calibri"/>
              <a:buNone/>
            </a:pPr>
            <a:r>
              <a:rPr b="1" i="0" lang="en-US" sz="900" u="none" cap="none" strike="noStrike">
                <a:solidFill>
                  <a:srgbClr val="EEEEF2"/>
                </a:solidFill>
                <a:latin typeface="Calibri"/>
                <a:ea typeface="Calibri"/>
                <a:cs typeface="Calibri"/>
                <a:sym typeface="Calibri"/>
              </a:rPr>
              <a:t>1M tokens</a:t>
            </a:r>
            <a:endParaRPr b="0" i="0" sz="900" u="none" cap="none" strike="noStrike">
              <a:solidFill>
                <a:schemeClr val="dk1"/>
              </a:solidFill>
              <a:latin typeface="Calibri"/>
              <a:ea typeface="Calibri"/>
              <a:cs typeface="Calibri"/>
              <a:sym typeface="Calibri"/>
            </a:endParaRPr>
          </a:p>
        </p:txBody>
      </p:sp>
      <p:sp>
        <p:nvSpPr>
          <p:cNvPr id="129" name="Google Shape;129;p6"/>
          <p:cNvSpPr/>
          <p:nvPr/>
        </p:nvSpPr>
        <p:spPr>
          <a:xfrm>
            <a:off x="475488" y="1801368"/>
            <a:ext cx="2578608" cy="329184"/>
          </a:xfrm>
          <a:prstGeom prst="rect">
            <a:avLst/>
          </a:prstGeom>
          <a:solidFill>
            <a:srgbClr val="18181F"/>
          </a:solidFill>
          <a:ln cap="flat" cmpd="sng" w="9525">
            <a:solidFill>
              <a:srgbClr val="1818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530352" y="1837944"/>
            <a:ext cx="2487168" cy="1188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700"/>
              <a:buFont typeface="Calibri"/>
              <a:buNone/>
            </a:pPr>
            <a:r>
              <a:rPr b="1" i="0" lang="en-US" sz="700" u="none" cap="none" strike="noStrike">
                <a:solidFill>
                  <a:srgbClr val="888898"/>
                </a:solidFill>
                <a:latin typeface="Calibri"/>
                <a:ea typeface="Calibri"/>
                <a:cs typeface="Calibri"/>
                <a:sym typeface="Calibri"/>
              </a:rPr>
              <a:t>PRICING</a:t>
            </a:r>
            <a:endParaRPr b="0" i="0" sz="700" u="none" cap="none" strike="noStrike">
              <a:solidFill>
                <a:schemeClr val="dk1"/>
              </a:solidFill>
              <a:latin typeface="Calibri"/>
              <a:ea typeface="Calibri"/>
              <a:cs typeface="Calibri"/>
              <a:sym typeface="Calibri"/>
            </a:endParaRPr>
          </a:p>
        </p:txBody>
      </p:sp>
      <p:sp>
        <p:nvSpPr>
          <p:cNvPr id="131" name="Google Shape;131;p6"/>
          <p:cNvSpPr/>
          <p:nvPr/>
        </p:nvSpPr>
        <p:spPr>
          <a:xfrm>
            <a:off x="530352" y="1975104"/>
            <a:ext cx="2487168" cy="1371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900"/>
              <a:buFont typeface="Calibri"/>
              <a:buNone/>
            </a:pPr>
            <a:r>
              <a:rPr b="1" i="0" lang="en-US" sz="900" u="none" cap="none" strike="noStrike">
                <a:solidFill>
                  <a:srgbClr val="EEEEF2"/>
                </a:solidFill>
                <a:latin typeface="Calibri"/>
                <a:ea typeface="Calibri"/>
                <a:cs typeface="Calibri"/>
                <a:sym typeface="Calibri"/>
              </a:rPr>
              <a:t>Premium — see anthropic.com/pricing</a:t>
            </a:r>
            <a:endParaRPr b="0" i="0" sz="900" u="none" cap="none" strike="noStrike">
              <a:solidFill>
                <a:schemeClr val="dk1"/>
              </a:solidFill>
              <a:latin typeface="Calibri"/>
              <a:ea typeface="Calibri"/>
              <a:cs typeface="Calibri"/>
              <a:sym typeface="Calibri"/>
            </a:endParaRPr>
          </a:p>
        </p:txBody>
      </p:sp>
      <p:sp>
        <p:nvSpPr>
          <p:cNvPr id="132" name="Google Shape;132;p6"/>
          <p:cNvSpPr/>
          <p:nvPr/>
        </p:nvSpPr>
        <p:spPr>
          <a:xfrm>
            <a:off x="475488" y="2167128"/>
            <a:ext cx="2578608" cy="329184"/>
          </a:xfrm>
          <a:prstGeom prst="rect">
            <a:avLst/>
          </a:prstGeom>
          <a:solidFill>
            <a:srgbClr val="18181F"/>
          </a:solidFill>
          <a:ln cap="flat" cmpd="sng" w="9525">
            <a:solidFill>
              <a:srgbClr val="1818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p:nvPr/>
        </p:nvSpPr>
        <p:spPr>
          <a:xfrm>
            <a:off x="530352" y="2203704"/>
            <a:ext cx="2487168" cy="1188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700"/>
              <a:buFont typeface="Calibri"/>
              <a:buNone/>
            </a:pPr>
            <a:r>
              <a:rPr b="1" i="0" lang="en-US" sz="700" u="none" cap="none" strike="noStrike">
                <a:solidFill>
                  <a:srgbClr val="888898"/>
                </a:solidFill>
                <a:latin typeface="Calibri"/>
                <a:ea typeface="Calibri"/>
                <a:cs typeface="Calibri"/>
                <a:sym typeface="Calibri"/>
              </a:rPr>
              <a:t>RELEASED</a:t>
            </a:r>
            <a:endParaRPr b="0" i="0" sz="700" u="none" cap="none" strike="noStrike">
              <a:solidFill>
                <a:schemeClr val="dk1"/>
              </a:solidFill>
              <a:latin typeface="Calibri"/>
              <a:ea typeface="Calibri"/>
              <a:cs typeface="Calibri"/>
              <a:sym typeface="Calibri"/>
            </a:endParaRPr>
          </a:p>
        </p:txBody>
      </p:sp>
      <p:sp>
        <p:nvSpPr>
          <p:cNvPr id="134" name="Google Shape;134;p6"/>
          <p:cNvSpPr/>
          <p:nvPr/>
        </p:nvSpPr>
        <p:spPr>
          <a:xfrm>
            <a:off x="530352" y="2340864"/>
            <a:ext cx="2487168" cy="1371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900"/>
              <a:buFont typeface="Calibri"/>
              <a:buNone/>
            </a:pPr>
            <a:r>
              <a:rPr b="1" i="0" lang="en-US" sz="900" u="none" cap="none" strike="noStrike">
                <a:solidFill>
                  <a:srgbClr val="EEEEF2"/>
                </a:solidFill>
                <a:latin typeface="Calibri"/>
                <a:ea typeface="Calibri"/>
                <a:cs typeface="Calibri"/>
                <a:sym typeface="Calibri"/>
              </a:rPr>
              <a:t>Apr 2026</a:t>
            </a:r>
            <a:endParaRPr b="0" i="0" sz="900" u="none" cap="none" strike="noStrike">
              <a:solidFill>
                <a:schemeClr val="dk1"/>
              </a:solidFill>
              <a:latin typeface="Calibri"/>
              <a:ea typeface="Calibri"/>
              <a:cs typeface="Calibri"/>
              <a:sym typeface="Calibri"/>
            </a:endParaRPr>
          </a:p>
        </p:txBody>
      </p:sp>
      <p:sp>
        <p:nvSpPr>
          <p:cNvPr id="135" name="Google Shape;135;p6"/>
          <p:cNvSpPr/>
          <p:nvPr/>
        </p:nvSpPr>
        <p:spPr>
          <a:xfrm>
            <a:off x="475488" y="2569464"/>
            <a:ext cx="45720" cy="502920"/>
          </a:xfrm>
          <a:prstGeom prst="rect">
            <a:avLst/>
          </a:prstGeom>
          <a:solidFill>
            <a:srgbClr val="E8602A"/>
          </a:solidFill>
          <a:ln cap="flat" cmpd="sng" w="12700">
            <a:solidFill>
              <a:srgbClr val="E86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566928" y="2578608"/>
            <a:ext cx="2487168"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1" lang="en-US" sz="900" u="none" cap="none" strike="noStrike">
                <a:solidFill>
                  <a:srgbClr val="888898"/>
                </a:solidFill>
                <a:latin typeface="Calibri"/>
                <a:ea typeface="Calibri"/>
                <a:cs typeface="Calibri"/>
                <a:sym typeface="Calibri"/>
              </a:rPr>
              <a:t>Complex agents, production code,</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8898"/>
              </a:buClr>
              <a:buSzPts val="900"/>
              <a:buFont typeface="Calibri"/>
              <a:buNone/>
            </a:pPr>
            <a:r>
              <a:rPr b="0" i="1" lang="en-US" sz="900" u="none" cap="none" strike="noStrike">
                <a:solidFill>
                  <a:srgbClr val="888898"/>
                </a:solidFill>
                <a:latin typeface="Calibri"/>
                <a:ea typeface="Calibri"/>
                <a:cs typeface="Calibri"/>
                <a:sym typeface="Calibri"/>
              </a:rPr>
              <a:t>multi-step orchestration, frontier research</a:t>
            </a:r>
            <a:endParaRPr b="0" i="0" sz="900" u="none" cap="none" strike="noStrike">
              <a:solidFill>
                <a:schemeClr val="dk1"/>
              </a:solidFill>
              <a:latin typeface="Calibri"/>
              <a:ea typeface="Calibri"/>
              <a:cs typeface="Calibri"/>
              <a:sym typeface="Calibri"/>
            </a:endParaRPr>
          </a:p>
        </p:txBody>
      </p:sp>
      <p:sp>
        <p:nvSpPr>
          <p:cNvPr id="137" name="Google Shape;137;p6"/>
          <p:cNvSpPr/>
          <p:nvPr/>
        </p:nvSpPr>
        <p:spPr>
          <a:xfrm>
            <a:off x="475488" y="3154680"/>
            <a:ext cx="2578608"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602A"/>
              </a:buClr>
              <a:buSzPts val="900"/>
              <a:buFont typeface="Calibri"/>
              <a:buNone/>
            </a:pPr>
            <a:r>
              <a:rPr b="1" i="0" lang="en-US" sz="900" u="none" cap="none" strike="noStrike">
                <a:solidFill>
                  <a:srgbClr val="E8602A"/>
                </a:solidFill>
                <a:latin typeface="Calibri"/>
                <a:ea typeface="Calibri"/>
                <a:cs typeface="Calibri"/>
                <a:sym typeface="Calibri"/>
              </a:rPr>
              <a:t>›  </a:t>
            </a:r>
            <a:r>
              <a:rPr b="0" i="0" lang="en-US" sz="900" u="none" cap="none" strike="noStrike">
                <a:solidFill>
                  <a:srgbClr val="888898"/>
                </a:solidFill>
                <a:latin typeface="Calibri"/>
                <a:ea typeface="Calibri"/>
                <a:cs typeface="Calibri"/>
                <a:sym typeface="Calibri"/>
              </a:rPr>
              <a:t>Best-in-class coding, reasoning &amp; agentic performance</a:t>
            </a:r>
            <a:endParaRPr b="0" i="0" sz="9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E8602A"/>
              </a:buClr>
              <a:buSzPts val="900"/>
              <a:buFont typeface="Calibri"/>
              <a:buNone/>
            </a:pPr>
            <a:r>
              <a:rPr b="1" i="0" lang="en-US" sz="900" u="none" cap="none" strike="noStrike">
                <a:solidFill>
                  <a:srgbClr val="E8602A"/>
                </a:solidFill>
                <a:latin typeface="Calibri"/>
                <a:ea typeface="Calibri"/>
                <a:cs typeface="Calibri"/>
                <a:sym typeface="Calibri"/>
              </a:rPr>
              <a:t>›  </a:t>
            </a:r>
            <a:r>
              <a:rPr b="0" i="0" lang="en-US" sz="900" u="none" cap="none" strike="noStrike">
                <a:solidFill>
                  <a:srgbClr val="888898"/>
                </a:solidFill>
                <a:latin typeface="Calibri"/>
                <a:ea typeface="Calibri"/>
                <a:cs typeface="Calibri"/>
                <a:sym typeface="Calibri"/>
              </a:rPr>
              <a:t>98.5% visual-acuity benchmark on computer use</a:t>
            </a:r>
            <a:endParaRPr b="0" i="0" sz="9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E8602A"/>
              </a:buClr>
              <a:buSzPts val="900"/>
              <a:buFont typeface="Calibri"/>
              <a:buNone/>
            </a:pPr>
            <a:r>
              <a:rPr b="1" i="0" lang="en-US" sz="900" u="none" cap="none" strike="noStrike">
                <a:solidFill>
                  <a:srgbClr val="E8602A"/>
                </a:solidFill>
                <a:latin typeface="Calibri"/>
                <a:ea typeface="Calibri"/>
                <a:cs typeface="Calibri"/>
                <a:sym typeface="Calibri"/>
              </a:rPr>
              <a:t>›  </a:t>
            </a:r>
            <a:r>
              <a:rPr b="0" i="0" lang="en-US" sz="900" u="none" cap="none" strike="noStrike">
                <a:solidFill>
                  <a:srgbClr val="888898"/>
                </a:solidFill>
                <a:latin typeface="Calibri"/>
                <a:ea typeface="Calibri"/>
                <a:cs typeface="Calibri"/>
                <a:sym typeface="Calibri"/>
              </a:rPr>
              <a:t>Catches its own logical faults during planning phase</a:t>
            </a:r>
            <a:endParaRPr b="0" i="0" sz="900" u="none" cap="none" strike="noStrike">
              <a:solidFill>
                <a:schemeClr val="dk1"/>
              </a:solidFill>
              <a:latin typeface="Calibri"/>
              <a:ea typeface="Calibri"/>
              <a:cs typeface="Calibri"/>
              <a:sym typeface="Calibri"/>
            </a:endParaRPr>
          </a:p>
        </p:txBody>
      </p:sp>
      <p:sp>
        <p:nvSpPr>
          <p:cNvPr id="138" name="Google Shape;138;p6"/>
          <p:cNvSpPr/>
          <p:nvPr/>
        </p:nvSpPr>
        <p:spPr>
          <a:xfrm>
            <a:off x="3310128" y="960120"/>
            <a:ext cx="2807208" cy="393192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p:nvPr/>
        </p:nvSpPr>
        <p:spPr>
          <a:xfrm>
            <a:off x="3310128" y="960120"/>
            <a:ext cx="2807208" cy="36576"/>
          </a:xfrm>
          <a:prstGeom prst="rect">
            <a:avLst/>
          </a:prstGeom>
          <a:solidFill>
            <a:srgbClr val="1DC9A8"/>
          </a:solidFill>
          <a:ln cap="flat" cmpd="sng" w="12700">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
          <p:cNvSpPr/>
          <p:nvPr/>
        </p:nvSpPr>
        <p:spPr>
          <a:xfrm>
            <a:off x="3419856" y="1051560"/>
            <a:ext cx="2167128"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600"/>
              <a:buFont typeface="Calibri"/>
              <a:buNone/>
            </a:pPr>
            <a:r>
              <a:rPr b="1" i="0" lang="en-US" sz="1600" u="none" cap="none" strike="noStrike">
                <a:solidFill>
                  <a:srgbClr val="EEEEF2"/>
                </a:solidFill>
                <a:latin typeface="Calibri"/>
                <a:ea typeface="Calibri"/>
                <a:cs typeface="Calibri"/>
                <a:sym typeface="Calibri"/>
              </a:rPr>
              <a:t>Sonnet 4.6</a:t>
            </a:r>
            <a:endParaRPr b="0" i="0" sz="1600" u="none" cap="none" strike="noStrike">
              <a:solidFill>
                <a:schemeClr val="dk1"/>
              </a:solidFill>
              <a:latin typeface="Calibri"/>
              <a:ea typeface="Calibri"/>
              <a:cs typeface="Calibri"/>
              <a:sym typeface="Calibri"/>
            </a:endParaRPr>
          </a:p>
        </p:txBody>
      </p:sp>
      <p:sp>
        <p:nvSpPr>
          <p:cNvPr id="141" name="Google Shape;141;p6"/>
          <p:cNvSpPr/>
          <p:nvPr/>
        </p:nvSpPr>
        <p:spPr>
          <a:xfrm>
            <a:off x="5221224" y="1051560"/>
            <a:ext cx="777240" cy="201168"/>
          </a:xfrm>
          <a:prstGeom prst="rect">
            <a:avLst/>
          </a:prstGeom>
          <a:solidFill>
            <a:srgbClr val="000000"/>
          </a:solidFill>
          <a:ln cap="flat" cmpd="sng" w="9525">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5221224" y="1051560"/>
            <a:ext cx="7772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C9A8"/>
              </a:buClr>
              <a:buSzPts val="700"/>
              <a:buFont typeface="Calibri"/>
              <a:buNone/>
            </a:pPr>
            <a:r>
              <a:rPr b="1" i="0" lang="en-US" sz="700" u="none" cap="none" strike="noStrike">
                <a:solidFill>
                  <a:srgbClr val="1DC9A8"/>
                </a:solidFill>
                <a:latin typeface="Calibri"/>
                <a:ea typeface="Calibri"/>
                <a:cs typeface="Calibri"/>
                <a:sym typeface="Calibri"/>
              </a:rPr>
              <a:t>DEFAULT</a:t>
            </a:r>
            <a:endParaRPr b="0" i="0" sz="700" u="none" cap="none" strike="noStrike">
              <a:solidFill>
                <a:schemeClr val="dk1"/>
              </a:solidFill>
              <a:latin typeface="Calibri"/>
              <a:ea typeface="Calibri"/>
              <a:cs typeface="Calibri"/>
              <a:sym typeface="Calibri"/>
            </a:endParaRPr>
          </a:p>
        </p:txBody>
      </p:sp>
      <p:sp>
        <p:nvSpPr>
          <p:cNvPr id="143" name="Google Shape;143;p6"/>
          <p:cNvSpPr/>
          <p:nvPr/>
        </p:nvSpPr>
        <p:spPr>
          <a:xfrm>
            <a:off x="3419856" y="1435608"/>
            <a:ext cx="2578608" cy="329184"/>
          </a:xfrm>
          <a:prstGeom prst="rect">
            <a:avLst/>
          </a:prstGeom>
          <a:solidFill>
            <a:srgbClr val="18181F"/>
          </a:solidFill>
          <a:ln cap="flat" cmpd="sng" w="9525">
            <a:solidFill>
              <a:srgbClr val="1818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3474720" y="1472184"/>
            <a:ext cx="2487168" cy="1188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700"/>
              <a:buFont typeface="Calibri"/>
              <a:buNone/>
            </a:pPr>
            <a:r>
              <a:rPr b="1" i="0" lang="en-US" sz="700" u="none" cap="none" strike="noStrike">
                <a:solidFill>
                  <a:srgbClr val="888898"/>
                </a:solidFill>
                <a:latin typeface="Calibri"/>
                <a:ea typeface="Calibri"/>
                <a:cs typeface="Calibri"/>
                <a:sym typeface="Calibri"/>
              </a:rPr>
              <a:t>CONTEXT</a:t>
            </a:r>
            <a:endParaRPr b="0" i="0" sz="700" u="none" cap="none" strike="noStrike">
              <a:solidFill>
                <a:schemeClr val="dk1"/>
              </a:solidFill>
              <a:latin typeface="Calibri"/>
              <a:ea typeface="Calibri"/>
              <a:cs typeface="Calibri"/>
              <a:sym typeface="Calibri"/>
            </a:endParaRPr>
          </a:p>
        </p:txBody>
      </p:sp>
      <p:sp>
        <p:nvSpPr>
          <p:cNvPr id="145" name="Google Shape;145;p6"/>
          <p:cNvSpPr/>
          <p:nvPr/>
        </p:nvSpPr>
        <p:spPr>
          <a:xfrm>
            <a:off x="3474720" y="1609344"/>
            <a:ext cx="2487168" cy="1371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900"/>
              <a:buFont typeface="Calibri"/>
              <a:buNone/>
            </a:pPr>
            <a:r>
              <a:rPr b="1" i="0" lang="en-US" sz="900" u="none" cap="none" strike="noStrike">
                <a:solidFill>
                  <a:srgbClr val="EEEEF2"/>
                </a:solidFill>
                <a:latin typeface="Calibri"/>
                <a:ea typeface="Calibri"/>
                <a:cs typeface="Calibri"/>
                <a:sym typeface="Calibri"/>
              </a:rPr>
              <a:t>1M tokens (beta)</a:t>
            </a:r>
            <a:endParaRPr b="0" i="0" sz="900" u="none" cap="none" strike="noStrike">
              <a:solidFill>
                <a:schemeClr val="dk1"/>
              </a:solidFill>
              <a:latin typeface="Calibri"/>
              <a:ea typeface="Calibri"/>
              <a:cs typeface="Calibri"/>
              <a:sym typeface="Calibri"/>
            </a:endParaRPr>
          </a:p>
        </p:txBody>
      </p:sp>
      <p:sp>
        <p:nvSpPr>
          <p:cNvPr id="146" name="Google Shape;146;p6"/>
          <p:cNvSpPr/>
          <p:nvPr/>
        </p:nvSpPr>
        <p:spPr>
          <a:xfrm>
            <a:off x="3419856" y="1801368"/>
            <a:ext cx="2578608" cy="329184"/>
          </a:xfrm>
          <a:prstGeom prst="rect">
            <a:avLst/>
          </a:prstGeom>
          <a:solidFill>
            <a:srgbClr val="18181F"/>
          </a:solidFill>
          <a:ln cap="flat" cmpd="sng" w="9525">
            <a:solidFill>
              <a:srgbClr val="1818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3474720" y="1837944"/>
            <a:ext cx="2487168" cy="1188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700"/>
              <a:buFont typeface="Calibri"/>
              <a:buNone/>
            </a:pPr>
            <a:r>
              <a:rPr b="1" i="0" lang="en-US" sz="700" u="none" cap="none" strike="noStrike">
                <a:solidFill>
                  <a:srgbClr val="888898"/>
                </a:solidFill>
                <a:latin typeface="Calibri"/>
                <a:ea typeface="Calibri"/>
                <a:cs typeface="Calibri"/>
                <a:sym typeface="Calibri"/>
              </a:rPr>
              <a:t>PRICING</a:t>
            </a:r>
            <a:endParaRPr b="0" i="0" sz="700" u="none" cap="none" strike="noStrike">
              <a:solidFill>
                <a:schemeClr val="dk1"/>
              </a:solidFill>
              <a:latin typeface="Calibri"/>
              <a:ea typeface="Calibri"/>
              <a:cs typeface="Calibri"/>
              <a:sym typeface="Calibri"/>
            </a:endParaRPr>
          </a:p>
        </p:txBody>
      </p:sp>
      <p:sp>
        <p:nvSpPr>
          <p:cNvPr id="148" name="Google Shape;148;p6"/>
          <p:cNvSpPr/>
          <p:nvPr/>
        </p:nvSpPr>
        <p:spPr>
          <a:xfrm>
            <a:off x="3474720" y="1975104"/>
            <a:ext cx="2487168" cy="1371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900"/>
              <a:buFont typeface="Calibri"/>
              <a:buNone/>
            </a:pPr>
            <a:r>
              <a:rPr b="1" i="0" lang="en-US" sz="900" u="none" cap="none" strike="noStrike">
                <a:solidFill>
                  <a:srgbClr val="EEEEF2"/>
                </a:solidFill>
                <a:latin typeface="Calibri"/>
                <a:ea typeface="Calibri"/>
                <a:cs typeface="Calibri"/>
                <a:sym typeface="Calibri"/>
              </a:rPr>
              <a:t>$3 / $15 per 1M tokens</a:t>
            </a:r>
            <a:endParaRPr b="0" i="0" sz="900" u="none" cap="none" strike="noStrike">
              <a:solidFill>
                <a:schemeClr val="dk1"/>
              </a:solidFill>
              <a:latin typeface="Calibri"/>
              <a:ea typeface="Calibri"/>
              <a:cs typeface="Calibri"/>
              <a:sym typeface="Calibri"/>
            </a:endParaRPr>
          </a:p>
        </p:txBody>
      </p:sp>
      <p:sp>
        <p:nvSpPr>
          <p:cNvPr id="149" name="Google Shape;149;p6"/>
          <p:cNvSpPr/>
          <p:nvPr/>
        </p:nvSpPr>
        <p:spPr>
          <a:xfrm>
            <a:off x="3419856" y="2167128"/>
            <a:ext cx="2578608" cy="329184"/>
          </a:xfrm>
          <a:prstGeom prst="rect">
            <a:avLst/>
          </a:prstGeom>
          <a:solidFill>
            <a:srgbClr val="18181F"/>
          </a:solidFill>
          <a:ln cap="flat" cmpd="sng" w="9525">
            <a:solidFill>
              <a:srgbClr val="1818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3474720" y="2203704"/>
            <a:ext cx="2487168" cy="1188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700"/>
              <a:buFont typeface="Calibri"/>
              <a:buNone/>
            </a:pPr>
            <a:r>
              <a:rPr b="1" i="0" lang="en-US" sz="700" u="none" cap="none" strike="noStrike">
                <a:solidFill>
                  <a:srgbClr val="888898"/>
                </a:solidFill>
                <a:latin typeface="Calibri"/>
                <a:ea typeface="Calibri"/>
                <a:cs typeface="Calibri"/>
                <a:sym typeface="Calibri"/>
              </a:rPr>
              <a:t>RELEASED</a:t>
            </a:r>
            <a:endParaRPr b="0" i="0" sz="700" u="none" cap="none" strike="noStrike">
              <a:solidFill>
                <a:schemeClr val="dk1"/>
              </a:solidFill>
              <a:latin typeface="Calibri"/>
              <a:ea typeface="Calibri"/>
              <a:cs typeface="Calibri"/>
              <a:sym typeface="Calibri"/>
            </a:endParaRPr>
          </a:p>
        </p:txBody>
      </p:sp>
      <p:sp>
        <p:nvSpPr>
          <p:cNvPr id="151" name="Google Shape;151;p6"/>
          <p:cNvSpPr/>
          <p:nvPr/>
        </p:nvSpPr>
        <p:spPr>
          <a:xfrm>
            <a:off x="3474720" y="2340864"/>
            <a:ext cx="2487168" cy="1371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900"/>
              <a:buFont typeface="Calibri"/>
              <a:buNone/>
            </a:pPr>
            <a:r>
              <a:rPr b="1" i="0" lang="en-US" sz="900" u="none" cap="none" strike="noStrike">
                <a:solidFill>
                  <a:srgbClr val="EEEEF2"/>
                </a:solidFill>
                <a:latin typeface="Calibri"/>
                <a:ea typeface="Calibri"/>
                <a:cs typeface="Calibri"/>
                <a:sym typeface="Calibri"/>
              </a:rPr>
              <a:t>Feb 2026</a:t>
            </a:r>
            <a:endParaRPr b="0" i="0" sz="900" u="none" cap="none" strike="noStrike">
              <a:solidFill>
                <a:schemeClr val="dk1"/>
              </a:solidFill>
              <a:latin typeface="Calibri"/>
              <a:ea typeface="Calibri"/>
              <a:cs typeface="Calibri"/>
              <a:sym typeface="Calibri"/>
            </a:endParaRPr>
          </a:p>
        </p:txBody>
      </p:sp>
      <p:sp>
        <p:nvSpPr>
          <p:cNvPr id="152" name="Google Shape;152;p6"/>
          <p:cNvSpPr/>
          <p:nvPr/>
        </p:nvSpPr>
        <p:spPr>
          <a:xfrm>
            <a:off x="3419856" y="2569464"/>
            <a:ext cx="45720" cy="502920"/>
          </a:xfrm>
          <a:prstGeom prst="rect">
            <a:avLst/>
          </a:prstGeom>
          <a:solidFill>
            <a:srgbClr val="1DC9A8"/>
          </a:solidFill>
          <a:ln cap="flat" cmpd="sng" w="12700">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a:off x="3511296" y="2578608"/>
            <a:ext cx="2487168"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1" lang="en-US" sz="900" u="none" cap="none" strike="noStrike">
                <a:solidFill>
                  <a:srgbClr val="888898"/>
                </a:solidFill>
                <a:latin typeface="Calibri"/>
                <a:ea typeface="Calibri"/>
                <a:cs typeface="Calibri"/>
                <a:sym typeface="Calibri"/>
              </a:rPr>
              <a:t>Daily dev tasks, code review, knowledge</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8898"/>
              </a:buClr>
              <a:buSzPts val="900"/>
              <a:buFont typeface="Calibri"/>
              <a:buNone/>
            </a:pPr>
            <a:r>
              <a:rPr b="0" i="1" lang="en-US" sz="900" u="none" cap="none" strike="noStrike">
                <a:solidFill>
                  <a:srgbClr val="888898"/>
                </a:solidFill>
                <a:latin typeface="Calibri"/>
                <a:ea typeface="Calibri"/>
                <a:cs typeface="Calibri"/>
                <a:sym typeface="Calibri"/>
              </a:rPr>
              <a:t>work, CI/CD — default on all plans</a:t>
            </a:r>
            <a:endParaRPr b="0" i="0" sz="900" u="none" cap="none" strike="noStrike">
              <a:solidFill>
                <a:schemeClr val="dk1"/>
              </a:solidFill>
              <a:latin typeface="Calibri"/>
              <a:ea typeface="Calibri"/>
              <a:cs typeface="Calibri"/>
              <a:sym typeface="Calibri"/>
            </a:endParaRPr>
          </a:p>
        </p:txBody>
      </p:sp>
      <p:sp>
        <p:nvSpPr>
          <p:cNvPr id="154" name="Google Shape;154;p6"/>
          <p:cNvSpPr/>
          <p:nvPr/>
        </p:nvSpPr>
        <p:spPr>
          <a:xfrm>
            <a:off x="3419856" y="3154680"/>
            <a:ext cx="2578608"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DC9A8"/>
              </a:buClr>
              <a:buSzPts val="900"/>
              <a:buFont typeface="Calibri"/>
              <a:buNone/>
            </a:pPr>
            <a:r>
              <a:rPr b="1" i="0" lang="en-US" sz="900" u="none" cap="none" strike="noStrike">
                <a:solidFill>
                  <a:srgbClr val="1DC9A8"/>
                </a:solidFill>
                <a:latin typeface="Calibri"/>
                <a:ea typeface="Calibri"/>
                <a:cs typeface="Calibri"/>
                <a:sym typeface="Calibri"/>
              </a:rPr>
              <a:t>›  </a:t>
            </a:r>
            <a:r>
              <a:rPr lang="en-US" sz="900">
                <a:solidFill>
                  <a:srgbClr val="888898"/>
                </a:solidFill>
                <a:latin typeface="Calibri"/>
                <a:ea typeface="Calibri"/>
                <a:cs typeface="Calibri"/>
                <a:sym typeface="Calibri"/>
              </a:rPr>
              <a:t>Opus level context window at a cheaper price</a:t>
            </a:r>
            <a:endParaRPr b="0" i="0" sz="9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DC9A8"/>
              </a:buClr>
              <a:buSzPts val="900"/>
              <a:buFont typeface="Calibri"/>
              <a:buNone/>
            </a:pPr>
            <a:r>
              <a:rPr b="1" i="0" lang="en-US" sz="900" u="none" cap="none" strike="noStrike">
                <a:solidFill>
                  <a:srgbClr val="1DC9A8"/>
                </a:solidFill>
                <a:latin typeface="Calibri"/>
                <a:ea typeface="Calibri"/>
                <a:cs typeface="Calibri"/>
                <a:sym typeface="Calibri"/>
              </a:rPr>
              <a:t>›  </a:t>
            </a:r>
            <a:r>
              <a:rPr b="0" i="0" lang="en-US" sz="900" u="none" cap="none" strike="noStrike">
                <a:solidFill>
                  <a:srgbClr val="888898"/>
                </a:solidFill>
                <a:latin typeface="Calibri"/>
                <a:ea typeface="Calibri"/>
                <a:cs typeface="Calibri"/>
                <a:sym typeface="Calibri"/>
              </a:rPr>
              <a:t>72.5% OSWorld computer use benchmark</a:t>
            </a:r>
            <a:endParaRPr b="0" i="0" sz="9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DC9A8"/>
              </a:buClr>
              <a:buSzPts val="900"/>
              <a:buFont typeface="Calibri"/>
              <a:buNone/>
            </a:pPr>
            <a:r>
              <a:rPr b="1" i="0" lang="en-US" sz="900" u="none" cap="none" strike="noStrike">
                <a:solidFill>
                  <a:srgbClr val="1DC9A8"/>
                </a:solidFill>
                <a:latin typeface="Calibri"/>
                <a:ea typeface="Calibri"/>
                <a:cs typeface="Calibri"/>
                <a:sym typeface="Calibri"/>
              </a:rPr>
              <a:t>›  </a:t>
            </a:r>
            <a:r>
              <a:rPr b="0" i="0" lang="en-US" sz="900" u="none" cap="none" strike="noStrike">
                <a:solidFill>
                  <a:srgbClr val="888898"/>
                </a:solidFill>
                <a:latin typeface="Calibri"/>
                <a:ea typeface="Calibri"/>
                <a:cs typeface="Calibri"/>
                <a:sym typeface="Calibri"/>
              </a:rPr>
              <a:t>Major improvement in prompt injection resistance vs predecessor</a:t>
            </a:r>
            <a:endParaRPr b="0" i="0" sz="900" u="none" cap="none" strike="noStrike">
              <a:solidFill>
                <a:schemeClr val="dk1"/>
              </a:solidFill>
              <a:latin typeface="Calibri"/>
              <a:ea typeface="Calibri"/>
              <a:cs typeface="Calibri"/>
              <a:sym typeface="Calibri"/>
            </a:endParaRPr>
          </a:p>
        </p:txBody>
      </p:sp>
      <p:sp>
        <p:nvSpPr>
          <p:cNvPr id="155" name="Google Shape;155;p6"/>
          <p:cNvSpPr/>
          <p:nvPr/>
        </p:nvSpPr>
        <p:spPr>
          <a:xfrm>
            <a:off x="6254496" y="960120"/>
            <a:ext cx="2807208" cy="393192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
          <p:cNvSpPr/>
          <p:nvPr/>
        </p:nvSpPr>
        <p:spPr>
          <a:xfrm>
            <a:off x="6254496" y="960120"/>
            <a:ext cx="2807208" cy="36576"/>
          </a:xfrm>
          <a:prstGeom prst="rect">
            <a:avLst/>
          </a:prstGeom>
          <a:solidFill>
            <a:srgbClr val="4D8EEF"/>
          </a:solidFill>
          <a:ln cap="flat" cmpd="sng" w="12700">
            <a:solidFill>
              <a:srgbClr val="4D8E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6364224" y="1051560"/>
            <a:ext cx="2167128"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600"/>
              <a:buFont typeface="Calibri"/>
              <a:buNone/>
            </a:pPr>
            <a:r>
              <a:rPr b="1" i="0" lang="en-US" sz="1600" u="none" cap="none" strike="noStrike">
                <a:solidFill>
                  <a:srgbClr val="EEEEF2"/>
                </a:solidFill>
                <a:latin typeface="Calibri"/>
                <a:ea typeface="Calibri"/>
                <a:cs typeface="Calibri"/>
                <a:sym typeface="Calibri"/>
              </a:rPr>
              <a:t>Haiku 4.5</a:t>
            </a:r>
            <a:endParaRPr b="0" i="0" sz="1600" u="none" cap="none" strike="noStrike">
              <a:solidFill>
                <a:schemeClr val="dk1"/>
              </a:solidFill>
              <a:latin typeface="Calibri"/>
              <a:ea typeface="Calibri"/>
              <a:cs typeface="Calibri"/>
              <a:sym typeface="Calibri"/>
            </a:endParaRPr>
          </a:p>
        </p:txBody>
      </p:sp>
      <p:sp>
        <p:nvSpPr>
          <p:cNvPr id="158" name="Google Shape;158;p6"/>
          <p:cNvSpPr/>
          <p:nvPr/>
        </p:nvSpPr>
        <p:spPr>
          <a:xfrm>
            <a:off x="8165592" y="1051560"/>
            <a:ext cx="777240" cy="201168"/>
          </a:xfrm>
          <a:prstGeom prst="rect">
            <a:avLst/>
          </a:prstGeom>
          <a:solidFill>
            <a:srgbClr val="000000"/>
          </a:solidFill>
          <a:ln cap="flat" cmpd="sng" w="9525">
            <a:solidFill>
              <a:srgbClr val="4D8E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8165592" y="1051560"/>
            <a:ext cx="7772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D8EEF"/>
              </a:buClr>
              <a:buSzPts val="700"/>
              <a:buFont typeface="Calibri"/>
              <a:buNone/>
            </a:pPr>
            <a:r>
              <a:rPr b="1" i="0" lang="en-US" sz="700" u="none" cap="none" strike="noStrike">
                <a:solidFill>
                  <a:srgbClr val="4D8EEF"/>
                </a:solidFill>
                <a:latin typeface="Calibri"/>
                <a:ea typeface="Calibri"/>
                <a:cs typeface="Calibri"/>
                <a:sym typeface="Calibri"/>
              </a:rPr>
              <a:t>SPEED</a:t>
            </a:r>
            <a:endParaRPr b="0" i="0" sz="700" u="none" cap="none" strike="noStrike">
              <a:solidFill>
                <a:schemeClr val="dk1"/>
              </a:solidFill>
              <a:latin typeface="Calibri"/>
              <a:ea typeface="Calibri"/>
              <a:cs typeface="Calibri"/>
              <a:sym typeface="Calibri"/>
            </a:endParaRPr>
          </a:p>
        </p:txBody>
      </p:sp>
      <p:sp>
        <p:nvSpPr>
          <p:cNvPr id="160" name="Google Shape;160;p6"/>
          <p:cNvSpPr/>
          <p:nvPr/>
        </p:nvSpPr>
        <p:spPr>
          <a:xfrm>
            <a:off x="6364224" y="1435608"/>
            <a:ext cx="2578608" cy="329184"/>
          </a:xfrm>
          <a:prstGeom prst="rect">
            <a:avLst/>
          </a:prstGeom>
          <a:solidFill>
            <a:srgbClr val="18181F"/>
          </a:solidFill>
          <a:ln cap="flat" cmpd="sng" w="9525">
            <a:solidFill>
              <a:srgbClr val="1818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6"/>
          <p:cNvSpPr/>
          <p:nvPr/>
        </p:nvSpPr>
        <p:spPr>
          <a:xfrm>
            <a:off x="6419088" y="1472184"/>
            <a:ext cx="2487168" cy="1188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700"/>
              <a:buFont typeface="Calibri"/>
              <a:buNone/>
            </a:pPr>
            <a:r>
              <a:rPr b="1" i="0" lang="en-US" sz="700" u="none" cap="none" strike="noStrike">
                <a:solidFill>
                  <a:srgbClr val="888898"/>
                </a:solidFill>
                <a:latin typeface="Calibri"/>
                <a:ea typeface="Calibri"/>
                <a:cs typeface="Calibri"/>
                <a:sym typeface="Calibri"/>
              </a:rPr>
              <a:t>CONTEXT</a:t>
            </a:r>
            <a:endParaRPr b="0" i="0" sz="700" u="none" cap="none" strike="noStrike">
              <a:solidFill>
                <a:schemeClr val="dk1"/>
              </a:solidFill>
              <a:latin typeface="Calibri"/>
              <a:ea typeface="Calibri"/>
              <a:cs typeface="Calibri"/>
              <a:sym typeface="Calibri"/>
            </a:endParaRPr>
          </a:p>
        </p:txBody>
      </p:sp>
      <p:sp>
        <p:nvSpPr>
          <p:cNvPr id="162" name="Google Shape;162;p6"/>
          <p:cNvSpPr/>
          <p:nvPr/>
        </p:nvSpPr>
        <p:spPr>
          <a:xfrm>
            <a:off x="6419088" y="1609344"/>
            <a:ext cx="2487168" cy="1371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900"/>
              <a:buFont typeface="Calibri"/>
              <a:buNone/>
            </a:pPr>
            <a:r>
              <a:rPr b="1" i="0" lang="en-US" sz="900" u="none" cap="none" strike="noStrike">
                <a:solidFill>
                  <a:srgbClr val="EEEEF2"/>
                </a:solidFill>
                <a:latin typeface="Calibri"/>
                <a:ea typeface="Calibri"/>
                <a:cs typeface="Calibri"/>
                <a:sym typeface="Calibri"/>
              </a:rPr>
              <a:t>200K tokens</a:t>
            </a:r>
            <a:endParaRPr b="0" i="0" sz="900" u="none" cap="none" strike="noStrike">
              <a:solidFill>
                <a:schemeClr val="dk1"/>
              </a:solidFill>
              <a:latin typeface="Calibri"/>
              <a:ea typeface="Calibri"/>
              <a:cs typeface="Calibri"/>
              <a:sym typeface="Calibri"/>
            </a:endParaRPr>
          </a:p>
        </p:txBody>
      </p:sp>
      <p:sp>
        <p:nvSpPr>
          <p:cNvPr id="163" name="Google Shape;163;p6"/>
          <p:cNvSpPr/>
          <p:nvPr/>
        </p:nvSpPr>
        <p:spPr>
          <a:xfrm>
            <a:off x="6364224" y="1801368"/>
            <a:ext cx="2578608" cy="329184"/>
          </a:xfrm>
          <a:prstGeom prst="rect">
            <a:avLst/>
          </a:prstGeom>
          <a:solidFill>
            <a:srgbClr val="18181F"/>
          </a:solidFill>
          <a:ln cap="flat" cmpd="sng" w="9525">
            <a:solidFill>
              <a:srgbClr val="1818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p:nvPr/>
        </p:nvSpPr>
        <p:spPr>
          <a:xfrm>
            <a:off x="6419088" y="1837944"/>
            <a:ext cx="2487168" cy="1188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700"/>
              <a:buFont typeface="Calibri"/>
              <a:buNone/>
            </a:pPr>
            <a:r>
              <a:rPr b="1" i="0" lang="en-US" sz="700" u="none" cap="none" strike="noStrike">
                <a:solidFill>
                  <a:srgbClr val="888898"/>
                </a:solidFill>
                <a:latin typeface="Calibri"/>
                <a:ea typeface="Calibri"/>
                <a:cs typeface="Calibri"/>
                <a:sym typeface="Calibri"/>
              </a:rPr>
              <a:t>PRICING</a:t>
            </a:r>
            <a:endParaRPr b="0" i="0" sz="700" u="none" cap="none" strike="noStrike">
              <a:solidFill>
                <a:schemeClr val="dk1"/>
              </a:solidFill>
              <a:latin typeface="Calibri"/>
              <a:ea typeface="Calibri"/>
              <a:cs typeface="Calibri"/>
              <a:sym typeface="Calibri"/>
            </a:endParaRPr>
          </a:p>
        </p:txBody>
      </p:sp>
      <p:sp>
        <p:nvSpPr>
          <p:cNvPr id="165" name="Google Shape;165;p6"/>
          <p:cNvSpPr/>
          <p:nvPr/>
        </p:nvSpPr>
        <p:spPr>
          <a:xfrm>
            <a:off x="6419088" y="1975104"/>
            <a:ext cx="2487168" cy="1371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900"/>
              <a:buFont typeface="Calibri"/>
              <a:buNone/>
            </a:pPr>
            <a:r>
              <a:rPr b="1" i="0" lang="en-US" sz="900" u="none" cap="none" strike="noStrike">
                <a:solidFill>
                  <a:srgbClr val="EEEEF2"/>
                </a:solidFill>
                <a:latin typeface="Calibri"/>
                <a:ea typeface="Calibri"/>
                <a:cs typeface="Calibri"/>
                <a:sym typeface="Calibri"/>
              </a:rPr>
              <a:t>Lowest cost in family</a:t>
            </a:r>
            <a:endParaRPr b="0" i="0" sz="900" u="none" cap="none" strike="noStrike">
              <a:solidFill>
                <a:schemeClr val="dk1"/>
              </a:solidFill>
              <a:latin typeface="Calibri"/>
              <a:ea typeface="Calibri"/>
              <a:cs typeface="Calibri"/>
              <a:sym typeface="Calibri"/>
            </a:endParaRPr>
          </a:p>
        </p:txBody>
      </p:sp>
      <p:sp>
        <p:nvSpPr>
          <p:cNvPr id="166" name="Google Shape;166;p6"/>
          <p:cNvSpPr/>
          <p:nvPr/>
        </p:nvSpPr>
        <p:spPr>
          <a:xfrm>
            <a:off x="6364224" y="2167128"/>
            <a:ext cx="2578608" cy="329184"/>
          </a:xfrm>
          <a:prstGeom prst="rect">
            <a:avLst/>
          </a:prstGeom>
          <a:solidFill>
            <a:srgbClr val="18181F"/>
          </a:solidFill>
          <a:ln cap="flat" cmpd="sng" w="9525">
            <a:solidFill>
              <a:srgbClr val="1818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6419088" y="2203704"/>
            <a:ext cx="2487168" cy="1188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700"/>
              <a:buFont typeface="Calibri"/>
              <a:buNone/>
            </a:pPr>
            <a:r>
              <a:rPr b="1" i="0" lang="en-US" sz="700" u="none" cap="none" strike="noStrike">
                <a:solidFill>
                  <a:srgbClr val="888898"/>
                </a:solidFill>
                <a:latin typeface="Calibri"/>
                <a:ea typeface="Calibri"/>
                <a:cs typeface="Calibri"/>
                <a:sym typeface="Calibri"/>
              </a:rPr>
              <a:t>RELEASED</a:t>
            </a:r>
            <a:endParaRPr b="0" i="0" sz="700" u="none" cap="none" strike="noStrike">
              <a:solidFill>
                <a:schemeClr val="dk1"/>
              </a:solidFill>
              <a:latin typeface="Calibri"/>
              <a:ea typeface="Calibri"/>
              <a:cs typeface="Calibri"/>
              <a:sym typeface="Calibri"/>
            </a:endParaRPr>
          </a:p>
        </p:txBody>
      </p:sp>
      <p:sp>
        <p:nvSpPr>
          <p:cNvPr id="168" name="Google Shape;168;p6"/>
          <p:cNvSpPr/>
          <p:nvPr/>
        </p:nvSpPr>
        <p:spPr>
          <a:xfrm>
            <a:off x="6419088" y="2340864"/>
            <a:ext cx="2487168" cy="1371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900"/>
              <a:buFont typeface="Calibri"/>
              <a:buNone/>
            </a:pPr>
            <a:r>
              <a:rPr b="1" i="0" lang="en-US" sz="900" u="none" cap="none" strike="noStrike">
                <a:solidFill>
                  <a:srgbClr val="EEEEF2"/>
                </a:solidFill>
                <a:latin typeface="Calibri"/>
                <a:ea typeface="Calibri"/>
                <a:cs typeface="Calibri"/>
                <a:sym typeface="Calibri"/>
              </a:rPr>
              <a:t>Oct 2025</a:t>
            </a:r>
            <a:endParaRPr b="0" i="0" sz="900" u="none" cap="none" strike="noStrike">
              <a:solidFill>
                <a:schemeClr val="dk1"/>
              </a:solidFill>
              <a:latin typeface="Calibri"/>
              <a:ea typeface="Calibri"/>
              <a:cs typeface="Calibri"/>
              <a:sym typeface="Calibri"/>
            </a:endParaRPr>
          </a:p>
        </p:txBody>
      </p:sp>
      <p:sp>
        <p:nvSpPr>
          <p:cNvPr id="169" name="Google Shape;169;p6"/>
          <p:cNvSpPr/>
          <p:nvPr/>
        </p:nvSpPr>
        <p:spPr>
          <a:xfrm>
            <a:off x="6364224" y="2569464"/>
            <a:ext cx="45720" cy="502920"/>
          </a:xfrm>
          <a:prstGeom prst="rect">
            <a:avLst/>
          </a:prstGeom>
          <a:solidFill>
            <a:srgbClr val="4D8EEF"/>
          </a:solidFill>
          <a:ln cap="flat" cmpd="sng" w="12700">
            <a:solidFill>
              <a:srgbClr val="4D8E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6455664" y="2578608"/>
            <a:ext cx="2487168"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1" lang="en-US" sz="900" u="none" cap="none" strike="noStrike">
                <a:solidFill>
                  <a:srgbClr val="888898"/>
                </a:solidFill>
                <a:latin typeface="Calibri"/>
                <a:ea typeface="Calibri"/>
                <a:cs typeface="Calibri"/>
                <a:sym typeface="Calibri"/>
              </a:rPr>
              <a:t>High-volume, latency-sensitive workloads,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88898"/>
              </a:buClr>
              <a:buSzPts val="900"/>
              <a:buFont typeface="Calibri"/>
              <a:buNone/>
            </a:pPr>
            <a:r>
              <a:rPr b="0" i="1" lang="en-US" sz="900" u="none" cap="none" strike="noStrike">
                <a:solidFill>
                  <a:srgbClr val="888898"/>
                </a:solidFill>
                <a:latin typeface="Calibri"/>
                <a:ea typeface="Calibri"/>
                <a:cs typeface="Calibri"/>
                <a:sym typeface="Calibri"/>
              </a:rPr>
              <a:t>classification, rapid triage</a:t>
            </a:r>
            <a:endParaRPr b="0" i="0" sz="900" u="none" cap="none" strike="noStrike">
              <a:solidFill>
                <a:schemeClr val="dk1"/>
              </a:solidFill>
              <a:latin typeface="Calibri"/>
              <a:ea typeface="Calibri"/>
              <a:cs typeface="Calibri"/>
              <a:sym typeface="Calibri"/>
            </a:endParaRPr>
          </a:p>
        </p:txBody>
      </p:sp>
      <p:sp>
        <p:nvSpPr>
          <p:cNvPr id="171" name="Google Shape;171;p6"/>
          <p:cNvSpPr/>
          <p:nvPr/>
        </p:nvSpPr>
        <p:spPr>
          <a:xfrm>
            <a:off x="6364224" y="3154680"/>
            <a:ext cx="2578608"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D8EEF"/>
              </a:buClr>
              <a:buSzPts val="900"/>
              <a:buFont typeface="Calibri"/>
              <a:buNone/>
            </a:pPr>
            <a:r>
              <a:rPr b="1" i="0" lang="en-US" sz="900" u="none" cap="none" strike="noStrike">
                <a:solidFill>
                  <a:srgbClr val="4D8EEF"/>
                </a:solidFill>
                <a:latin typeface="Calibri"/>
                <a:ea typeface="Calibri"/>
                <a:cs typeface="Calibri"/>
                <a:sym typeface="Calibri"/>
              </a:rPr>
              <a:t>›  </a:t>
            </a:r>
            <a:r>
              <a:rPr b="0" i="0" lang="en-US" sz="900" u="none" cap="none" strike="noStrike">
                <a:solidFill>
                  <a:srgbClr val="888898"/>
                </a:solidFill>
                <a:latin typeface="Calibri"/>
                <a:ea typeface="Calibri"/>
                <a:cs typeface="Calibri"/>
                <a:sym typeface="Calibri"/>
              </a:rPr>
              <a:t>Fastest time-to-first-token in the family</a:t>
            </a:r>
            <a:endParaRPr b="0" i="0" sz="9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D8EEF"/>
              </a:buClr>
              <a:buSzPts val="900"/>
              <a:buFont typeface="Calibri"/>
              <a:buNone/>
            </a:pPr>
            <a:r>
              <a:rPr b="1" i="0" lang="en-US" sz="900" u="none" cap="none" strike="noStrike">
                <a:solidFill>
                  <a:srgbClr val="4D8EEF"/>
                </a:solidFill>
                <a:latin typeface="Calibri"/>
                <a:ea typeface="Calibri"/>
                <a:cs typeface="Calibri"/>
                <a:sym typeface="Calibri"/>
              </a:rPr>
              <a:t>›  </a:t>
            </a:r>
            <a:r>
              <a:rPr b="0" i="0" lang="en-US" sz="900" u="none" cap="none" strike="noStrike">
                <a:solidFill>
                  <a:srgbClr val="888898"/>
                </a:solidFill>
                <a:latin typeface="Calibri"/>
                <a:ea typeface="Calibri"/>
                <a:cs typeface="Calibri"/>
                <a:sym typeface="Calibri"/>
              </a:rPr>
              <a:t>Context-aware: tracks remaining token budget in-session</a:t>
            </a:r>
            <a:endParaRPr b="0" i="0" sz="9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D8EEF"/>
              </a:buClr>
              <a:buSzPts val="900"/>
              <a:buFont typeface="Calibri"/>
              <a:buNone/>
            </a:pPr>
            <a:r>
              <a:rPr b="1" i="0" lang="en-US" sz="900" u="none" cap="none" strike="noStrike">
                <a:solidFill>
                  <a:srgbClr val="4D8EEF"/>
                </a:solidFill>
                <a:latin typeface="Calibri"/>
                <a:ea typeface="Calibri"/>
                <a:cs typeface="Calibri"/>
                <a:sym typeface="Calibri"/>
              </a:rPr>
              <a:t>›  </a:t>
            </a:r>
            <a:r>
              <a:rPr b="0" i="0" lang="en-US" sz="900" u="none" cap="none" strike="noStrike">
                <a:solidFill>
                  <a:srgbClr val="888898"/>
                </a:solidFill>
                <a:latin typeface="Calibri"/>
                <a:ea typeface="Calibri"/>
                <a:cs typeface="Calibri"/>
                <a:sym typeface="Calibri"/>
              </a:rPr>
              <a:t>Best cost-per-token for high-throughput pipelines</a:t>
            </a:r>
            <a:endParaRPr b="0" i="0" sz="900" u="none" cap="none" strike="noStrike">
              <a:solidFill>
                <a:schemeClr val="dk1"/>
              </a:solidFill>
              <a:latin typeface="Calibri"/>
              <a:ea typeface="Calibri"/>
              <a:cs typeface="Calibri"/>
              <a:sym typeface="Calibri"/>
            </a:endParaRPr>
          </a:p>
        </p:txBody>
      </p:sp>
      <p:sp>
        <p:nvSpPr>
          <p:cNvPr id="172" name="Google Shape;172;p6"/>
          <p:cNvSpPr/>
          <p:nvPr/>
        </p:nvSpPr>
        <p:spPr>
          <a:xfrm>
            <a:off x="566925" y="4754875"/>
            <a:ext cx="8211600" cy="219600"/>
          </a:xfrm>
          <a:prstGeom prst="rect">
            <a:avLst/>
          </a:prstGeom>
          <a:solidFill>
            <a:srgbClr val="18181F"/>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566925" y="4754880"/>
            <a:ext cx="822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3A50"/>
              </a:buClr>
              <a:buSzPts val="800"/>
              <a:buFont typeface="Calibri"/>
              <a:buNone/>
            </a:pPr>
            <a:r>
              <a:rPr b="0" i="0" lang="en-US" sz="800" u="none" cap="none" strike="noStrike">
                <a:solidFill>
                  <a:schemeClr val="lt1"/>
                </a:solidFill>
                <a:latin typeface="Calibri"/>
                <a:ea typeface="Calibri"/>
                <a:cs typeface="Calibri"/>
                <a:sym typeface="Calibri"/>
              </a:rPr>
              <a:t>Context scale:  200K tokens ≈ 500+ pages  ·  1M tokens ≈ 75,000 lines of code  ·  Context rot is real — curating what's in context matters as much as window size</a:t>
            </a:r>
            <a:endParaRPr b="0" i="0" sz="800" u="none" cap="none" strike="noStrike">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90C"/>
        </a:solidFill>
      </p:bgPr>
    </p:bg>
    <p:spTree>
      <p:nvGrpSpPr>
        <p:cNvPr id="178" name="Shape 178"/>
        <p:cNvGrpSpPr/>
        <p:nvPr/>
      </p:nvGrpSpPr>
      <p:grpSpPr>
        <a:xfrm>
          <a:off x="0" y="0"/>
          <a:ext cx="0" cy="0"/>
          <a:chOff x="0" y="0"/>
          <a:chExt cx="0" cy="0"/>
        </a:xfrm>
      </p:grpSpPr>
      <p:sp>
        <p:nvSpPr>
          <p:cNvPr id="179" name="Google Shape;179;p7"/>
          <p:cNvSpPr/>
          <p:nvPr/>
        </p:nvSpPr>
        <p:spPr>
          <a:xfrm>
            <a:off x="365760" y="164592"/>
            <a:ext cx="84124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CAPABILITIES</a:t>
            </a:r>
            <a:endParaRPr b="0" i="0" sz="800" u="none" cap="none" strike="noStrike">
              <a:solidFill>
                <a:schemeClr val="dk1"/>
              </a:solidFill>
              <a:latin typeface="Calibri"/>
              <a:ea typeface="Calibri"/>
              <a:cs typeface="Calibri"/>
              <a:sym typeface="Calibri"/>
            </a:endParaRPr>
          </a:p>
        </p:txBody>
      </p:sp>
      <p:sp>
        <p:nvSpPr>
          <p:cNvPr id="180" name="Google Shape;180;p7"/>
          <p:cNvSpPr/>
          <p:nvPr/>
        </p:nvSpPr>
        <p:spPr>
          <a:xfrm>
            <a:off x="365760" y="347472"/>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2200"/>
              <a:buFont typeface="Calibri"/>
              <a:buNone/>
            </a:pPr>
            <a:r>
              <a:rPr b="1" i="0" lang="en-US" sz="2200" u="none" cap="none" strike="noStrike">
                <a:solidFill>
                  <a:srgbClr val="EEEEF2"/>
                </a:solidFill>
                <a:latin typeface="Calibri"/>
                <a:ea typeface="Calibri"/>
                <a:cs typeface="Calibri"/>
                <a:sym typeface="Calibri"/>
              </a:rPr>
              <a:t>Core Capabilities &amp; Key Benchmarks</a:t>
            </a:r>
            <a:endParaRPr b="0" i="0" sz="2200" u="none" cap="none" strike="noStrike">
              <a:solidFill>
                <a:schemeClr val="dk1"/>
              </a:solidFill>
              <a:latin typeface="Calibri"/>
              <a:ea typeface="Calibri"/>
              <a:cs typeface="Calibri"/>
              <a:sym typeface="Calibri"/>
            </a:endParaRPr>
          </a:p>
        </p:txBody>
      </p:sp>
      <p:sp>
        <p:nvSpPr>
          <p:cNvPr id="181" name="Google Shape;181;p7"/>
          <p:cNvSpPr/>
          <p:nvPr/>
        </p:nvSpPr>
        <p:spPr>
          <a:xfrm>
            <a:off x="365760" y="822960"/>
            <a:ext cx="8412480" cy="16459"/>
          </a:xfrm>
          <a:prstGeom prst="rect">
            <a:avLst/>
          </a:prstGeom>
          <a:solidFill>
            <a:srgbClr val="2A2A38"/>
          </a:solidFill>
          <a:ln cap="flat" cmpd="sng" w="12700">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365760" y="960120"/>
            <a:ext cx="2011680" cy="91440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p:nvPr/>
        </p:nvSpPr>
        <p:spPr>
          <a:xfrm>
            <a:off x="457200" y="1051560"/>
            <a:ext cx="18288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602A"/>
              </a:buClr>
              <a:buSzPts val="2200"/>
              <a:buFont typeface="Calibri"/>
              <a:buNone/>
            </a:pPr>
            <a:r>
              <a:rPr b="1" i="0" lang="en-US" sz="2200" u="none" cap="none" strike="noStrike">
                <a:solidFill>
                  <a:srgbClr val="E8602A"/>
                </a:solidFill>
                <a:latin typeface="Calibri"/>
                <a:ea typeface="Calibri"/>
                <a:cs typeface="Calibri"/>
                <a:sym typeface="Calibri"/>
              </a:rPr>
              <a:t>1M</a:t>
            </a:r>
            <a:endParaRPr b="0" i="0" sz="2200" u="none" cap="none" strike="noStrike">
              <a:solidFill>
                <a:schemeClr val="dk1"/>
              </a:solidFill>
              <a:latin typeface="Calibri"/>
              <a:ea typeface="Calibri"/>
              <a:cs typeface="Calibri"/>
              <a:sym typeface="Calibri"/>
            </a:endParaRPr>
          </a:p>
        </p:txBody>
      </p:sp>
      <p:sp>
        <p:nvSpPr>
          <p:cNvPr id="184" name="Google Shape;184;p7"/>
          <p:cNvSpPr/>
          <p:nvPr/>
        </p:nvSpPr>
        <p:spPr>
          <a:xfrm>
            <a:off x="457200" y="1417320"/>
            <a:ext cx="182880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EEEF2"/>
              </a:buClr>
              <a:buSzPts val="1000"/>
              <a:buFont typeface="Calibri"/>
              <a:buNone/>
            </a:pPr>
            <a:r>
              <a:rPr b="1" i="0" lang="en-US" sz="1000" u="none" cap="none" strike="noStrike">
                <a:solidFill>
                  <a:srgbClr val="EEEEF2"/>
                </a:solidFill>
                <a:latin typeface="Calibri"/>
                <a:ea typeface="Calibri"/>
                <a:cs typeface="Calibri"/>
                <a:sym typeface="Calibri"/>
              </a:rPr>
              <a:t>Context Window</a:t>
            </a:r>
            <a:endParaRPr b="0" i="0" sz="1000" u="none" cap="none" strike="noStrike">
              <a:solidFill>
                <a:schemeClr val="dk1"/>
              </a:solidFill>
              <a:latin typeface="Calibri"/>
              <a:ea typeface="Calibri"/>
              <a:cs typeface="Calibri"/>
              <a:sym typeface="Calibri"/>
            </a:endParaRPr>
          </a:p>
        </p:txBody>
      </p:sp>
      <p:sp>
        <p:nvSpPr>
          <p:cNvPr id="185" name="Google Shape;185;p7"/>
          <p:cNvSpPr/>
          <p:nvPr/>
        </p:nvSpPr>
        <p:spPr>
          <a:xfrm>
            <a:off x="457200" y="1600200"/>
            <a:ext cx="182880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8898"/>
              </a:buClr>
              <a:buSzPts val="800"/>
              <a:buFont typeface="Calibri"/>
              <a:buNone/>
            </a:pPr>
            <a:r>
              <a:rPr b="0" i="0" lang="en-US" sz="800" u="none" cap="none" strike="noStrike">
                <a:solidFill>
                  <a:srgbClr val="888898"/>
                </a:solidFill>
                <a:latin typeface="Calibri"/>
                <a:ea typeface="Calibri"/>
                <a:cs typeface="Calibri"/>
                <a:sym typeface="Calibri"/>
              </a:rPr>
              <a:t>tokens — Opus 4.7 &amp; Sonnet 4.6</a:t>
            </a:r>
            <a:endParaRPr b="0" i="0" sz="800" u="none" cap="none" strike="noStrike">
              <a:solidFill>
                <a:schemeClr val="dk1"/>
              </a:solidFill>
              <a:latin typeface="Calibri"/>
              <a:ea typeface="Calibri"/>
              <a:cs typeface="Calibri"/>
              <a:sym typeface="Calibri"/>
            </a:endParaRPr>
          </a:p>
        </p:txBody>
      </p:sp>
      <p:sp>
        <p:nvSpPr>
          <p:cNvPr id="186" name="Google Shape;186;p7"/>
          <p:cNvSpPr/>
          <p:nvPr/>
        </p:nvSpPr>
        <p:spPr>
          <a:xfrm>
            <a:off x="2523744" y="960120"/>
            <a:ext cx="2011680" cy="91440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
          <p:cNvSpPr/>
          <p:nvPr/>
        </p:nvSpPr>
        <p:spPr>
          <a:xfrm>
            <a:off x="2615184" y="1051560"/>
            <a:ext cx="18288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DC9A8"/>
              </a:buClr>
              <a:buSzPts val="2200"/>
              <a:buFont typeface="Calibri"/>
              <a:buNone/>
            </a:pPr>
            <a:r>
              <a:rPr b="1" i="0" lang="en-US" sz="2200" u="none" cap="none" strike="noStrike">
                <a:solidFill>
                  <a:srgbClr val="1DC9A8"/>
                </a:solidFill>
                <a:latin typeface="Calibri"/>
                <a:ea typeface="Calibri"/>
                <a:cs typeface="Calibri"/>
                <a:sym typeface="Calibri"/>
              </a:rPr>
              <a:t>14.5h</a:t>
            </a:r>
            <a:endParaRPr b="0" i="0" sz="2200" u="none" cap="none" strike="noStrike">
              <a:solidFill>
                <a:schemeClr val="dk1"/>
              </a:solidFill>
              <a:latin typeface="Calibri"/>
              <a:ea typeface="Calibri"/>
              <a:cs typeface="Calibri"/>
              <a:sym typeface="Calibri"/>
            </a:endParaRPr>
          </a:p>
        </p:txBody>
      </p:sp>
      <p:sp>
        <p:nvSpPr>
          <p:cNvPr id="188" name="Google Shape;188;p7"/>
          <p:cNvSpPr/>
          <p:nvPr/>
        </p:nvSpPr>
        <p:spPr>
          <a:xfrm>
            <a:off x="2615184" y="1417320"/>
            <a:ext cx="182880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EEEF2"/>
              </a:buClr>
              <a:buSzPts val="1000"/>
              <a:buFont typeface="Calibri"/>
              <a:buNone/>
            </a:pPr>
            <a:r>
              <a:rPr b="1" i="0" lang="en-US" sz="1000" u="none" cap="none" strike="noStrike">
                <a:solidFill>
                  <a:srgbClr val="EEEEF2"/>
                </a:solidFill>
                <a:latin typeface="Calibri"/>
                <a:ea typeface="Calibri"/>
                <a:cs typeface="Calibri"/>
                <a:sym typeface="Calibri"/>
              </a:rPr>
              <a:t>Task Horizon</a:t>
            </a:r>
            <a:endParaRPr b="0" i="0" sz="1000" u="none" cap="none" strike="noStrike">
              <a:solidFill>
                <a:schemeClr val="dk1"/>
              </a:solidFill>
              <a:latin typeface="Calibri"/>
              <a:ea typeface="Calibri"/>
              <a:cs typeface="Calibri"/>
              <a:sym typeface="Calibri"/>
            </a:endParaRPr>
          </a:p>
        </p:txBody>
      </p:sp>
      <p:sp>
        <p:nvSpPr>
          <p:cNvPr id="189" name="Google Shape;189;p7"/>
          <p:cNvSpPr/>
          <p:nvPr/>
        </p:nvSpPr>
        <p:spPr>
          <a:xfrm>
            <a:off x="2615184" y="1600200"/>
            <a:ext cx="182880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8898"/>
              </a:buClr>
              <a:buSzPts val="800"/>
              <a:buFont typeface="Calibri"/>
              <a:buNone/>
            </a:pPr>
            <a:r>
              <a:rPr b="0" i="0" lang="en-US" sz="800" u="none" cap="none" strike="noStrike">
                <a:solidFill>
                  <a:srgbClr val="888898"/>
                </a:solidFill>
                <a:latin typeface="Calibri"/>
                <a:ea typeface="Calibri"/>
                <a:cs typeface="Calibri"/>
                <a:sym typeface="Calibri"/>
              </a:rPr>
              <a:t>50% success rate (METR eval, Opus 4.6)</a:t>
            </a:r>
            <a:endParaRPr b="0" i="0" sz="800" u="none" cap="none" strike="noStrike">
              <a:solidFill>
                <a:schemeClr val="dk1"/>
              </a:solidFill>
              <a:latin typeface="Calibri"/>
              <a:ea typeface="Calibri"/>
              <a:cs typeface="Calibri"/>
              <a:sym typeface="Calibri"/>
            </a:endParaRPr>
          </a:p>
        </p:txBody>
      </p:sp>
      <p:sp>
        <p:nvSpPr>
          <p:cNvPr id="190" name="Google Shape;190;p7"/>
          <p:cNvSpPr/>
          <p:nvPr/>
        </p:nvSpPr>
        <p:spPr>
          <a:xfrm>
            <a:off x="4681728" y="960120"/>
            <a:ext cx="2011680" cy="91440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4773168" y="1051560"/>
            <a:ext cx="18288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D8EEF"/>
              </a:buClr>
              <a:buSzPts val="2200"/>
              <a:buFont typeface="Calibri"/>
              <a:buNone/>
            </a:pPr>
            <a:r>
              <a:rPr b="1" i="0" lang="en-US" sz="2200" u="none" cap="none" strike="noStrike">
                <a:solidFill>
                  <a:srgbClr val="4D8EEF"/>
                </a:solidFill>
                <a:latin typeface="Calibri"/>
                <a:ea typeface="Calibri"/>
                <a:cs typeface="Calibri"/>
                <a:sym typeface="Calibri"/>
              </a:rPr>
              <a:t>72.5%</a:t>
            </a:r>
            <a:endParaRPr b="0" i="0" sz="2200" u="none" cap="none" strike="noStrike">
              <a:solidFill>
                <a:schemeClr val="dk1"/>
              </a:solidFill>
              <a:latin typeface="Calibri"/>
              <a:ea typeface="Calibri"/>
              <a:cs typeface="Calibri"/>
              <a:sym typeface="Calibri"/>
            </a:endParaRPr>
          </a:p>
        </p:txBody>
      </p:sp>
      <p:sp>
        <p:nvSpPr>
          <p:cNvPr id="192" name="Google Shape;192;p7"/>
          <p:cNvSpPr/>
          <p:nvPr/>
        </p:nvSpPr>
        <p:spPr>
          <a:xfrm>
            <a:off x="4773168" y="1417320"/>
            <a:ext cx="182880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EEEF2"/>
              </a:buClr>
              <a:buSzPts val="1000"/>
              <a:buFont typeface="Calibri"/>
              <a:buNone/>
            </a:pPr>
            <a:r>
              <a:rPr b="1" i="0" lang="en-US" sz="1000" u="none" cap="none" strike="noStrike">
                <a:solidFill>
                  <a:srgbClr val="EEEEF2"/>
                </a:solidFill>
                <a:latin typeface="Calibri"/>
                <a:ea typeface="Calibri"/>
                <a:cs typeface="Calibri"/>
                <a:sym typeface="Calibri"/>
              </a:rPr>
              <a:t>Computer Use</a:t>
            </a:r>
            <a:endParaRPr b="0" i="0" sz="1000" u="none" cap="none" strike="noStrike">
              <a:solidFill>
                <a:schemeClr val="dk1"/>
              </a:solidFill>
              <a:latin typeface="Calibri"/>
              <a:ea typeface="Calibri"/>
              <a:cs typeface="Calibri"/>
              <a:sym typeface="Calibri"/>
            </a:endParaRPr>
          </a:p>
        </p:txBody>
      </p:sp>
      <p:sp>
        <p:nvSpPr>
          <p:cNvPr id="193" name="Google Shape;193;p7"/>
          <p:cNvSpPr/>
          <p:nvPr/>
        </p:nvSpPr>
        <p:spPr>
          <a:xfrm>
            <a:off x="4773168" y="1600200"/>
            <a:ext cx="182880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8898"/>
              </a:buClr>
              <a:buSzPts val="800"/>
              <a:buFont typeface="Calibri"/>
              <a:buNone/>
            </a:pPr>
            <a:r>
              <a:rPr b="0" i="0" lang="en-US" sz="800" u="none" cap="none" strike="noStrike">
                <a:solidFill>
                  <a:srgbClr val="888898"/>
                </a:solidFill>
                <a:latin typeface="Calibri"/>
                <a:ea typeface="Calibri"/>
                <a:cs typeface="Calibri"/>
                <a:sym typeface="Calibri"/>
              </a:rPr>
              <a:t>OSWorld benchmark — Sonnet 4.6</a:t>
            </a:r>
            <a:endParaRPr b="0" i="0" sz="800" u="none" cap="none" strike="noStrike">
              <a:solidFill>
                <a:schemeClr val="dk1"/>
              </a:solidFill>
              <a:latin typeface="Calibri"/>
              <a:ea typeface="Calibri"/>
              <a:cs typeface="Calibri"/>
              <a:sym typeface="Calibri"/>
            </a:endParaRPr>
          </a:p>
        </p:txBody>
      </p:sp>
      <p:sp>
        <p:nvSpPr>
          <p:cNvPr id="194" name="Google Shape;194;p7"/>
          <p:cNvSpPr/>
          <p:nvPr/>
        </p:nvSpPr>
        <p:spPr>
          <a:xfrm>
            <a:off x="6839712" y="960120"/>
            <a:ext cx="2011680" cy="91440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6931152" y="1051560"/>
            <a:ext cx="18288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855F7"/>
              </a:buClr>
              <a:buSzPts val="2200"/>
              <a:buFont typeface="Calibri"/>
              <a:buNone/>
            </a:pPr>
            <a:r>
              <a:rPr b="1" i="0" lang="en-US" sz="2200" u="none" cap="none" strike="noStrike">
                <a:solidFill>
                  <a:srgbClr val="A855F7"/>
                </a:solidFill>
                <a:latin typeface="Calibri"/>
                <a:ea typeface="Calibri"/>
                <a:cs typeface="Calibri"/>
                <a:sym typeface="Calibri"/>
              </a:rPr>
              <a:t>98.5%</a:t>
            </a:r>
            <a:endParaRPr b="0" i="0" sz="2200" u="none" cap="none" strike="noStrike">
              <a:solidFill>
                <a:schemeClr val="dk1"/>
              </a:solidFill>
              <a:latin typeface="Calibri"/>
              <a:ea typeface="Calibri"/>
              <a:cs typeface="Calibri"/>
              <a:sym typeface="Calibri"/>
            </a:endParaRPr>
          </a:p>
        </p:txBody>
      </p:sp>
      <p:sp>
        <p:nvSpPr>
          <p:cNvPr id="196" name="Google Shape;196;p7"/>
          <p:cNvSpPr/>
          <p:nvPr/>
        </p:nvSpPr>
        <p:spPr>
          <a:xfrm>
            <a:off x="6931152" y="1417320"/>
            <a:ext cx="182880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EEEF2"/>
              </a:buClr>
              <a:buSzPts val="1000"/>
              <a:buFont typeface="Calibri"/>
              <a:buNone/>
            </a:pPr>
            <a:r>
              <a:rPr b="1" i="0" lang="en-US" sz="1000" u="none" cap="none" strike="noStrike">
                <a:solidFill>
                  <a:srgbClr val="EEEEF2"/>
                </a:solidFill>
                <a:latin typeface="Calibri"/>
                <a:ea typeface="Calibri"/>
                <a:cs typeface="Calibri"/>
                <a:sym typeface="Calibri"/>
              </a:rPr>
              <a:t>Visual Acuity</a:t>
            </a:r>
            <a:endParaRPr b="0" i="0" sz="1000" u="none" cap="none" strike="noStrike">
              <a:solidFill>
                <a:schemeClr val="dk1"/>
              </a:solidFill>
              <a:latin typeface="Calibri"/>
              <a:ea typeface="Calibri"/>
              <a:cs typeface="Calibri"/>
              <a:sym typeface="Calibri"/>
            </a:endParaRPr>
          </a:p>
        </p:txBody>
      </p:sp>
      <p:sp>
        <p:nvSpPr>
          <p:cNvPr id="197" name="Google Shape;197;p7"/>
          <p:cNvSpPr/>
          <p:nvPr/>
        </p:nvSpPr>
        <p:spPr>
          <a:xfrm>
            <a:off x="6931152" y="1600200"/>
            <a:ext cx="182880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8898"/>
              </a:buClr>
              <a:buSzPts val="800"/>
              <a:buFont typeface="Calibri"/>
              <a:buNone/>
            </a:pPr>
            <a:r>
              <a:rPr b="0" i="0" lang="en-US" sz="800" u="none" cap="none" strike="noStrike">
                <a:solidFill>
                  <a:srgbClr val="888898"/>
                </a:solidFill>
                <a:latin typeface="Calibri"/>
                <a:ea typeface="Calibri"/>
                <a:cs typeface="Calibri"/>
                <a:sym typeface="Calibri"/>
              </a:rPr>
              <a:t>Computer use benchmark — Opus 4.7</a:t>
            </a:r>
            <a:endParaRPr b="0" i="0" sz="800" u="none" cap="none" strike="noStrike">
              <a:solidFill>
                <a:schemeClr val="dk1"/>
              </a:solidFill>
              <a:latin typeface="Calibri"/>
              <a:ea typeface="Calibri"/>
              <a:cs typeface="Calibri"/>
              <a:sym typeface="Calibri"/>
            </a:endParaRPr>
          </a:p>
        </p:txBody>
      </p:sp>
      <p:sp>
        <p:nvSpPr>
          <p:cNvPr id="198" name="Google Shape;198;p7"/>
          <p:cNvSpPr/>
          <p:nvPr/>
        </p:nvSpPr>
        <p:spPr>
          <a:xfrm>
            <a:off x="365760" y="1965960"/>
            <a:ext cx="4224528" cy="150876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p:nvPr/>
        </p:nvSpPr>
        <p:spPr>
          <a:xfrm>
            <a:off x="365760" y="1965960"/>
            <a:ext cx="45720" cy="1508760"/>
          </a:xfrm>
          <a:prstGeom prst="rect">
            <a:avLst/>
          </a:prstGeom>
          <a:solidFill>
            <a:srgbClr val="E8602A"/>
          </a:solidFill>
          <a:ln cap="flat" cmpd="sng" w="12700">
            <a:solidFill>
              <a:srgbClr val="E86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a:off x="502920" y="2057400"/>
            <a:ext cx="3977640" cy="1645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REASONING &amp; EXTENDED THINKING</a:t>
            </a:r>
            <a:endParaRPr b="0" i="0" sz="800" u="none" cap="none" strike="noStrike">
              <a:solidFill>
                <a:schemeClr val="dk1"/>
              </a:solidFill>
              <a:latin typeface="Calibri"/>
              <a:ea typeface="Calibri"/>
              <a:cs typeface="Calibri"/>
              <a:sym typeface="Calibri"/>
            </a:endParaRPr>
          </a:p>
        </p:txBody>
      </p:sp>
      <p:sp>
        <p:nvSpPr>
          <p:cNvPr id="201" name="Google Shape;201;p7"/>
          <p:cNvSpPr/>
          <p:nvPr/>
        </p:nvSpPr>
        <p:spPr>
          <a:xfrm>
            <a:off x="502920" y="2258568"/>
            <a:ext cx="397764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602A"/>
              </a:buClr>
              <a:buSzPts val="950"/>
              <a:buFont typeface="Calibri"/>
              <a:buNone/>
            </a:pPr>
            <a:r>
              <a:rPr b="1" i="0" lang="en-US" sz="950" u="none" cap="none" strike="noStrike">
                <a:solidFill>
                  <a:srgbClr val="E8602A"/>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Hybrid reasoning with extended thinking</a:t>
            </a:r>
            <a:r>
              <a:rPr lang="en-US" sz="950">
                <a:solidFill>
                  <a:srgbClr val="888898"/>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between tool calls on all Claude 4 models</a:t>
            </a:r>
            <a:endParaRPr b="0" i="0" sz="9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E8602A"/>
              </a:buClr>
              <a:buSzPts val="950"/>
              <a:buFont typeface="Calibri"/>
              <a:buNone/>
            </a:pPr>
            <a:r>
              <a:rPr b="1" i="0" lang="en-US" sz="950" u="none" cap="none" strike="noStrike">
                <a:solidFill>
                  <a:srgbClr val="E8602A"/>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Outperforms on deductive logic, multi-step planning, and structured problem-framing.</a:t>
            </a:r>
            <a:endParaRPr b="0" i="0" sz="9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E8602A"/>
              </a:buClr>
              <a:buSzPts val="950"/>
              <a:buFont typeface="Calibri"/>
              <a:buNone/>
            </a:pPr>
            <a:r>
              <a:rPr b="1" i="0" lang="en-US" sz="950" u="none" cap="none" strike="noStrike">
                <a:solidFill>
                  <a:srgbClr val="E8602A"/>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Catches its own logical faults during the planning phase before execution begins.</a:t>
            </a:r>
            <a:endParaRPr b="0" i="0" sz="950" u="none" cap="none" strike="noStrike">
              <a:solidFill>
                <a:schemeClr val="dk1"/>
              </a:solidFill>
              <a:latin typeface="Calibri"/>
              <a:ea typeface="Calibri"/>
              <a:cs typeface="Calibri"/>
              <a:sym typeface="Calibri"/>
            </a:endParaRPr>
          </a:p>
        </p:txBody>
      </p:sp>
      <p:sp>
        <p:nvSpPr>
          <p:cNvPr id="202" name="Google Shape;202;p7"/>
          <p:cNvSpPr/>
          <p:nvPr/>
        </p:nvSpPr>
        <p:spPr>
          <a:xfrm>
            <a:off x="4727448" y="1965960"/>
            <a:ext cx="4224528" cy="150876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p:nvPr/>
        </p:nvSpPr>
        <p:spPr>
          <a:xfrm>
            <a:off x="4727448" y="1965960"/>
            <a:ext cx="45720" cy="1508760"/>
          </a:xfrm>
          <a:prstGeom prst="rect">
            <a:avLst/>
          </a:prstGeom>
          <a:solidFill>
            <a:srgbClr val="1DC9A8"/>
          </a:solidFill>
          <a:ln cap="flat" cmpd="sng" w="12700">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4864608" y="2057400"/>
            <a:ext cx="3977640" cy="1645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DC9A8"/>
              </a:buClr>
              <a:buSzPts val="800"/>
              <a:buFont typeface="Calibri"/>
              <a:buNone/>
            </a:pPr>
            <a:r>
              <a:rPr b="1" i="0" lang="en-US" sz="800" u="none" cap="none" strike="noStrike">
                <a:solidFill>
                  <a:srgbClr val="1DC9A8"/>
                </a:solidFill>
                <a:latin typeface="Calibri"/>
                <a:ea typeface="Calibri"/>
                <a:cs typeface="Calibri"/>
                <a:sym typeface="Calibri"/>
              </a:rPr>
              <a:t>AGENTIC EXECUTION</a:t>
            </a:r>
            <a:endParaRPr b="0" i="0" sz="800" u="none" cap="none" strike="noStrike">
              <a:solidFill>
                <a:schemeClr val="dk1"/>
              </a:solidFill>
              <a:latin typeface="Calibri"/>
              <a:ea typeface="Calibri"/>
              <a:cs typeface="Calibri"/>
              <a:sym typeface="Calibri"/>
            </a:endParaRPr>
          </a:p>
        </p:txBody>
      </p:sp>
      <p:sp>
        <p:nvSpPr>
          <p:cNvPr id="205" name="Google Shape;205;p7"/>
          <p:cNvSpPr/>
          <p:nvPr/>
        </p:nvSpPr>
        <p:spPr>
          <a:xfrm>
            <a:off x="4864608" y="2258568"/>
            <a:ext cx="397764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DC9A8"/>
              </a:buClr>
              <a:buSzPts val="950"/>
              <a:buFont typeface="Calibri"/>
              <a:buNone/>
            </a:pPr>
            <a:r>
              <a:rPr b="1" i="0" lang="en-US" sz="950" u="none" cap="none" strike="noStrike">
                <a:solidFill>
                  <a:srgbClr val="1DC9A8"/>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Multi-agent coordination</a:t>
            </a:r>
            <a:r>
              <a:rPr lang="en-US" sz="950">
                <a:solidFill>
                  <a:srgbClr val="888898"/>
                </a:solidFill>
                <a:latin typeface="Calibri"/>
                <a:ea typeface="Calibri"/>
                <a:cs typeface="Calibri"/>
                <a:sym typeface="Calibri"/>
              </a:rPr>
              <a:t>: O</a:t>
            </a:r>
            <a:r>
              <a:rPr b="0" i="0" lang="en-US" sz="950" u="none" cap="none" strike="noStrike">
                <a:solidFill>
                  <a:srgbClr val="888898"/>
                </a:solidFill>
                <a:latin typeface="Calibri"/>
                <a:ea typeface="Calibri"/>
                <a:cs typeface="Calibri"/>
                <a:sym typeface="Calibri"/>
              </a:rPr>
              <a:t>rchestrates teams of specialized subagents in parallel within a session.</a:t>
            </a:r>
            <a:endParaRPr b="0" i="0" sz="9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DC9A8"/>
              </a:buClr>
              <a:buSzPts val="950"/>
              <a:buFont typeface="Calibri"/>
              <a:buNone/>
            </a:pPr>
            <a:r>
              <a:rPr b="1" i="0" lang="en-US" sz="950" u="none" cap="none" strike="noStrike">
                <a:solidFill>
                  <a:srgbClr val="1DC9A8"/>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Context-awareness: </a:t>
            </a:r>
            <a:r>
              <a:rPr lang="en-US" sz="950">
                <a:solidFill>
                  <a:srgbClr val="888898"/>
                </a:solidFill>
                <a:latin typeface="Calibri"/>
                <a:ea typeface="Calibri"/>
                <a:cs typeface="Calibri"/>
                <a:sym typeface="Calibri"/>
              </a:rPr>
              <a:t>M</a:t>
            </a:r>
            <a:r>
              <a:rPr b="0" i="0" lang="en-US" sz="950" u="none" cap="none" strike="noStrike">
                <a:solidFill>
                  <a:srgbClr val="888898"/>
                </a:solidFill>
                <a:latin typeface="Calibri"/>
                <a:ea typeface="Calibri"/>
                <a:cs typeface="Calibri"/>
                <a:sym typeface="Calibri"/>
              </a:rPr>
              <a:t>odels track remaining token budget to pace long tasks without silent degradation.</a:t>
            </a:r>
            <a:endParaRPr b="0" i="0" sz="9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DC9A8"/>
              </a:buClr>
              <a:buSzPts val="950"/>
              <a:buFont typeface="Calibri"/>
              <a:buNone/>
            </a:pPr>
            <a:r>
              <a:rPr b="1" i="0" lang="en-US" sz="950" u="none" cap="none" strike="noStrike">
                <a:solidFill>
                  <a:srgbClr val="1DC9A8"/>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Automatic context compaction</a:t>
            </a:r>
            <a:r>
              <a:rPr lang="en-US" sz="950">
                <a:solidFill>
                  <a:srgbClr val="888898"/>
                </a:solidFill>
                <a:latin typeface="Calibri"/>
                <a:ea typeface="Calibri"/>
                <a:cs typeface="Calibri"/>
                <a:sym typeface="Calibri"/>
              </a:rPr>
              <a:t>: S</a:t>
            </a:r>
            <a:r>
              <a:rPr b="0" i="0" lang="en-US" sz="950" u="none" cap="none" strike="noStrike">
                <a:solidFill>
                  <a:srgbClr val="888898"/>
                </a:solidFill>
                <a:latin typeface="Calibri"/>
                <a:ea typeface="Calibri"/>
                <a:cs typeface="Calibri"/>
                <a:sym typeface="Calibri"/>
              </a:rPr>
              <a:t>ummarizes earlier context to extend sessions indefinitely (Infinite Chats).</a:t>
            </a:r>
            <a:endParaRPr b="0" i="0" sz="950" u="none" cap="none" strike="noStrike">
              <a:solidFill>
                <a:schemeClr val="dk1"/>
              </a:solidFill>
              <a:latin typeface="Calibri"/>
              <a:ea typeface="Calibri"/>
              <a:cs typeface="Calibri"/>
              <a:sym typeface="Calibri"/>
            </a:endParaRPr>
          </a:p>
        </p:txBody>
      </p:sp>
      <p:sp>
        <p:nvSpPr>
          <p:cNvPr id="206" name="Google Shape;206;p7"/>
          <p:cNvSpPr/>
          <p:nvPr/>
        </p:nvSpPr>
        <p:spPr>
          <a:xfrm>
            <a:off x="365760" y="3566160"/>
            <a:ext cx="4224528" cy="150876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p:nvPr/>
        </p:nvSpPr>
        <p:spPr>
          <a:xfrm>
            <a:off x="365760" y="3566160"/>
            <a:ext cx="45720" cy="1508760"/>
          </a:xfrm>
          <a:prstGeom prst="rect">
            <a:avLst/>
          </a:prstGeom>
          <a:solidFill>
            <a:srgbClr val="4D8EEF"/>
          </a:solidFill>
          <a:ln cap="flat" cmpd="sng" w="12700">
            <a:solidFill>
              <a:srgbClr val="4D8E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p:nvPr/>
        </p:nvSpPr>
        <p:spPr>
          <a:xfrm>
            <a:off x="502920" y="3657600"/>
            <a:ext cx="3977640" cy="1645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D8EEF"/>
              </a:buClr>
              <a:buSzPts val="800"/>
              <a:buFont typeface="Calibri"/>
              <a:buNone/>
            </a:pPr>
            <a:r>
              <a:rPr b="1" i="0" lang="en-US" sz="800" u="none" cap="none" strike="noStrike">
                <a:solidFill>
                  <a:srgbClr val="4D8EEF"/>
                </a:solidFill>
                <a:latin typeface="Calibri"/>
                <a:ea typeface="Calibri"/>
                <a:cs typeface="Calibri"/>
                <a:sym typeface="Calibri"/>
              </a:rPr>
              <a:t>COMPUTER USE</a:t>
            </a:r>
            <a:endParaRPr b="0" i="0" sz="800" u="none" cap="none" strike="noStrike">
              <a:solidFill>
                <a:schemeClr val="dk1"/>
              </a:solidFill>
              <a:latin typeface="Calibri"/>
              <a:ea typeface="Calibri"/>
              <a:cs typeface="Calibri"/>
              <a:sym typeface="Calibri"/>
            </a:endParaRPr>
          </a:p>
        </p:txBody>
      </p:sp>
      <p:sp>
        <p:nvSpPr>
          <p:cNvPr id="209" name="Google Shape;209;p7"/>
          <p:cNvSpPr/>
          <p:nvPr/>
        </p:nvSpPr>
        <p:spPr>
          <a:xfrm>
            <a:off x="502920" y="3858768"/>
            <a:ext cx="397764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D8EEF"/>
              </a:buClr>
              <a:buSzPts val="950"/>
              <a:buFont typeface="Calibri"/>
              <a:buNone/>
            </a:pPr>
            <a:r>
              <a:rPr b="1" i="0" lang="en-US" sz="950" u="none" cap="none" strike="noStrike">
                <a:solidFill>
                  <a:srgbClr val="4D8EEF"/>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Interprets screen content and simulates keyboard/mouse input to navigate any desktop application.</a:t>
            </a:r>
            <a:endParaRPr b="0" i="0" sz="9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D8EEF"/>
              </a:buClr>
              <a:buSzPts val="950"/>
              <a:buFont typeface="Calibri"/>
              <a:buNone/>
            </a:pPr>
            <a:r>
              <a:rPr b="1" i="0" lang="en-US" sz="950" u="none" cap="none" strike="noStrike">
                <a:solidFill>
                  <a:srgbClr val="4D8EEF"/>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Grew from &lt;15% to 72.5% OSWorld performance across 2025–2026.</a:t>
            </a:r>
            <a:endParaRPr b="0" i="0" sz="9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D8EEF"/>
              </a:buClr>
              <a:buSzPts val="950"/>
              <a:buFont typeface="Calibri"/>
              <a:buNone/>
            </a:pPr>
            <a:r>
              <a:rPr b="1" i="0" lang="en-US" sz="950" u="none" cap="none" strike="noStrike">
                <a:solidFill>
                  <a:srgbClr val="4D8EEF"/>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Handles spreadsheets, web forms, file management, and multi-app workflows.</a:t>
            </a:r>
            <a:endParaRPr b="0" i="0" sz="950" u="none" cap="none" strike="noStrike">
              <a:solidFill>
                <a:schemeClr val="dk1"/>
              </a:solidFill>
              <a:latin typeface="Calibri"/>
              <a:ea typeface="Calibri"/>
              <a:cs typeface="Calibri"/>
              <a:sym typeface="Calibri"/>
            </a:endParaRPr>
          </a:p>
        </p:txBody>
      </p:sp>
      <p:sp>
        <p:nvSpPr>
          <p:cNvPr id="210" name="Google Shape;210;p7"/>
          <p:cNvSpPr/>
          <p:nvPr/>
        </p:nvSpPr>
        <p:spPr>
          <a:xfrm>
            <a:off x="4727448" y="3566160"/>
            <a:ext cx="4224528" cy="150876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p:nvPr/>
        </p:nvSpPr>
        <p:spPr>
          <a:xfrm>
            <a:off x="4727448" y="3566160"/>
            <a:ext cx="45720" cy="1508760"/>
          </a:xfrm>
          <a:prstGeom prst="rect">
            <a:avLst/>
          </a:prstGeom>
          <a:solidFill>
            <a:srgbClr val="A855F7"/>
          </a:solidFill>
          <a:ln cap="flat" cmpd="sng" w="12700">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a:off x="4864608" y="3657600"/>
            <a:ext cx="3977640" cy="1645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55F7"/>
              </a:buClr>
              <a:buSzPts val="800"/>
              <a:buFont typeface="Calibri"/>
              <a:buNone/>
            </a:pPr>
            <a:r>
              <a:rPr b="1" i="0" lang="en-US" sz="800" u="none" cap="none" strike="noStrike">
                <a:solidFill>
                  <a:srgbClr val="A855F7"/>
                </a:solidFill>
                <a:latin typeface="Calibri"/>
                <a:ea typeface="Calibri"/>
                <a:cs typeface="Calibri"/>
                <a:sym typeface="Calibri"/>
              </a:rPr>
              <a:t>VISION &amp; MULTIMODAL</a:t>
            </a:r>
            <a:endParaRPr b="0" i="0" sz="800" u="none" cap="none" strike="noStrike">
              <a:solidFill>
                <a:schemeClr val="dk1"/>
              </a:solidFill>
              <a:latin typeface="Calibri"/>
              <a:ea typeface="Calibri"/>
              <a:cs typeface="Calibri"/>
              <a:sym typeface="Calibri"/>
            </a:endParaRPr>
          </a:p>
        </p:txBody>
      </p:sp>
      <p:sp>
        <p:nvSpPr>
          <p:cNvPr id="213" name="Google Shape;213;p7"/>
          <p:cNvSpPr/>
          <p:nvPr/>
        </p:nvSpPr>
        <p:spPr>
          <a:xfrm>
            <a:off x="4864608" y="3858768"/>
            <a:ext cx="397764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55F7"/>
              </a:buClr>
              <a:buSzPts val="950"/>
              <a:buFont typeface="Calibri"/>
              <a:buNone/>
            </a:pPr>
            <a:r>
              <a:rPr b="1" i="0" lang="en-US" sz="950" u="none" cap="none" strike="noStrike">
                <a:solidFill>
                  <a:srgbClr val="A855F7"/>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Up to 600 images or PDF pages per request on 1M-token models (100 on 200K-token models)</a:t>
            </a:r>
            <a:r>
              <a:rPr lang="en-US" sz="950">
                <a:solidFill>
                  <a:srgbClr val="888898"/>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A855F7"/>
              </a:buClr>
              <a:buSzPts val="950"/>
              <a:buFont typeface="Calibri"/>
              <a:buNone/>
            </a:pPr>
            <a:r>
              <a:rPr b="1" i="0" lang="en-US" sz="950" u="none" cap="none" strike="noStrike">
                <a:solidFill>
                  <a:srgbClr val="A855F7"/>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Reads architecture diagrams, dashboards, runbooks, and screenshots natively</a:t>
            </a:r>
            <a:r>
              <a:rPr lang="en-US" sz="950">
                <a:solidFill>
                  <a:srgbClr val="888898"/>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A855F7"/>
              </a:buClr>
              <a:buSzPts val="950"/>
              <a:buFont typeface="Calibri"/>
              <a:buNone/>
            </a:pPr>
            <a:r>
              <a:rPr b="1" i="0" lang="en-US" sz="950" u="none" cap="none" strike="noStrike">
                <a:solidFill>
                  <a:srgbClr val="A855F7"/>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All models: text + image input, text output, multilingual, vision</a:t>
            </a:r>
            <a:r>
              <a:rPr lang="en-US" sz="950">
                <a:solidFill>
                  <a:srgbClr val="888898"/>
                </a:solidFill>
                <a:latin typeface="Calibri"/>
                <a:ea typeface="Calibri"/>
                <a:cs typeface="Calibri"/>
                <a:sym typeface="Calibri"/>
              </a:rPr>
              <a:t>.</a:t>
            </a:r>
            <a:r>
              <a:rPr b="0" i="0" lang="en-US" sz="950" u="none" cap="none" strike="noStrike">
                <a:solidFill>
                  <a:srgbClr val="888898"/>
                </a:solidFill>
                <a:latin typeface="Calibri"/>
                <a:ea typeface="Calibri"/>
                <a:cs typeface="Calibri"/>
                <a:sym typeface="Calibri"/>
              </a:rPr>
              <a:t> </a:t>
            </a:r>
            <a:r>
              <a:rPr lang="en-US" sz="950">
                <a:solidFill>
                  <a:srgbClr val="888898"/>
                </a:solidFill>
                <a:latin typeface="Calibri"/>
                <a:ea typeface="Calibri"/>
                <a:cs typeface="Calibri"/>
                <a:sym typeface="Calibri"/>
              </a:rPr>
              <a:t>N</a:t>
            </a:r>
            <a:r>
              <a:rPr b="0" i="0" lang="en-US" sz="950" u="none" cap="none" strike="noStrike">
                <a:solidFill>
                  <a:srgbClr val="888898"/>
                </a:solidFill>
                <a:latin typeface="Calibri"/>
                <a:ea typeface="Calibri"/>
                <a:cs typeface="Calibri"/>
                <a:sym typeface="Calibri"/>
              </a:rPr>
              <a:t>o capability tiers within a model</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90C"/>
        </a:solidFill>
      </p:bgPr>
    </p:bg>
    <p:spTree>
      <p:nvGrpSpPr>
        <p:cNvPr id="218" name="Shape 218"/>
        <p:cNvGrpSpPr/>
        <p:nvPr/>
      </p:nvGrpSpPr>
      <p:grpSpPr>
        <a:xfrm>
          <a:off x="0" y="0"/>
          <a:ext cx="0" cy="0"/>
          <a:chOff x="0" y="0"/>
          <a:chExt cx="0" cy="0"/>
        </a:xfrm>
      </p:grpSpPr>
      <p:sp>
        <p:nvSpPr>
          <p:cNvPr id="219" name="Google Shape;219;p8"/>
          <p:cNvSpPr/>
          <p:nvPr/>
        </p:nvSpPr>
        <p:spPr>
          <a:xfrm>
            <a:off x="365760" y="164592"/>
            <a:ext cx="84124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PRODUCT</a:t>
            </a:r>
            <a:endParaRPr b="0" i="0" sz="800" u="none" cap="none" strike="noStrike">
              <a:solidFill>
                <a:schemeClr val="dk1"/>
              </a:solidFill>
              <a:latin typeface="Calibri"/>
              <a:ea typeface="Calibri"/>
              <a:cs typeface="Calibri"/>
              <a:sym typeface="Calibri"/>
            </a:endParaRPr>
          </a:p>
        </p:txBody>
      </p:sp>
      <p:sp>
        <p:nvSpPr>
          <p:cNvPr id="220" name="Google Shape;220;p8"/>
          <p:cNvSpPr/>
          <p:nvPr/>
        </p:nvSpPr>
        <p:spPr>
          <a:xfrm>
            <a:off x="365760" y="347472"/>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2200"/>
              <a:buFont typeface="Calibri"/>
              <a:buNone/>
            </a:pPr>
            <a:r>
              <a:rPr b="1" i="0" lang="en-US" sz="2200" u="none" cap="none" strike="noStrike">
                <a:solidFill>
                  <a:srgbClr val="EEEEF2"/>
                </a:solidFill>
                <a:latin typeface="Calibri"/>
                <a:ea typeface="Calibri"/>
                <a:cs typeface="Calibri"/>
                <a:sym typeface="Calibri"/>
              </a:rPr>
              <a:t>Claude Code</a:t>
            </a:r>
            <a:endParaRPr b="0" i="0" sz="2200" u="none" cap="none" strike="noStrike">
              <a:solidFill>
                <a:schemeClr val="dk1"/>
              </a:solidFill>
              <a:latin typeface="Calibri"/>
              <a:ea typeface="Calibri"/>
              <a:cs typeface="Calibri"/>
              <a:sym typeface="Calibri"/>
            </a:endParaRPr>
          </a:p>
        </p:txBody>
      </p:sp>
      <p:sp>
        <p:nvSpPr>
          <p:cNvPr id="221" name="Google Shape;221;p8"/>
          <p:cNvSpPr/>
          <p:nvPr/>
        </p:nvSpPr>
        <p:spPr>
          <a:xfrm>
            <a:off x="365760" y="822960"/>
            <a:ext cx="8412480" cy="16459"/>
          </a:xfrm>
          <a:prstGeom prst="rect">
            <a:avLst/>
          </a:prstGeom>
          <a:solidFill>
            <a:srgbClr val="2A2A38"/>
          </a:solidFill>
          <a:ln cap="flat" cmpd="sng" w="12700">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365760" y="960120"/>
            <a:ext cx="4892040" cy="749808"/>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365760" y="960120"/>
            <a:ext cx="45720" cy="749808"/>
          </a:xfrm>
          <a:prstGeom prst="rect">
            <a:avLst/>
          </a:prstGeom>
          <a:solidFill>
            <a:srgbClr val="E8602A"/>
          </a:solidFill>
          <a:ln cap="flat" cmpd="sng" w="12700">
            <a:solidFill>
              <a:srgbClr val="E86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475488" y="1005840"/>
            <a:ext cx="4681728"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50"/>
              <a:buFont typeface="Calibri"/>
              <a:buNone/>
            </a:pPr>
            <a:r>
              <a:rPr b="0" i="0" lang="en-US" sz="950" u="none" cap="none" strike="noStrike">
                <a:solidFill>
                  <a:srgbClr val="888898"/>
                </a:solidFill>
                <a:latin typeface="Calibri"/>
                <a:ea typeface="Calibri"/>
                <a:cs typeface="Calibri"/>
                <a:sym typeface="Calibri"/>
              </a:rPr>
              <a:t>A command-line AI agent that reads/writes files, executes shell commands, runs tests, and commits to Git natively in the terminal. It was released in Preview Febru</a:t>
            </a:r>
            <a:r>
              <a:rPr lang="en-US" sz="950">
                <a:solidFill>
                  <a:srgbClr val="888898"/>
                </a:solidFill>
                <a:latin typeface="Calibri"/>
                <a:ea typeface="Calibri"/>
                <a:cs typeface="Calibri"/>
                <a:sym typeface="Calibri"/>
              </a:rPr>
              <a:t>ary 2025, then released to all paid users in May 2025.</a:t>
            </a:r>
            <a:r>
              <a:rPr b="0" i="0" lang="en-US" sz="950" u="none" cap="none" strike="noStrike">
                <a:solidFill>
                  <a:srgbClr val="888898"/>
                </a:solidFill>
                <a:latin typeface="Calibri"/>
                <a:ea typeface="Calibri"/>
                <a:cs typeface="Calibri"/>
                <a:sym typeface="Calibri"/>
              </a:rPr>
              <a:t> </a:t>
            </a:r>
            <a:endParaRPr b="0" i="0" sz="950" u="none" cap="none" strike="noStrike">
              <a:solidFill>
                <a:schemeClr val="dk1"/>
              </a:solidFill>
              <a:latin typeface="Calibri"/>
              <a:ea typeface="Calibri"/>
              <a:cs typeface="Calibri"/>
              <a:sym typeface="Calibri"/>
            </a:endParaRPr>
          </a:p>
        </p:txBody>
      </p:sp>
      <p:sp>
        <p:nvSpPr>
          <p:cNvPr id="225" name="Google Shape;225;p8"/>
          <p:cNvSpPr/>
          <p:nvPr/>
        </p:nvSpPr>
        <p:spPr>
          <a:xfrm>
            <a:off x="365760" y="1828800"/>
            <a:ext cx="2359152" cy="905256"/>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475488" y="1920240"/>
            <a:ext cx="214884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Subagents</a:t>
            </a:r>
            <a:endParaRPr b="0" i="0" sz="1100" u="none" cap="none" strike="noStrike">
              <a:solidFill>
                <a:schemeClr val="dk1"/>
              </a:solidFill>
              <a:latin typeface="Calibri"/>
              <a:ea typeface="Calibri"/>
              <a:cs typeface="Calibri"/>
              <a:sym typeface="Calibri"/>
            </a:endParaRPr>
          </a:p>
        </p:txBody>
      </p:sp>
      <p:sp>
        <p:nvSpPr>
          <p:cNvPr id="227" name="Google Shape;227;p8"/>
          <p:cNvSpPr/>
          <p:nvPr/>
        </p:nvSpPr>
        <p:spPr>
          <a:xfrm>
            <a:off x="475488" y="2139696"/>
            <a:ext cx="21488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Spawns specialized parallel sub-agents within a single session for concurrent multi-task orchestration.</a:t>
            </a:r>
            <a:endParaRPr b="0" i="0" sz="900" u="none" cap="none" strike="noStrike">
              <a:solidFill>
                <a:schemeClr val="dk1"/>
              </a:solidFill>
              <a:latin typeface="Calibri"/>
              <a:ea typeface="Calibri"/>
              <a:cs typeface="Calibri"/>
              <a:sym typeface="Calibri"/>
            </a:endParaRPr>
          </a:p>
        </p:txBody>
      </p:sp>
      <p:sp>
        <p:nvSpPr>
          <p:cNvPr id="228" name="Google Shape;228;p8"/>
          <p:cNvSpPr/>
          <p:nvPr/>
        </p:nvSpPr>
        <p:spPr>
          <a:xfrm>
            <a:off x="2862072" y="1828800"/>
            <a:ext cx="2359152" cy="905256"/>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2971800" y="1920240"/>
            <a:ext cx="214884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MCP Integration</a:t>
            </a:r>
            <a:endParaRPr b="0" i="0" sz="1100" u="none" cap="none" strike="noStrike">
              <a:solidFill>
                <a:schemeClr val="dk1"/>
              </a:solidFill>
              <a:latin typeface="Calibri"/>
              <a:ea typeface="Calibri"/>
              <a:cs typeface="Calibri"/>
              <a:sym typeface="Calibri"/>
            </a:endParaRPr>
          </a:p>
        </p:txBody>
      </p:sp>
      <p:sp>
        <p:nvSpPr>
          <p:cNvPr id="230" name="Google Shape;230;p8"/>
          <p:cNvSpPr/>
          <p:nvPr/>
        </p:nvSpPr>
        <p:spPr>
          <a:xfrm>
            <a:off x="2971800" y="2139696"/>
            <a:ext cx="21488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Connects to linters, test runners, CI/CD, Jira, GitHub, Docker, K8s, Datadog via the MCP ecosystem</a:t>
            </a:r>
            <a:endParaRPr b="0" i="0" sz="900" u="none" cap="none" strike="noStrike">
              <a:solidFill>
                <a:schemeClr val="dk1"/>
              </a:solidFill>
              <a:latin typeface="Calibri"/>
              <a:ea typeface="Calibri"/>
              <a:cs typeface="Calibri"/>
              <a:sym typeface="Calibri"/>
            </a:endParaRPr>
          </a:p>
        </p:txBody>
      </p:sp>
      <p:sp>
        <p:nvSpPr>
          <p:cNvPr id="231" name="Google Shape;231;p8"/>
          <p:cNvSpPr/>
          <p:nvPr/>
        </p:nvSpPr>
        <p:spPr>
          <a:xfrm>
            <a:off x="365760" y="2807208"/>
            <a:ext cx="2359152" cy="905256"/>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a:off x="475488" y="2898648"/>
            <a:ext cx="214884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Code Security</a:t>
            </a:r>
            <a:endParaRPr b="0" i="0" sz="1100" u="none" cap="none" strike="noStrike">
              <a:solidFill>
                <a:schemeClr val="dk1"/>
              </a:solidFill>
              <a:latin typeface="Calibri"/>
              <a:ea typeface="Calibri"/>
              <a:cs typeface="Calibri"/>
              <a:sym typeface="Calibri"/>
            </a:endParaRPr>
          </a:p>
        </p:txBody>
      </p:sp>
      <p:sp>
        <p:nvSpPr>
          <p:cNvPr id="233" name="Google Shape;233;p8"/>
          <p:cNvSpPr/>
          <p:nvPr/>
        </p:nvSpPr>
        <p:spPr>
          <a:xfrm>
            <a:off x="475488" y="3118104"/>
            <a:ext cx="21488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Reviews entire codebases to identify vulnerabilities. Claude Code Security launched Feb 2026.</a:t>
            </a:r>
            <a:endParaRPr b="0" i="0" sz="900" u="none" cap="none" strike="noStrike">
              <a:solidFill>
                <a:schemeClr val="dk1"/>
              </a:solidFill>
              <a:latin typeface="Calibri"/>
              <a:ea typeface="Calibri"/>
              <a:cs typeface="Calibri"/>
              <a:sym typeface="Calibri"/>
            </a:endParaRPr>
          </a:p>
        </p:txBody>
      </p:sp>
      <p:sp>
        <p:nvSpPr>
          <p:cNvPr id="234" name="Google Shape;234;p8"/>
          <p:cNvSpPr/>
          <p:nvPr/>
        </p:nvSpPr>
        <p:spPr>
          <a:xfrm>
            <a:off x="2862072" y="2807208"/>
            <a:ext cx="2359152" cy="905256"/>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2971800" y="2898648"/>
            <a:ext cx="214884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CI/CD Native</a:t>
            </a:r>
            <a:endParaRPr b="0" i="0" sz="1100" u="none" cap="none" strike="noStrike">
              <a:solidFill>
                <a:schemeClr val="dk1"/>
              </a:solidFill>
              <a:latin typeface="Calibri"/>
              <a:ea typeface="Calibri"/>
              <a:cs typeface="Calibri"/>
              <a:sym typeface="Calibri"/>
            </a:endParaRPr>
          </a:p>
        </p:txBody>
      </p:sp>
      <p:sp>
        <p:nvSpPr>
          <p:cNvPr id="236" name="Google Shape;236;p8"/>
          <p:cNvSpPr/>
          <p:nvPr/>
        </p:nvSpPr>
        <p:spPr>
          <a:xfrm>
            <a:off x="2971800" y="3118104"/>
            <a:ext cx="21488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TypeScript &amp; Python SDKs</a:t>
            </a:r>
            <a:r>
              <a:rPr lang="en-US" sz="900">
                <a:solidFill>
                  <a:srgbClr val="888898"/>
                </a:solidFill>
                <a:latin typeface="Calibri"/>
                <a:ea typeface="Calibri"/>
                <a:cs typeface="Calibri"/>
                <a:sym typeface="Calibri"/>
              </a:rPr>
              <a:t>. R</a:t>
            </a:r>
            <a:r>
              <a:rPr b="0" i="0" lang="en-US" sz="900" u="none" cap="none" strike="noStrike">
                <a:solidFill>
                  <a:srgbClr val="888898"/>
                </a:solidFill>
                <a:latin typeface="Calibri"/>
                <a:ea typeface="Calibri"/>
                <a:cs typeface="Calibri"/>
                <a:sym typeface="Calibri"/>
              </a:rPr>
              <a:t>uns inside GitHub Actions or any pipeline automation without a UI</a:t>
            </a:r>
            <a:endParaRPr b="0" i="0" sz="900" u="none" cap="none" strike="noStrike">
              <a:solidFill>
                <a:schemeClr val="dk1"/>
              </a:solidFill>
              <a:latin typeface="Calibri"/>
              <a:ea typeface="Calibri"/>
              <a:cs typeface="Calibri"/>
              <a:sym typeface="Calibri"/>
            </a:endParaRPr>
          </a:p>
        </p:txBody>
      </p:sp>
      <p:sp>
        <p:nvSpPr>
          <p:cNvPr id="237" name="Google Shape;237;p8"/>
          <p:cNvSpPr/>
          <p:nvPr/>
        </p:nvSpPr>
        <p:spPr>
          <a:xfrm>
            <a:off x="5413248" y="960120"/>
            <a:ext cx="3364992" cy="187452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5522976" y="1033272"/>
            <a:ext cx="3182112" cy="1554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PERFORMANCE METRICS</a:t>
            </a:r>
            <a:endParaRPr b="0" i="0" sz="800" u="none" cap="none" strike="noStrike">
              <a:solidFill>
                <a:schemeClr val="dk1"/>
              </a:solidFill>
              <a:latin typeface="Calibri"/>
              <a:ea typeface="Calibri"/>
              <a:cs typeface="Calibri"/>
              <a:sym typeface="Calibri"/>
            </a:endParaRPr>
          </a:p>
        </p:txBody>
      </p:sp>
      <p:sp>
        <p:nvSpPr>
          <p:cNvPr id="239" name="Google Shape;239;p8"/>
          <p:cNvSpPr/>
          <p:nvPr/>
        </p:nvSpPr>
        <p:spPr>
          <a:xfrm>
            <a:off x="5532120" y="1170432"/>
            <a:ext cx="3136392"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00"/>
              <a:buFont typeface="Calibri"/>
              <a:buNone/>
            </a:pPr>
            <a:r>
              <a:rPr b="0" i="0" lang="en-US" sz="800" u="none" cap="none" strike="noStrike">
                <a:solidFill>
                  <a:srgbClr val="888898"/>
                </a:solidFill>
                <a:latin typeface="Calibri"/>
                <a:ea typeface="Calibri"/>
                <a:cs typeface="Calibri"/>
                <a:sym typeface="Calibri"/>
              </a:rPr>
              <a:t>User preference: Sonnet 4.6 vs Opus 4.5 (prev frontier)</a:t>
            </a:r>
            <a:endParaRPr b="0" i="0" sz="800" u="none" cap="none" strike="noStrike">
              <a:solidFill>
                <a:schemeClr val="dk1"/>
              </a:solidFill>
              <a:latin typeface="Calibri"/>
              <a:ea typeface="Calibri"/>
              <a:cs typeface="Calibri"/>
              <a:sym typeface="Calibri"/>
            </a:endParaRPr>
          </a:p>
        </p:txBody>
      </p:sp>
      <p:sp>
        <p:nvSpPr>
          <p:cNvPr id="240" name="Google Shape;240;p8"/>
          <p:cNvSpPr/>
          <p:nvPr/>
        </p:nvSpPr>
        <p:spPr>
          <a:xfrm>
            <a:off x="5532120" y="1344168"/>
            <a:ext cx="1005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1900"/>
              <a:buFont typeface="Calibri"/>
              <a:buNone/>
            </a:pPr>
            <a:r>
              <a:rPr b="1" i="0" lang="en-US" sz="1900" u="none" cap="none" strike="noStrike">
                <a:solidFill>
                  <a:srgbClr val="E8602A"/>
                </a:solidFill>
                <a:latin typeface="Calibri"/>
                <a:ea typeface="Calibri"/>
                <a:cs typeface="Calibri"/>
                <a:sym typeface="Calibri"/>
              </a:rPr>
              <a:t>59%</a:t>
            </a:r>
            <a:endParaRPr b="0" i="0" sz="1900" u="none" cap="none" strike="noStrike">
              <a:solidFill>
                <a:schemeClr val="dk1"/>
              </a:solidFill>
              <a:latin typeface="Calibri"/>
              <a:ea typeface="Calibri"/>
              <a:cs typeface="Calibri"/>
              <a:sym typeface="Calibri"/>
            </a:endParaRPr>
          </a:p>
        </p:txBody>
      </p:sp>
      <p:sp>
        <p:nvSpPr>
          <p:cNvPr id="241" name="Google Shape;241;p8"/>
          <p:cNvSpPr/>
          <p:nvPr/>
        </p:nvSpPr>
        <p:spPr>
          <a:xfrm>
            <a:off x="6583680" y="1408176"/>
            <a:ext cx="214884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50"/>
              </a:buClr>
              <a:buSzPts val="800"/>
              <a:buFont typeface="Calibri"/>
              <a:buNone/>
            </a:pPr>
            <a:r>
              <a:rPr b="0" i="0" lang="en-US" sz="800" u="none" cap="none" strike="noStrike">
                <a:solidFill>
                  <a:srgbClr val="3A3A50"/>
                </a:solidFill>
                <a:latin typeface="Calibri"/>
                <a:ea typeface="Calibri"/>
                <a:cs typeface="Calibri"/>
                <a:sym typeface="Calibri"/>
              </a:rPr>
              <a:t>in Claude Code sessions</a:t>
            </a:r>
            <a:endParaRPr b="0" i="0" sz="800" u="none" cap="none" strike="noStrike">
              <a:solidFill>
                <a:schemeClr val="dk1"/>
              </a:solidFill>
              <a:latin typeface="Calibri"/>
              <a:ea typeface="Calibri"/>
              <a:cs typeface="Calibri"/>
              <a:sym typeface="Calibri"/>
            </a:endParaRPr>
          </a:p>
        </p:txBody>
      </p:sp>
      <p:sp>
        <p:nvSpPr>
          <p:cNvPr id="242" name="Google Shape;242;p8"/>
          <p:cNvSpPr/>
          <p:nvPr/>
        </p:nvSpPr>
        <p:spPr>
          <a:xfrm>
            <a:off x="5532120" y="1682496"/>
            <a:ext cx="3136392" cy="11887"/>
          </a:xfrm>
          <a:prstGeom prst="rect">
            <a:avLst/>
          </a:prstGeom>
          <a:solidFill>
            <a:srgbClr val="2A2A38"/>
          </a:solidFill>
          <a:ln cap="flat" cmpd="sng" w="12700">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
          <p:cNvSpPr/>
          <p:nvPr/>
        </p:nvSpPr>
        <p:spPr>
          <a:xfrm>
            <a:off x="5532120" y="1737360"/>
            <a:ext cx="3136392"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00"/>
              <a:buFont typeface="Calibri"/>
              <a:buNone/>
            </a:pPr>
            <a:r>
              <a:rPr b="0" i="0" lang="en-US" sz="800" u="none" cap="none" strike="noStrike">
                <a:solidFill>
                  <a:srgbClr val="888898"/>
                </a:solidFill>
                <a:latin typeface="Calibri"/>
                <a:ea typeface="Calibri"/>
                <a:cs typeface="Calibri"/>
                <a:sym typeface="Calibri"/>
              </a:rPr>
              <a:t>Token reduction on long-horizon coding tasks</a:t>
            </a:r>
            <a:endParaRPr b="0" i="0" sz="800" u="none" cap="none" strike="noStrike">
              <a:solidFill>
                <a:schemeClr val="dk1"/>
              </a:solidFill>
              <a:latin typeface="Calibri"/>
              <a:ea typeface="Calibri"/>
              <a:cs typeface="Calibri"/>
              <a:sym typeface="Calibri"/>
            </a:endParaRPr>
          </a:p>
        </p:txBody>
      </p:sp>
      <p:sp>
        <p:nvSpPr>
          <p:cNvPr id="244" name="Google Shape;244;p8"/>
          <p:cNvSpPr/>
          <p:nvPr/>
        </p:nvSpPr>
        <p:spPr>
          <a:xfrm>
            <a:off x="5532120" y="1911096"/>
            <a:ext cx="1005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1900"/>
              <a:buFont typeface="Calibri"/>
              <a:buNone/>
            </a:pPr>
            <a:r>
              <a:rPr b="1" i="0" lang="en-US" sz="1900" u="none" cap="none" strike="noStrike">
                <a:solidFill>
                  <a:srgbClr val="E8602A"/>
                </a:solidFill>
                <a:latin typeface="Calibri"/>
                <a:ea typeface="Calibri"/>
                <a:cs typeface="Calibri"/>
                <a:sym typeface="Calibri"/>
              </a:rPr>
              <a:t>65%</a:t>
            </a:r>
            <a:endParaRPr b="0" i="0" sz="1900" u="none" cap="none" strike="noStrike">
              <a:solidFill>
                <a:schemeClr val="dk1"/>
              </a:solidFill>
              <a:latin typeface="Calibri"/>
              <a:ea typeface="Calibri"/>
              <a:cs typeface="Calibri"/>
              <a:sym typeface="Calibri"/>
            </a:endParaRPr>
          </a:p>
        </p:txBody>
      </p:sp>
      <p:sp>
        <p:nvSpPr>
          <p:cNvPr id="245" name="Google Shape;245;p8"/>
          <p:cNvSpPr/>
          <p:nvPr/>
        </p:nvSpPr>
        <p:spPr>
          <a:xfrm>
            <a:off x="6583680" y="1975104"/>
            <a:ext cx="214884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50"/>
              </a:buClr>
              <a:buSzPts val="800"/>
              <a:buFont typeface="Calibri"/>
              <a:buNone/>
            </a:pPr>
            <a:r>
              <a:rPr b="0" i="0" lang="en-US" sz="800" u="none" cap="none" strike="noStrike">
                <a:solidFill>
                  <a:srgbClr val="3A3A50"/>
                </a:solidFill>
                <a:latin typeface="Calibri"/>
                <a:ea typeface="Calibri"/>
                <a:cs typeface="Calibri"/>
                <a:sym typeface="Calibri"/>
              </a:rPr>
              <a:t>Opus 4.5 vs Sonnet 4.5</a:t>
            </a:r>
            <a:endParaRPr b="0" i="0" sz="800" u="none" cap="none" strike="noStrike">
              <a:solidFill>
                <a:schemeClr val="dk1"/>
              </a:solidFill>
              <a:latin typeface="Calibri"/>
              <a:ea typeface="Calibri"/>
              <a:cs typeface="Calibri"/>
              <a:sym typeface="Calibri"/>
            </a:endParaRPr>
          </a:p>
        </p:txBody>
      </p:sp>
      <p:sp>
        <p:nvSpPr>
          <p:cNvPr id="246" name="Google Shape;246;p8"/>
          <p:cNvSpPr/>
          <p:nvPr/>
        </p:nvSpPr>
        <p:spPr>
          <a:xfrm>
            <a:off x="5532120" y="2249424"/>
            <a:ext cx="3136392" cy="11887"/>
          </a:xfrm>
          <a:prstGeom prst="rect">
            <a:avLst/>
          </a:prstGeom>
          <a:solidFill>
            <a:srgbClr val="2A2A38"/>
          </a:solidFill>
          <a:ln cap="flat" cmpd="sng" w="12700">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
          <p:cNvSpPr/>
          <p:nvPr/>
        </p:nvSpPr>
        <p:spPr>
          <a:xfrm>
            <a:off x="5532120" y="2304288"/>
            <a:ext cx="3136392"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00"/>
              <a:buFont typeface="Calibri"/>
              <a:buNone/>
            </a:pPr>
            <a:r>
              <a:rPr b="0" i="0" lang="en-US" sz="800" u="none" cap="none" strike="noStrike">
                <a:solidFill>
                  <a:srgbClr val="888898"/>
                </a:solidFill>
                <a:latin typeface="Calibri"/>
                <a:ea typeface="Calibri"/>
                <a:cs typeface="Calibri"/>
                <a:sym typeface="Calibri"/>
              </a:rPr>
              <a:t>SWE-bench improvement at max effort (Opus 4.5)</a:t>
            </a:r>
            <a:endParaRPr b="0" i="0" sz="800" u="none" cap="none" strike="noStrike">
              <a:solidFill>
                <a:schemeClr val="dk1"/>
              </a:solidFill>
              <a:latin typeface="Calibri"/>
              <a:ea typeface="Calibri"/>
              <a:cs typeface="Calibri"/>
              <a:sym typeface="Calibri"/>
            </a:endParaRPr>
          </a:p>
        </p:txBody>
      </p:sp>
      <p:sp>
        <p:nvSpPr>
          <p:cNvPr id="248" name="Google Shape;248;p8"/>
          <p:cNvSpPr/>
          <p:nvPr/>
        </p:nvSpPr>
        <p:spPr>
          <a:xfrm>
            <a:off x="5532120" y="2478024"/>
            <a:ext cx="1005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1900"/>
              <a:buFont typeface="Calibri"/>
              <a:buNone/>
            </a:pPr>
            <a:r>
              <a:rPr b="1" i="0" lang="en-US" sz="1900" u="none" cap="none" strike="noStrike">
                <a:solidFill>
                  <a:srgbClr val="E8602A"/>
                </a:solidFill>
                <a:latin typeface="Calibri"/>
                <a:ea typeface="Calibri"/>
                <a:cs typeface="Calibri"/>
                <a:sym typeface="Calibri"/>
              </a:rPr>
              <a:t>+4.3pp</a:t>
            </a:r>
            <a:endParaRPr b="0" i="0" sz="1900" u="none" cap="none" strike="noStrike">
              <a:solidFill>
                <a:schemeClr val="dk1"/>
              </a:solidFill>
              <a:latin typeface="Calibri"/>
              <a:ea typeface="Calibri"/>
              <a:cs typeface="Calibri"/>
              <a:sym typeface="Calibri"/>
            </a:endParaRPr>
          </a:p>
        </p:txBody>
      </p:sp>
      <p:sp>
        <p:nvSpPr>
          <p:cNvPr id="249" name="Google Shape;249;p8"/>
          <p:cNvSpPr/>
          <p:nvPr/>
        </p:nvSpPr>
        <p:spPr>
          <a:xfrm>
            <a:off x="6583680" y="2542032"/>
            <a:ext cx="214884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50"/>
              </a:buClr>
              <a:buSzPts val="800"/>
              <a:buFont typeface="Calibri"/>
              <a:buNone/>
            </a:pPr>
            <a:r>
              <a:rPr b="0" i="0" lang="en-US" sz="800" u="none" cap="none" strike="noStrike">
                <a:solidFill>
                  <a:srgbClr val="3A3A50"/>
                </a:solidFill>
                <a:latin typeface="Calibri"/>
                <a:ea typeface="Calibri"/>
                <a:cs typeface="Calibri"/>
                <a:sym typeface="Calibri"/>
              </a:rPr>
              <a:t>over Sonnet at same effort</a:t>
            </a:r>
            <a:endParaRPr b="0" i="0" sz="800" u="none" cap="none" strike="noStrike">
              <a:solidFill>
                <a:schemeClr val="dk1"/>
              </a:solidFill>
              <a:latin typeface="Calibri"/>
              <a:ea typeface="Calibri"/>
              <a:cs typeface="Calibri"/>
              <a:sym typeface="Calibri"/>
            </a:endParaRPr>
          </a:p>
        </p:txBody>
      </p:sp>
      <p:sp>
        <p:nvSpPr>
          <p:cNvPr id="250" name="Google Shape;250;p8"/>
          <p:cNvSpPr/>
          <p:nvPr/>
        </p:nvSpPr>
        <p:spPr>
          <a:xfrm>
            <a:off x="5413248" y="2907792"/>
            <a:ext cx="3364992" cy="1847088"/>
          </a:xfrm>
          <a:prstGeom prst="rect">
            <a:avLst/>
          </a:prstGeom>
          <a:solidFill>
            <a:srgbClr val="0D0D10"/>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5550408" y="2980944"/>
            <a:ext cx="3163824" cy="17007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DC9A8"/>
              </a:buClr>
              <a:buSzPts val="800"/>
              <a:buFont typeface="Courier New"/>
              <a:buNone/>
            </a:pPr>
            <a:r>
              <a:rPr b="0" i="0" lang="en-US" sz="800" u="none" cap="none" strike="noStrike">
                <a:solidFill>
                  <a:srgbClr val="1DC9A8"/>
                </a:solidFill>
                <a:latin typeface="Courier New"/>
                <a:ea typeface="Courier New"/>
                <a:cs typeface="Courier New"/>
                <a:sym typeface="Courier New"/>
              </a:rPr>
              <a:t># Install</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DC9A8"/>
              </a:buClr>
              <a:buSzPts val="800"/>
              <a:buFont typeface="Courier New"/>
              <a:buNone/>
            </a:pPr>
            <a:r>
              <a:rPr b="0" i="0" lang="en-US" sz="800" u="none" cap="none" strike="noStrike">
                <a:solidFill>
                  <a:srgbClr val="1DC9A8"/>
                </a:solidFill>
                <a:latin typeface="Courier New"/>
                <a:ea typeface="Courier New"/>
                <a:cs typeface="Courier New"/>
                <a:sym typeface="Courier New"/>
              </a:rPr>
              <a:t>npm install -g @anthropic-ai/claude-code</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DC9A8"/>
              </a:buClr>
              <a:buSzPts val="800"/>
              <a:buFont typeface="Courier New"/>
              <a:buNone/>
            </a:pPr>
            <a:r>
              <a:rPr b="0" i="0" lang="en-US" sz="800" u="none" cap="none" strike="noStrike">
                <a:solidFill>
                  <a:srgbClr val="1DC9A8"/>
                </a:solidFill>
                <a:latin typeface="Courier New"/>
                <a:ea typeface="Courier New"/>
                <a:cs typeface="Courier New"/>
                <a:sym typeface="Courier New"/>
              </a:rPr>
              <a:t># Run in your repo</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DC9A8"/>
              </a:buClr>
              <a:buSzPts val="800"/>
              <a:buFont typeface="Courier New"/>
              <a:buNone/>
            </a:pPr>
            <a:r>
              <a:rPr b="0" i="0" lang="en-US" sz="800" u="none" cap="none" strike="noStrike">
                <a:solidFill>
                  <a:srgbClr val="1DC9A8"/>
                </a:solidFill>
                <a:latin typeface="Courier New"/>
                <a:ea typeface="Courier New"/>
                <a:cs typeface="Courier New"/>
                <a:sym typeface="Courier New"/>
              </a:rPr>
              <a:t>claude</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DC9A8"/>
              </a:buClr>
              <a:buSzPts val="800"/>
              <a:buFont typeface="Courier New"/>
              <a:buNone/>
            </a:pPr>
            <a:r>
              <a:rPr b="0" i="0" lang="en-US" sz="800" u="none" cap="none" strike="noStrike">
                <a:solidFill>
                  <a:srgbClr val="1DC9A8"/>
                </a:solidFill>
                <a:latin typeface="Courier New"/>
                <a:ea typeface="Courier New"/>
                <a:cs typeface="Courier New"/>
                <a:sym typeface="Courier New"/>
              </a:rPr>
              <a:t># Non-interactive / CI pipeline</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DC9A8"/>
              </a:buClr>
              <a:buSzPts val="800"/>
              <a:buFont typeface="Courier New"/>
              <a:buNone/>
            </a:pPr>
            <a:r>
              <a:rPr b="0" i="0" lang="en-US" sz="800" u="none" cap="none" strike="noStrike">
                <a:solidFill>
                  <a:srgbClr val="1DC9A8"/>
                </a:solidFill>
                <a:latin typeface="Courier New"/>
                <a:ea typeface="Courier New"/>
                <a:cs typeface="Courier New"/>
                <a:sym typeface="Courier New"/>
              </a:rPr>
              <a:t>claude --print "Fix failing tests"</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DC9A8"/>
              </a:buClr>
              <a:buSzPts val="800"/>
              <a:buFont typeface="Courier New"/>
              <a:buNone/>
            </a:pPr>
            <a:r>
              <a:rPr b="0" i="0" lang="en-US" sz="800" u="none" cap="none" strike="noStrike">
                <a:solidFill>
                  <a:srgbClr val="1DC9A8"/>
                </a:solidFill>
                <a:latin typeface="Courier New"/>
                <a:ea typeface="Courier New"/>
                <a:cs typeface="Courier New"/>
                <a:sym typeface="Courier New"/>
              </a:rPr>
              <a:t># Add MCP server</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DC9A8"/>
              </a:buClr>
              <a:buSzPts val="800"/>
              <a:buFont typeface="Courier New"/>
              <a:buNone/>
            </a:pPr>
            <a:r>
              <a:rPr b="0" i="0" lang="en-US" sz="800" u="none" cap="none" strike="noStrike">
                <a:solidFill>
                  <a:srgbClr val="1DC9A8"/>
                </a:solidFill>
                <a:latin typeface="Courier New"/>
                <a:ea typeface="Courier New"/>
                <a:cs typeface="Courier New"/>
                <a:sym typeface="Courier New"/>
              </a:rPr>
              <a:t>claude mcp add --transport http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DC9A8"/>
              </a:buClr>
              <a:buSzPts val="800"/>
              <a:buFont typeface="Courier New"/>
              <a:buNone/>
            </a:pPr>
            <a:r>
              <a:rPr b="0" i="0" lang="en-US" sz="800" u="none" cap="none" strike="noStrike">
                <a:solidFill>
                  <a:srgbClr val="1DC9A8"/>
                </a:solidFill>
                <a:latin typeface="Courier New"/>
                <a:ea typeface="Courier New"/>
                <a:cs typeface="Courier New"/>
                <a:sym typeface="Courier New"/>
              </a:rPr>
              <a:t>  datadog https://mcp.datadoghq.com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90C"/>
        </a:solidFill>
      </p:bgPr>
    </p:bg>
    <p:spTree>
      <p:nvGrpSpPr>
        <p:cNvPr id="256" name="Shape 256"/>
        <p:cNvGrpSpPr/>
        <p:nvPr/>
      </p:nvGrpSpPr>
      <p:grpSpPr>
        <a:xfrm>
          <a:off x="0" y="0"/>
          <a:ext cx="0" cy="0"/>
          <a:chOff x="0" y="0"/>
          <a:chExt cx="0" cy="0"/>
        </a:xfrm>
      </p:grpSpPr>
      <p:sp>
        <p:nvSpPr>
          <p:cNvPr id="257" name="Google Shape;257;p9"/>
          <p:cNvSpPr/>
          <p:nvPr/>
        </p:nvSpPr>
        <p:spPr>
          <a:xfrm>
            <a:off x="365760" y="164592"/>
            <a:ext cx="84124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PRODUCT</a:t>
            </a:r>
            <a:endParaRPr b="0" i="0" sz="800" u="none" cap="none" strike="noStrike">
              <a:solidFill>
                <a:schemeClr val="dk1"/>
              </a:solidFill>
              <a:latin typeface="Calibri"/>
              <a:ea typeface="Calibri"/>
              <a:cs typeface="Calibri"/>
              <a:sym typeface="Calibri"/>
            </a:endParaRPr>
          </a:p>
        </p:txBody>
      </p:sp>
      <p:sp>
        <p:nvSpPr>
          <p:cNvPr id="258" name="Google Shape;258;p9"/>
          <p:cNvSpPr/>
          <p:nvPr/>
        </p:nvSpPr>
        <p:spPr>
          <a:xfrm>
            <a:off x="365760" y="347472"/>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2200"/>
              <a:buFont typeface="Calibri"/>
              <a:buNone/>
            </a:pPr>
            <a:r>
              <a:rPr b="1" i="0" lang="en-US" sz="2200" u="none" cap="none" strike="noStrike">
                <a:solidFill>
                  <a:srgbClr val="EEEEF2"/>
                </a:solidFill>
                <a:latin typeface="Calibri"/>
                <a:ea typeface="Calibri"/>
                <a:cs typeface="Calibri"/>
                <a:sym typeface="Calibri"/>
              </a:rPr>
              <a:t>Claude Cowork</a:t>
            </a:r>
            <a:endParaRPr b="0" i="0" sz="2200" u="none" cap="none" strike="noStrike">
              <a:solidFill>
                <a:schemeClr val="dk1"/>
              </a:solidFill>
              <a:latin typeface="Calibri"/>
              <a:ea typeface="Calibri"/>
              <a:cs typeface="Calibri"/>
              <a:sym typeface="Calibri"/>
            </a:endParaRPr>
          </a:p>
        </p:txBody>
      </p:sp>
      <p:sp>
        <p:nvSpPr>
          <p:cNvPr id="259" name="Google Shape;259;p9"/>
          <p:cNvSpPr/>
          <p:nvPr/>
        </p:nvSpPr>
        <p:spPr>
          <a:xfrm>
            <a:off x="365760" y="822960"/>
            <a:ext cx="8412480" cy="16459"/>
          </a:xfrm>
          <a:prstGeom prst="rect">
            <a:avLst/>
          </a:prstGeom>
          <a:solidFill>
            <a:srgbClr val="2A2A38"/>
          </a:solidFill>
          <a:ln cap="flat" cmpd="sng" w="12700">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
          <p:cNvSpPr/>
          <p:nvPr/>
        </p:nvSpPr>
        <p:spPr>
          <a:xfrm>
            <a:off x="365760" y="960120"/>
            <a:ext cx="4892040" cy="749808"/>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a:off x="365760" y="960120"/>
            <a:ext cx="45720" cy="749808"/>
          </a:xfrm>
          <a:prstGeom prst="rect">
            <a:avLst/>
          </a:prstGeom>
          <a:solidFill>
            <a:srgbClr val="1DC9A8"/>
          </a:solidFill>
          <a:ln cap="flat" cmpd="sng" w="12700">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p:nvPr/>
        </p:nvSpPr>
        <p:spPr>
          <a:xfrm>
            <a:off x="475488" y="1005840"/>
            <a:ext cx="4681728"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50"/>
              <a:buFont typeface="Calibri"/>
              <a:buNone/>
            </a:pPr>
            <a:r>
              <a:rPr b="0" i="0" lang="en-US" sz="950" u="none" cap="none" strike="noStrike">
                <a:solidFill>
                  <a:srgbClr val="888898"/>
                </a:solidFill>
                <a:latin typeface="Calibri"/>
                <a:ea typeface="Calibri"/>
                <a:cs typeface="Calibri"/>
                <a:sym typeface="Calibri"/>
              </a:rPr>
              <a:t>GUI equivalent of Claude Code</a:t>
            </a:r>
            <a:r>
              <a:rPr lang="en-US" sz="950">
                <a:solidFill>
                  <a:srgbClr val="888898"/>
                </a:solidFill>
                <a:latin typeface="Calibri"/>
                <a:ea typeface="Calibri"/>
                <a:cs typeface="Calibri"/>
                <a:sym typeface="Calibri"/>
              </a:rPr>
              <a:t>. S</a:t>
            </a:r>
            <a:r>
              <a:rPr b="0" i="0" lang="en-US" sz="950" u="none" cap="none" strike="noStrike">
                <a:solidFill>
                  <a:srgbClr val="888898"/>
                </a:solidFill>
                <a:latin typeface="Calibri"/>
                <a:ea typeface="Calibri"/>
                <a:cs typeface="Calibri"/>
                <a:sym typeface="Calibri"/>
              </a:rPr>
              <a:t>ame agentic architecture, built for knowledge workers without requiring terminal access. Research preview Jan 2026, enterprise GA Feb 2026</a:t>
            </a:r>
            <a:r>
              <a:rPr lang="en-US" sz="950">
                <a:solidFill>
                  <a:srgbClr val="888898"/>
                </a:solidFill>
                <a:latin typeface="Calibri"/>
                <a:ea typeface="Calibri"/>
                <a:cs typeface="Calibri"/>
                <a:sym typeface="Calibri"/>
              </a:rPr>
              <a:t> on </a:t>
            </a:r>
            <a:r>
              <a:rPr b="0" i="0" lang="en-US" sz="950" u="none" cap="none" strike="noStrike">
                <a:solidFill>
                  <a:srgbClr val="888898"/>
                </a:solidFill>
                <a:latin typeface="Calibri"/>
                <a:ea typeface="Calibri"/>
                <a:cs typeface="Calibri"/>
                <a:sym typeface="Calibri"/>
              </a:rPr>
              <a:t>Mac, Windows &amp; web. Available on all paid plans. </a:t>
            </a:r>
            <a:r>
              <a:rPr lang="en-US" sz="950">
                <a:solidFill>
                  <a:srgbClr val="888898"/>
                </a:solidFill>
                <a:latin typeface="Calibri"/>
                <a:ea typeface="Calibri"/>
                <a:cs typeface="Calibri"/>
                <a:sym typeface="Calibri"/>
              </a:rPr>
              <a:t>B</a:t>
            </a:r>
            <a:r>
              <a:rPr b="0" i="0" lang="en-US" sz="950" u="none" cap="none" strike="noStrike">
                <a:solidFill>
                  <a:srgbClr val="888898"/>
                </a:solidFill>
                <a:latin typeface="Calibri"/>
                <a:ea typeface="Calibri"/>
                <a:cs typeface="Calibri"/>
                <a:sym typeface="Calibri"/>
              </a:rPr>
              <a:t>uilt by Claude Code itself in two weeks.</a:t>
            </a:r>
            <a:endParaRPr b="0" i="0" sz="950" u="none" cap="none" strike="noStrike">
              <a:solidFill>
                <a:schemeClr val="dk1"/>
              </a:solidFill>
              <a:latin typeface="Calibri"/>
              <a:ea typeface="Calibri"/>
              <a:cs typeface="Calibri"/>
              <a:sym typeface="Calibri"/>
            </a:endParaRPr>
          </a:p>
        </p:txBody>
      </p:sp>
      <p:sp>
        <p:nvSpPr>
          <p:cNvPr id="263" name="Google Shape;263;p9"/>
          <p:cNvSpPr/>
          <p:nvPr/>
        </p:nvSpPr>
        <p:spPr>
          <a:xfrm>
            <a:off x="365760" y="1828800"/>
            <a:ext cx="2359152" cy="905256"/>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475488" y="1920240"/>
            <a:ext cx="214884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File System Access</a:t>
            </a:r>
            <a:endParaRPr b="0" i="0" sz="1100" u="none" cap="none" strike="noStrike">
              <a:solidFill>
                <a:schemeClr val="dk1"/>
              </a:solidFill>
              <a:latin typeface="Calibri"/>
              <a:ea typeface="Calibri"/>
              <a:cs typeface="Calibri"/>
              <a:sym typeface="Calibri"/>
            </a:endParaRPr>
          </a:p>
        </p:txBody>
      </p:sp>
      <p:sp>
        <p:nvSpPr>
          <p:cNvPr id="265" name="Google Shape;265;p9"/>
          <p:cNvSpPr/>
          <p:nvPr/>
        </p:nvSpPr>
        <p:spPr>
          <a:xfrm>
            <a:off x="475488" y="2139696"/>
            <a:ext cx="21488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Read, write, and edit files in user-specified folders. Completes full multi-step tasks from start to finish</a:t>
            </a:r>
            <a:r>
              <a:rPr lang="en-US" sz="900">
                <a:solidFill>
                  <a:srgbClr val="888898"/>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266" name="Google Shape;266;p9"/>
          <p:cNvSpPr/>
          <p:nvPr/>
        </p:nvSpPr>
        <p:spPr>
          <a:xfrm>
            <a:off x="2862072" y="1828800"/>
            <a:ext cx="2359152" cy="905256"/>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p:nvPr/>
        </p:nvSpPr>
        <p:spPr>
          <a:xfrm>
            <a:off x="2971800" y="1920240"/>
            <a:ext cx="214884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Scheduled Tasks</a:t>
            </a:r>
            <a:endParaRPr b="0" i="0" sz="1100" u="none" cap="none" strike="noStrike">
              <a:solidFill>
                <a:schemeClr val="dk1"/>
              </a:solidFill>
              <a:latin typeface="Calibri"/>
              <a:ea typeface="Calibri"/>
              <a:cs typeface="Calibri"/>
              <a:sym typeface="Calibri"/>
            </a:endParaRPr>
          </a:p>
        </p:txBody>
      </p:sp>
      <p:sp>
        <p:nvSpPr>
          <p:cNvPr id="268" name="Google Shape;268;p9"/>
          <p:cNvSpPr/>
          <p:nvPr/>
        </p:nvSpPr>
        <p:spPr>
          <a:xfrm>
            <a:off x="2971800" y="2139696"/>
            <a:ext cx="21488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Define recurring tasks once</a:t>
            </a:r>
            <a:r>
              <a:rPr lang="en-US" sz="900">
                <a:solidFill>
                  <a:srgbClr val="888898"/>
                </a:solidFill>
                <a:latin typeface="Calibri"/>
                <a:ea typeface="Calibri"/>
                <a:cs typeface="Calibri"/>
                <a:sym typeface="Calibri"/>
              </a:rPr>
              <a:t>. Ex: P</a:t>
            </a:r>
            <a:r>
              <a:rPr b="0" i="0" lang="en-US" sz="900" u="none" cap="none" strike="noStrike">
                <a:solidFill>
                  <a:srgbClr val="888898"/>
                </a:solidFill>
                <a:latin typeface="Calibri"/>
                <a:ea typeface="Calibri"/>
                <a:cs typeface="Calibri"/>
                <a:sym typeface="Calibri"/>
              </a:rPr>
              <a:t>ull metrics every Friday, run weekly Slack digest, and scan email each morning. Claude handles it from there.</a:t>
            </a:r>
            <a:endParaRPr b="0" i="0" sz="900" u="none" cap="none" strike="noStrike">
              <a:solidFill>
                <a:schemeClr val="dk1"/>
              </a:solidFill>
              <a:latin typeface="Calibri"/>
              <a:ea typeface="Calibri"/>
              <a:cs typeface="Calibri"/>
              <a:sym typeface="Calibri"/>
            </a:endParaRPr>
          </a:p>
        </p:txBody>
      </p:sp>
      <p:sp>
        <p:nvSpPr>
          <p:cNvPr id="269" name="Google Shape;269;p9"/>
          <p:cNvSpPr/>
          <p:nvPr/>
        </p:nvSpPr>
        <p:spPr>
          <a:xfrm>
            <a:off x="365760" y="2807208"/>
            <a:ext cx="2359152" cy="905256"/>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9"/>
          <p:cNvSpPr/>
          <p:nvPr/>
        </p:nvSpPr>
        <p:spPr>
          <a:xfrm>
            <a:off x="475488" y="2898648"/>
            <a:ext cx="214884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Browser Integration</a:t>
            </a:r>
            <a:endParaRPr b="0" i="0" sz="1100" u="none" cap="none" strike="noStrike">
              <a:solidFill>
                <a:schemeClr val="dk1"/>
              </a:solidFill>
              <a:latin typeface="Calibri"/>
              <a:ea typeface="Calibri"/>
              <a:cs typeface="Calibri"/>
              <a:sym typeface="Calibri"/>
            </a:endParaRPr>
          </a:p>
        </p:txBody>
      </p:sp>
      <p:sp>
        <p:nvSpPr>
          <p:cNvPr id="271" name="Google Shape;271;p9"/>
          <p:cNvSpPr/>
          <p:nvPr/>
        </p:nvSpPr>
        <p:spPr>
          <a:xfrm>
            <a:off x="475488" y="3118104"/>
            <a:ext cx="21488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Claude for Chrome connector lets it complete tasks across all open browser tabs without window switching.</a:t>
            </a:r>
            <a:endParaRPr b="0" i="0" sz="900" u="none" cap="none" strike="noStrike">
              <a:solidFill>
                <a:schemeClr val="dk1"/>
              </a:solidFill>
              <a:latin typeface="Calibri"/>
              <a:ea typeface="Calibri"/>
              <a:cs typeface="Calibri"/>
              <a:sym typeface="Calibri"/>
            </a:endParaRPr>
          </a:p>
        </p:txBody>
      </p:sp>
      <p:sp>
        <p:nvSpPr>
          <p:cNvPr id="272" name="Google Shape;272;p9"/>
          <p:cNvSpPr/>
          <p:nvPr/>
        </p:nvSpPr>
        <p:spPr>
          <a:xfrm>
            <a:off x="2862072" y="2807208"/>
            <a:ext cx="2359152" cy="905256"/>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9"/>
          <p:cNvSpPr/>
          <p:nvPr/>
        </p:nvSpPr>
        <p:spPr>
          <a:xfrm>
            <a:off x="2971800" y="2898648"/>
            <a:ext cx="214884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Enterprise Controls</a:t>
            </a:r>
            <a:endParaRPr b="0" i="0" sz="1100" u="none" cap="none" strike="noStrike">
              <a:solidFill>
                <a:schemeClr val="dk1"/>
              </a:solidFill>
              <a:latin typeface="Calibri"/>
              <a:ea typeface="Calibri"/>
              <a:cs typeface="Calibri"/>
              <a:sym typeface="Calibri"/>
            </a:endParaRPr>
          </a:p>
        </p:txBody>
      </p:sp>
      <p:sp>
        <p:nvSpPr>
          <p:cNvPr id="274" name="Google Shape;274;p9"/>
          <p:cNvSpPr/>
          <p:nvPr/>
        </p:nvSpPr>
        <p:spPr>
          <a:xfrm>
            <a:off x="2971800" y="3118104"/>
            <a:ext cx="21488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Role-based access via SCIM, group spend limits per team, OpenTelemetry observability, usage analytics dashboard.</a:t>
            </a:r>
            <a:endParaRPr b="0" i="0" sz="900" u="none" cap="none" strike="noStrike">
              <a:solidFill>
                <a:schemeClr val="dk1"/>
              </a:solidFill>
              <a:latin typeface="Calibri"/>
              <a:ea typeface="Calibri"/>
              <a:cs typeface="Calibri"/>
              <a:sym typeface="Calibri"/>
            </a:endParaRPr>
          </a:p>
        </p:txBody>
      </p:sp>
      <p:sp>
        <p:nvSpPr>
          <p:cNvPr id="275" name="Google Shape;275;p9"/>
          <p:cNvSpPr/>
          <p:nvPr/>
        </p:nvSpPr>
        <p:spPr>
          <a:xfrm>
            <a:off x="5413248" y="960120"/>
            <a:ext cx="3364992" cy="233172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9"/>
          <p:cNvSpPr/>
          <p:nvPr/>
        </p:nvSpPr>
        <p:spPr>
          <a:xfrm>
            <a:off x="5522976" y="1033272"/>
            <a:ext cx="3182112" cy="1554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DC9A8"/>
              </a:buClr>
              <a:buSzPts val="800"/>
              <a:buFont typeface="Calibri"/>
              <a:buNone/>
            </a:pPr>
            <a:r>
              <a:rPr b="1" i="0" lang="en-US" sz="800" u="none" cap="none" strike="noStrike">
                <a:solidFill>
                  <a:srgbClr val="1DC9A8"/>
                </a:solidFill>
                <a:latin typeface="Calibri"/>
                <a:ea typeface="Calibri"/>
                <a:cs typeface="Calibri"/>
                <a:sym typeface="Calibri"/>
              </a:rPr>
              <a:t>ENTERPRISE CONNECTORS (SAMPLE)</a:t>
            </a:r>
            <a:endParaRPr b="0" i="0" sz="800" u="none" cap="none" strike="noStrike">
              <a:solidFill>
                <a:schemeClr val="dk1"/>
              </a:solidFill>
              <a:latin typeface="Calibri"/>
              <a:ea typeface="Calibri"/>
              <a:cs typeface="Calibri"/>
              <a:sym typeface="Calibri"/>
            </a:endParaRPr>
          </a:p>
        </p:txBody>
      </p:sp>
      <p:sp>
        <p:nvSpPr>
          <p:cNvPr id="277" name="Google Shape;277;p9"/>
          <p:cNvSpPr/>
          <p:nvPr/>
        </p:nvSpPr>
        <p:spPr>
          <a:xfrm>
            <a:off x="5532120" y="1188720"/>
            <a:ext cx="3154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  Google Drive</a:t>
            </a:r>
            <a:endParaRPr b="0" i="0" sz="900" u="none" cap="none" strike="noStrike">
              <a:solidFill>
                <a:schemeClr val="dk1"/>
              </a:solidFill>
              <a:latin typeface="Calibri"/>
              <a:ea typeface="Calibri"/>
              <a:cs typeface="Calibri"/>
              <a:sym typeface="Calibri"/>
            </a:endParaRPr>
          </a:p>
        </p:txBody>
      </p:sp>
      <p:sp>
        <p:nvSpPr>
          <p:cNvPr id="278" name="Google Shape;278;p9"/>
          <p:cNvSpPr/>
          <p:nvPr/>
        </p:nvSpPr>
        <p:spPr>
          <a:xfrm>
            <a:off x="5532120" y="1389888"/>
            <a:ext cx="3154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  Gmail</a:t>
            </a:r>
            <a:endParaRPr b="0" i="0" sz="900" u="none" cap="none" strike="noStrike">
              <a:solidFill>
                <a:schemeClr val="dk1"/>
              </a:solidFill>
              <a:latin typeface="Calibri"/>
              <a:ea typeface="Calibri"/>
              <a:cs typeface="Calibri"/>
              <a:sym typeface="Calibri"/>
            </a:endParaRPr>
          </a:p>
        </p:txBody>
      </p:sp>
      <p:sp>
        <p:nvSpPr>
          <p:cNvPr id="279" name="Google Shape;279;p9"/>
          <p:cNvSpPr/>
          <p:nvPr/>
        </p:nvSpPr>
        <p:spPr>
          <a:xfrm>
            <a:off x="5532120" y="1591056"/>
            <a:ext cx="3154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  DocuSign</a:t>
            </a:r>
            <a:endParaRPr b="0" i="0" sz="900" u="none" cap="none" strike="noStrike">
              <a:solidFill>
                <a:schemeClr val="dk1"/>
              </a:solidFill>
              <a:latin typeface="Calibri"/>
              <a:ea typeface="Calibri"/>
              <a:cs typeface="Calibri"/>
              <a:sym typeface="Calibri"/>
            </a:endParaRPr>
          </a:p>
        </p:txBody>
      </p:sp>
      <p:sp>
        <p:nvSpPr>
          <p:cNvPr id="280" name="Google Shape;280;p9"/>
          <p:cNvSpPr/>
          <p:nvPr/>
        </p:nvSpPr>
        <p:spPr>
          <a:xfrm>
            <a:off x="5532120" y="1792224"/>
            <a:ext cx="3154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  FactSet</a:t>
            </a:r>
            <a:endParaRPr b="0" i="0" sz="900" u="none" cap="none" strike="noStrike">
              <a:solidFill>
                <a:schemeClr val="dk1"/>
              </a:solidFill>
              <a:latin typeface="Calibri"/>
              <a:ea typeface="Calibri"/>
              <a:cs typeface="Calibri"/>
              <a:sym typeface="Calibri"/>
            </a:endParaRPr>
          </a:p>
        </p:txBody>
      </p:sp>
      <p:sp>
        <p:nvSpPr>
          <p:cNvPr id="281" name="Google Shape;281;p9"/>
          <p:cNvSpPr/>
          <p:nvPr/>
        </p:nvSpPr>
        <p:spPr>
          <a:xfrm>
            <a:off x="5532120" y="1993392"/>
            <a:ext cx="3154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  AWS Marketplace</a:t>
            </a:r>
            <a:endParaRPr b="0" i="0" sz="900" u="none" cap="none" strike="noStrike">
              <a:solidFill>
                <a:schemeClr val="dk1"/>
              </a:solidFill>
              <a:latin typeface="Calibri"/>
              <a:ea typeface="Calibri"/>
              <a:cs typeface="Calibri"/>
              <a:sym typeface="Calibri"/>
            </a:endParaRPr>
          </a:p>
        </p:txBody>
      </p:sp>
      <p:sp>
        <p:nvSpPr>
          <p:cNvPr id="282" name="Google Shape;282;p9"/>
          <p:cNvSpPr/>
          <p:nvPr/>
        </p:nvSpPr>
        <p:spPr>
          <a:xfrm>
            <a:off x="5532120" y="2194560"/>
            <a:ext cx="3154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  Honeycomb (observability)</a:t>
            </a:r>
            <a:endParaRPr b="0" i="0" sz="900" u="none" cap="none" strike="noStrike">
              <a:solidFill>
                <a:schemeClr val="dk1"/>
              </a:solidFill>
              <a:latin typeface="Calibri"/>
              <a:ea typeface="Calibri"/>
              <a:cs typeface="Calibri"/>
              <a:sym typeface="Calibri"/>
            </a:endParaRPr>
          </a:p>
        </p:txBody>
      </p:sp>
      <p:sp>
        <p:nvSpPr>
          <p:cNvPr id="283" name="Google Shape;283;p9"/>
          <p:cNvSpPr/>
          <p:nvPr/>
        </p:nvSpPr>
        <p:spPr>
          <a:xfrm>
            <a:off x="5532120" y="2395728"/>
            <a:ext cx="3154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  n8n — workflow automation</a:t>
            </a:r>
            <a:endParaRPr b="0" i="0" sz="900" u="none" cap="none" strike="noStrike">
              <a:solidFill>
                <a:schemeClr val="dk1"/>
              </a:solidFill>
              <a:latin typeface="Calibri"/>
              <a:ea typeface="Calibri"/>
              <a:cs typeface="Calibri"/>
              <a:sym typeface="Calibri"/>
            </a:endParaRPr>
          </a:p>
        </p:txBody>
      </p:sp>
      <p:sp>
        <p:nvSpPr>
          <p:cNvPr id="284" name="Google Shape;284;p9"/>
          <p:cNvSpPr/>
          <p:nvPr/>
        </p:nvSpPr>
        <p:spPr>
          <a:xfrm>
            <a:off x="5532120" y="2596896"/>
            <a:ext cx="3154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  Fellow.ai — meeting insights</a:t>
            </a:r>
            <a:endParaRPr b="0" i="0" sz="900" u="none" cap="none" strike="noStrike">
              <a:solidFill>
                <a:schemeClr val="dk1"/>
              </a:solidFill>
              <a:latin typeface="Calibri"/>
              <a:ea typeface="Calibri"/>
              <a:cs typeface="Calibri"/>
              <a:sym typeface="Calibri"/>
            </a:endParaRPr>
          </a:p>
        </p:txBody>
      </p:sp>
      <p:sp>
        <p:nvSpPr>
          <p:cNvPr id="285" name="Google Shape;285;p9"/>
          <p:cNvSpPr/>
          <p:nvPr/>
        </p:nvSpPr>
        <p:spPr>
          <a:xfrm>
            <a:off x="5532120" y="2798064"/>
            <a:ext cx="3154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  Zoom</a:t>
            </a:r>
            <a:endParaRPr b="0" i="0" sz="900" u="none" cap="none" strike="noStrike">
              <a:solidFill>
                <a:schemeClr val="dk1"/>
              </a:solidFill>
              <a:latin typeface="Calibri"/>
              <a:ea typeface="Calibri"/>
              <a:cs typeface="Calibri"/>
              <a:sym typeface="Calibri"/>
            </a:endParaRPr>
          </a:p>
        </p:txBody>
      </p:sp>
      <p:sp>
        <p:nvSpPr>
          <p:cNvPr id="286" name="Google Shape;286;p9"/>
          <p:cNvSpPr/>
          <p:nvPr/>
        </p:nvSpPr>
        <p:spPr>
          <a:xfrm>
            <a:off x="5532120" y="2999232"/>
            <a:ext cx="3154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50"/>
              </a:buClr>
              <a:buSzPts val="800"/>
              <a:buFont typeface="Calibri"/>
              <a:buNone/>
            </a:pPr>
            <a:r>
              <a:rPr b="0" i="0" lang="en-US" sz="800" u="none" cap="none" strike="noStrike">
                <a:solidFill>
                  <a:srgbClr val="3A3A50"/>
                </a:solidFill>
                <a:latin typeface="Calibri"/>
                <a:ea typeface="Calibri"/>
                <a:cs typeface="Calibri"/>
                <a:sym typeface="Calibri"/>
              </a:rPr>
              <a:t>›  + hundreds more via MCP</a:t>
            </a:r>
            <a:endParaRPr b="0" i="0" sz="800" u="none" cap="none" strike="noStrike">
              <a:solidFill>
                <a:schemeClr val="dk1"/>
              </a:solidFill>
              <a:latin typeface="Calibri"/>
              <a:ea typeface="Calibri"/>
              <a:cs typeface="Calibri"/>
              <a:sym typeface="Calibri"/>
            </a:endParaRPr>
          </a:p>
        </p:txBody>
      </p:sp>
      <p:sp>
        <p:nvSpPr>
          <p:cNvPr id="287" name="Google Shape;287;p9"/>
          <p:cNvSpPr/>
          <p:nvPr/>
        </p:nvSpPr>
        <p:spPr>
          <a:xfrm>
            <a:off x="5413248" y="3364992"/>
            <a:ext cx="3364992" cy="1481328"/>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9"/>
          <p:cNvSpPr/>
          <p:nvPr/>
        </p:nvSpPr>
        <p:spPr>
          <a:xfrm>
            <a:off x="5522976" y="3438144"/>
            <a:ext cx="3182112" cy="1554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DC9A8"/>
              </a:buClr>
              <a:buSzPts val="800"/>
              <a:buFont typeface="Calibri"/>
              <a:buNone/>
            </a:pPr>
            <a:r>
              <a:rPr b="1" i="0" lang="en-US" sz="800" u="none" cap="none" strike="noStrike">
                <a:solidFill>
                  <a:srgbClr val="1DC9A8"/>
                </a:solidFill>
                <a:latin typeface="Calibri"/>
                <a:ea typeface="Calibri"/>
                <a:cs typeface="Calibri"/>
                <a:sym typeface="Calibri"/>
              </a:rPr>
              <a:t>THE ANTHROPIC PRODUCT EVOLUTION</a:t>
            </a:r>
            <a:endParaRPr b="0" i="0" sz="800" u="none" cap="none" strike="noStrike">
              <a:solidFill>
                <a:schemeClr val="dk1"/>
              </a:solidFill>
              <a:latin typeface="Calibri"/>
              <a:ea typeface="Calibri"/>
              <a:cs typeface="Calibri"/>
              <a:sym typeface="Calibri"/>
            </a:endParaRPr>
          </a:p>
        </p:txBody>
      </p:sp>
      <p:sp>
        <p:nvSpPr>
          <p:cNvPr id="289" name="Google Shape;289;p9"/>
          <p:cNvSpPr/>
          <p:nvPr/>
        </p:nvSpPr>
        <p:spPr>
          <a:xfrm>
            <a:off x="5532120" y="3611880"/>
            <a:ext cx="201168" cy="201168"/>
          </a:xfrm>
          <a:prstGeom prst="ellipse">
            <a:avLst/>
          </a:prstGeom>
          <a:solidFill>
            <a:srgbClr val="2A2A38"/>
          </a:solidFill>
          <a:ln cap="flat" cmpd="sng" w="12700">
            <a:solidFill>
              <a:srgbClr val="3A3A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9"/>
          <p:cNvSpPr/>
          <p:nvPr/>
        </p:nvSpPr>
        <p:spPr>
          <a:xfrm>
            <a:off x="5532120" y="3611880"/>
            <a:ext cx="20116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98"/>
              </a:buClr>
              <a:buSzPts val="900"/>
              <a:buFont typeface="Calibri"/>
              <a:buNone/>
            </a:pPr>
            <a:r>
              <a:rPr b="1" i="0" lang="en-US" sz="900" u="none" cap="none" strike="noStrike">
                <a:solidFill>
                  <a:srgbClr val="888898"/>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291" name="Google Shape;291;p9"/>
          <p:cNvSpPr/>
          <p:nvPr/>
        </p:nvSpPr>
        <p:spPr>
          <a:xfrm>
            <a:off x="5806440" y="3611880"/>
            <a:ext cx="13716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1000"/>
              <a:buFont typeface="Calibri"/>
              <a:buNone/>
            </a:pPr>
            <a:r>
              <a:rPr b="0" i="0" lang="en-US" sz="1000" u="none" cap="none" strike="noStrike">
                <a:solidFill>
                  <a:srgbClr val="888898"/>
                </a:solidFill>
                <a:latin typeface="Calibri"/>
                <a:ea typeface="Calibri"/>
                <a:cs typeface="Calibri"/>
                <a:sym typeface="Calibri"/>
              </a:rPr>
              <a:t>Claude Chat</a:t>
            </a:r>
            <a:endParaRPr b="0" i="0" sz="1000" u="none" cap="none" strike="noStrike">
              <a:solidFill>
                <a:schemeClr val="dk1"/>
              </a:solidFill>
              <a:latin typeface="Calibri"/>
              <a:ea typeface="Calibri"/>
              <a:cs typeface="Calibri"/>
              <a:sym typeface="Calibri"/>
            </a:endParaRPr>
          </a:p>
        </p:txBody>
      </p:sp>
      <p:sp>
        <p:nvSpPr>
          <p:cNvPr id="292" name="Google Shape;292;p9"/>
          <p:cNvSpPr/>
          <p:nvPr/>
        </p:nvSpPr>
        <p:spPr>
          <a:xfrm>
            <a:off x="5806440" y="3794760"/>
            <a:ext cx="2834640" cy="1645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50"/>
              </a:buClr>
              <a:buSzPts val="800"/>
              <a:buFont typeface="Calibri"/>
              <a:buNone/>
            </a:pPr>
            <a:r>
              <a:rPr b="0" i="0" lang="en-US" sz="800" u="none" cap="none" strike="noStrike">
                <a:solidFill>
                  <a:srgbClr val="3A3A50"/>
                </a:solidFill>
                <a:latin typeface="Calibri"/>
                <a:ea typeface="Calibri"/>
                <a:cs typeface="Calibri"/>
                <a:sym typeface="Calibri"/>
              </a:rPr>
              <a:t>Answers questions in conversation</a:t>
            </a:r>
            <a:endParaRPr b="0" i="0" sz="800" u="none" cap="none" strike="noStrike">
              <a:solidFill>
                <a:schemeClr val="dk1"/>
              </a:solidFill>
              <a:latin typeface="Calibri"/>
              <a:ea typeface="Calibri"/>
              <a:cs typeface="Calibri"/>
              <a:sym typeface="Calibri"/>
            </a:endParaRPr>
          </a:p>
        </p:txBody>
      </p:sp>
      <p:sp>
        <p:nvSpPr>
          <p:cNvPr id="293" name="Google Shape;293;p9"/>
          <p:cNvSpPr/>
          <p:nvPr/>
        </p:nvSpPr>
        <p:spPr>
          <a:xfrm>
            <a:off x="5532120" y="3977640"/>
            <a:ext cx="201168" cy="201168"/>
          </a:xfrm>
          <a:prstGeom prst="ellipse">
            <a:avLst/>
          </a:prstGeom>
          <a:solidFill>
            <a:srgbClr val="2A2A38"/>
          </a:solidFill>
          <a:ln cap="flat" cmpd="sng" w="12700">
            <a:solidFill>
              <a:srgbClr val="3A3A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9"/>
          <p:cNvSpPr/>
          <p:nvPr/>
        </p:nvSpPr>
        <p:spPr>
          <a:xfrm>
            <a:off x="5532120" y="3977640"/>
            <a:ext cx="20116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98"/>
              </a:buClr>
              <a:buSzPts val="900"/>
              <a:buFont typeface="Calibri"/>
              <a:buNone/>
            </a:pPr>
            <a:r>
              <a:rPr b="1" i="0" lang="en-US" sz="900" u="none" cap="none" strike="noStrike">
                <a:solidFill>
                  <a:srgbClr val="888898"/>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295" name="Google Shape;295;p9"/>
          <p:cNvSpPr/>
          <p:nvPr/>
        </p:nvSpPr>
        <p:spPr>
          <a:xfrm>
            <a:off x="5806440" y="3977640"/>
            <a:ext cx="13716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1000"/>
              <a:buFont typeface="Calibri"/>
              <a:buNone/>
            </a:pPr>
            <a:r>
              <a:rPr b="0" i="0" lang="en-US" sz="1000" u="none" cap="none" strike="noStrike">
                <a:solidFill>
                  <a:srgbClr val="888898"/>
                </a:solidFill>
                <a:latin typeface="Calibri"/>
                <a:ea typeface="Calibri"/>
                <a:cs typeface="Calibri"/>
                <a:sym typeface="Calibri"/>
              </a:rPr>
              <a:t>Claude Code</a:t>
            </a:r>
            <a:endParaRPr b="0" i="0" sz="1000" u="none" cap="none" strike="noStrike">
              <a:solidFill>
                <a:schemeClr val="dk1"/>
              </a:solidFill>
              <a:latin typeface="Calibri"/>
              <a:ea typeface="Calibri"/>
              <a:cs typeface="Calibri"/>
              <a:sym typeface="Calibri"/>
            </a:endParaRPr>
          </a:p>
        </p:txBody>
      </p:sp>
      <p:sp>
        <p:nvSpPr>
          <p:cNvPr id="296" name="Google Shape;296;p9"/>
          <p:cNvSpPr/>
          <p:nvPr/>
        </p:nvSpPr>
        <p:spPr>
          <a:xfrm>
            <a:off x="5806440" y="4160520"/>
            <a:ext cx="2834640" cy="1645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50"/>
              </a:buClr>
              <a:buSzPts val="800"/>
              <a:buFont typeface="Calibri"/>
              <a:buNone/>
            </a:pPr>
            <a:r>
              <a:rPr b="0" i="0" lang="en-US" sz="800" u="none" cap="none" strike="noStrike">
                <a:solidFill>
                  <a:srgbClr val="3A3A50"/>
                </a:solidFill>
                <a:latin typeface="Calibri"/>
                <a:ea typeface="Calibri"/>
                <a:cs typeface="Calibri"/>
                <a:sym typeface="Calibri"/>
              </a:rPr>
              <a:t>Executes full tasks for developers</a:t>
            </a:r>
            <a:endParaRPr b="0" i="0" sz="800" u="none" cap="none" strike="noStrike">
              <a:solidFill>
                <a:schemeClr val="dk1"/>
              </a:solidFill>
              <a:latin typeface="Calibri"/>
              <a:ea typeface="Calibri"/>
              <a:cs typeface="Calibri"/>
              <a:sym typeface="Calibri"/>
            </a:endParaRPr>
          </a:p>
        </p:txBody>
      </p:sp>
      <p:sp>
        <p:nvSpPr>
          <p:cNvPr id="297" name="Google Shape;297;p9"/>
          <p:cNvSpPr/>
          <p:nvPr/>
        </p:nvSpPr>
        <p:spPr>
          <a:xfrm>
            <a:off x="5532120" y="4343400"/>
            <a:ext cx="201168" cy="201168"/>
          </a:xfrm>
          <a:prstGeom prst="ellipse">
            <a:avLst/>
          </a:prstGeom>
          <a:solidFill>
            <a:srgbClr val="1DC9A8"/>
          </a:solidFill>
          <a:ln cap="flat" cmpd="sng" w="12700">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9"/>
          <p:cNvSpPr/>
          <p:nvPr/>
        </p:nvSpPr>
        <p:spPr>
          <a:xfrm>
            <a:off x="5532120" y="4343400"/>
            <a:ext cx="20116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900"/>
              <a:buFont typeface="Calibri"/>
              <a:buNone/>
            </a:pPr>
            <a:r>
              <a:rPr b="1" i="0" lang="en-US" sz="900" u="none" cap="none" strike="noStrike">
                <a:solidFill>
                  <a:srgbClr val="000000"/>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299" name="Google Shape;299;p9"/>
          <p:cNvSpPr/>
          <p:nvPr/>
        </p:nvSpPr>
        <p:spPr>
          <a:xfrm>
            <a:off x="5806440" y="4343400"/>
            <a:ext cx="13716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000"/>
              <a:buFont typeface="Calibri"/>
              <a:buNone/>
            </a:pPr>
            <a:r>
              <a:rPr b="1" i="0" lang="en-US" sz="1000" u="none" cap="none" strike="noStrike">
                <a:solidFill>
                  <a:srgbClr val="EEEEF2"/>
                </a:solidFill>
                <a:latin typeface="Calibri"/>
                <a:ea typeface="Calibri"/>
                <a:cs typeface="Calibri"/>
                <a:sym typeface="Calibri"/>
              </a:rPr>
              <a:t>Claude Cowork</a:t>
            </a:r>
            <a:endParaRPr b="0" i="0" sz="1000" u="none" cap="none" strike="noStrike">
              <a:solidFill>
                <a:schemeClr val="dk1"/>
              </a:solidFill>
              <a:latin typeface="Calibri"/>
              <a:ea typeface="Calibri"/>
              <a:cs typeface="Calibri"/>
              <a:sym typeface="Calibri"/>
            </a:endParaRPr>
          </a:p>
        </p:txBody>
      </p:sp>
      <p:sp>
        <p:nvSpPr>
          <p:cNvPr id="300" name="Google Shape;300;p9"/>
          <p:cNvSpPr/>
          <p:nvPr/>
        </p:nvSpPr>
        <p:spPr>
          <a:xfrm>
            <a:off x="5806440" y="4526280"/>
            <a:ext cx="2834640" cy="1645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50"/>
              </a:buClr>
              <a:buSzPts val="800"/>
              <a:buFont typeface="Calibri"/>
              <a:buNone/>
            </a:pPr>
            <a:r>
              <a:rPr b="0" i="0" lang="en-US" sz="800" u="none" cap="none" strike="noStrike">
                <a:solidFill>
                  <a:srgbClr val="3A3A50"/>
                </a:solidFill>
                <a:latin typeface="Calibri"/>
                <a:ea typeface="Calibri"/>
                <a:cs typeface="Calibri"/>
                <a:sym typeface="Calibri"/>
              </a:rPr>
              <a:t>Executes full tasks for everyone else</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90C"/>
        </a:solidFill>
      </p:bgPr>
    </p:bg>
    <p:spTree>
      <p:nvGrpSpPr>
        <p:cNvPr id="305" name="Shape 305"/>
        <p:cNvGrpSpPr/>
        <p:nvPr/>
      </p:nvGrpSpPr>
      <p:grpSpPr>
        <a:xfrm>
          <a:off x="0" y="0"/>
          <a:ext cx="0" cy="0"/>
          <a:chOff x="0" y="0"/>
          <a:chExt cx="0" cy="0"/>
        </a:xfrm>
      </p:grpSpPr>
      <p:sp>
        <p:nvSpPr>
          <p:cNvPr id="306" name="Google Shape;306;p10"/>
          <p:cNvSpPr/>
          <p:nvPr/>
        </p:nvSpPr>
        <p:spPr>
          <a:xfrm>
            <a:off x="365760" y="164592"/>
            <a:ext cx="84124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PRODUCT</a:t>
            </a:r>
            <a:endParaRPr b="0" i="0" sz="800" u="none" cap="none" strike="noStrike">
              <a:solidFill>
                <a:schemeClr val="dk1"/>
              </a:solidFill>
              <a:latin typeface="Calibri"/>
              <a:ea typeface="Calibri"/>
              <a:cs typeface="Calibri"/>
              <a:sym typeface="Calibri"/>
            </a:endParaRPr>
          </a:p>
        </p:txBody>
      </p:sp>
      <p:sp>
        <p:nvSpPr>
          <p:cNvPr id="307" name="Google Shape;307;p10"/>
          <p:cNvSpPr/>
          <p:nvPr/>
        </p:nvSpPr>
        <p:spPr>
          <a:xfrm>
            <a:off x="365760" y="347472"/>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2200"/>
              <a:buFont typeface="Calibri"/>
              <a:buNone/>
            </a:pPr>
            <a:r>
              <a:rPr b="1" i="0" lang="en-US" sz="2200" u="none" cap="none" strike="noStrike">
                <a:solidFill>
                  <a:srgbClr val="EEEEF2"/>
                </a:solidFill>
                <a:latin typeface="Calibri"/>
                <a:ea typeface="Calibri"/>
                <a:cs typeface="Calibri"/>
                <a:sym typeface="Calibri"/>
              </a:rPr>
              <a:t>Claude Design</a:t>
            </a:r>
            <a:endParaRPr b="0" i="0" sz="2200" u="none" cap="none" strike="noStrike">
              <a:solidFill>
                <a:schemeClr val="dk1"/>
              </a:solidFill>
              <a:latin typeface="Calibri"/>
              <a:ea typeface="Calibri"/>
              <a:cs typeface="Calibri"/>
              <a:sym typeface="Calibri"/>
            </a:endParaRPr>
          </a:p>
        </p:txBody>
      </p:sp>
      <p:sp>
        <p:nvSpPr>
          <p:cNvPr id="308" name="Google Shape;308;p10"/>
          <p:cNvSpPr/>
          <p:nvPr/>
        </p:nvSpPr>
        <p:spPr>
          <a:xfrm>
            <a:off x="365760" y="822960"/>
            <a:ext cx="8412480" cy="16459"/>
          </a:xfrm>
          <a:prstGeom prst="rect">
            <a:avLst/>
          </a:prstGeom>
          <a:solidFill>
            <a:srgbClr val="2A2A38"/>
          </a:solidFill>
          <a:ln cap="flat" cmpd="sng" w="12700">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0"/>
          <p:cNvSpPr/>
          <p:nvPr/>
        </p:nvSpPr>
        <p:spPr>
          <a:xfrm>
            <a:off x="365760" y="960120"/>
            <a:ext cx="4892040" cy="749808"/>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0"/>
          <p:cNvSpPr/>
          <p:nvPr/>
        </p:nvSpPr>
        <p:spPr>
          <a:xfrm>
            <a:off x="365760" y="960120"/>
            <a:ext cx="45720" cy="749808"/>
          </a:xfrm>
          <a:prstGeom prst="rect">
            <a:avLst/>
          </a:prstGeom>
          <a:solidFill>
            <a:srgbClr val="A855F7"/>
          </a:solidFill>
          <a:ln cap="flat" cmpd="sng" w="12700">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0"/>
          <p:cNvSpPr/>
          <p:nvPr/>
        </p:nvSpPr>
        <p:spPr>
          <a:xfrm>
            <a:off x="475488" y="1005840"/>
            <a:ext cx="4681728"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50"/>
              <a:buFont typeface="Calibri"/>
              <a:buNone/>
            </a:pPr>
            <a:r>
              <a:rPr b="0" i="0" lang="en-US" sz="950" u="none" cap="none" strike="noStrike">
                <a:solidFill>
                  <a:srgbClr val="888898"/>
                </a:solidFill>
                <a:latin typeface="Calibri"/>
                <a:ea typeface="Calibri"/>
                <a:cs typeface="Calibri"/>
                <a:sym typeface="Calibri"/>
              </a:rPr>
              <a:t>Conversational visual creation tool from Anthropic Labs. Launched April 17, 2026 in research preview for Pro, Max, Team, Enterprise. Powered by Claude Opus 4.7. Describe what you want in natural language</a:t>
            </a:r>
            <a:r>
              <a:rPr lang="en-US" sz="950">
                <a:solidFill>
                  <a:srgbClr val="888898"/>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Claude </a:t>
            </a:r>
            <a:r>
              <a:rPr lang="en-US" sz="950">
                <a:solidFill>
                  <a:srgbClr val="888898"/>
                </a:solidFill>
                <a:latin typeface="Calibri"/>
                <a:ea typeface="Calibri"/>
                <a:cs typeface="Calibri"/>
                <a:sym typeface="Calibri"/>
              </a:rPr>
              <a:t>can generate</a:t>
            </a:r>
            <a:r>
              <a:rPr b="0" i="0" lang="en-US" sz="950" u="none" cap="none" strike="noStrike">
                <a:solidFill>
                  <a:srgbClr val="888898"/>
                </a:solidFill>
                <a:latin typeface="Calibri"/>
                <a:ea typeface="Calibri"/>
                <a:cs typeface="Calibri"/>
                <a:sym typeface="Calibri"/>
              </a:rPr>
              <a:t> interactive prototypes, slides, landing pages, and marketing assets. Output is live HTML</a:t>
            </a:r>
            <a:r>
              <a:rPr lang="en-US" sz="950">
                <a:solidFill>
                  <a:srgbClr val="888898"/>
                </a:solidFill>
                <a:latin typeface="Calibri"/>
                <a:ea typeface="Calibri"/>
                <a:cs typeface="Calibri"/>
                <a:sym typeface="Calibri"/>
              </a:rPr>
              <a:t>, </a:t>
            </a:r>
            <a:r>
              <a:rPr b="0" i="0" lang="en-US" sz="950" u="none" cap="none" strike="noStrike">
                <a:solidFill>
                  <a:srgbClr val="888898"/>
                </a:solidFill>
                <a:latin typeface="Calibri"/>
                <a:ea typeface="Calibri"/>
                <a:cs typeface="Calibri"/>
                <a:sym typeface="Calibri"/>
              </a:rPr>
              <a:t>not a static image.</a:t>
            </a:r>
            <a:endParaRPr b="0" i="0" sz="950" u="none" cap="none" strike="noStrike">
              <a:solidFill>
                <a:schemeClr val="dk1"/>
              </a:solidFill>
              <a:latin typeface="Calibri"/>
              <a:ea typeface="Calibri"/>
              <a:cs typeface="Calibri"/>
              <a:sym typeface="Calibri"/>
            </a:endParaRPr>
          </a:p>
        </p:txBody>
      </p:sp>
      <p:sp>
        <p:nvSpPr>
          <p:cNvPr id="312" name="Google Shape;312;p10"/>
          <p:cNvSpPr/>
          <p:nvPr/>
        </p:nvSpPr>
        <p:spPr>
          <a:xfrm>
            <a:off x="365760" y="1828800"/>
            <a:ext cx="2359152" cy="905256"/>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0"/>
          <p:cNvSpPr/>
          <p:nvPr/>
        </p:nvSpPr>
        <p:spPr>
          <a:xfrm>
            <a:off x="475488" y="1920240"/>
            <a:ext cx="214884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Brand System Ingestion</a:t>
            </a:r>
            <a:endParaRPr b="0" i="0" sz="1100" u="none" cap="none" strike="noStrike">
              <a:solidFill>
                <a:schemeClr val="dk1"/>
              </a:solidFill>
              <a:latin typeface="Calibri"/>
              <a:ea typeface="Calibri"/>
              <a:cs typeface="Calibri"/>
              <a:sym typeface="Calibri"/>
            </a:endParaRPr>
          </a:p>
        </p:txBody>
      </p:sp>
      <p:sp>
        <p:nvSpPr>
          <p:cNvPr id="314" name="Google Shape;314;p10"/>
          <p:cNvSpPr/>
          <p:nvPr/>
        </p:nvSpPr>
        <p:spPr>
          <a:xfrm>
            <a:off x="475488" y="2139696"/>
            <a:ext cx="21488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Reads your codebase and Figma files to extract your design system and applies it automatically to every new project.</a:t>
            </a:r>
            <a:endParaRPr b="0" i="0" sz="900" u="none" cap="none" strike="noStrike">
              <a:solidFill>
                <a:schemeClr val="dk1"/>
              </a:solidFill>
              <a:latin typeface="Calibri"/>
              <a:ea typeface="Calibri"/>
              <a:cs typeface="Calibri"/>
              <a:sym typeface="Calibri"/>
            </a:endParaRPr>
          </a:p>
        </p:txBody>
      </p:sp>
      <p:sp>
        <p:nvSpPr>
          <p:cNvPr id="315" name="Google Shape;315;p10"/>
          <p:cNvSpPr/>
          <p:nvPr/>
        </p:nvSpPr>
        <p:spPr>
          <a:xfrm>
            <a:off x="2862072" y="1828800"/>
            <a:ext cx="2359152" cy="905256"/>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0"/>
          <p:cNvSpPr/>
          <p:nvPr/>
        </p:nvSpPr>
        <p:spPr>
          <a:xfrm>
            <a:off x="2971800" y="1920240"/>
            <a:ext cx="214884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Iterative Refinement</a:t>
            </a:r>
            <a:endParaRPr b="0" i="0" sz="1100" u="none" cap="none" strike="noStrike">
              <a:solidFill>
                <a:schemeClr val="dk1"/>
              </a:solidFill>
              <a:latin typeface="Calibri"/>
              <a:ea typeface="Calibri"/>
              <a:cs typeface="Calibri"/>
              <a:sym typeface="Calibri"/>
            </a:endParaRPr>
          </a:p>
        </p:txBody>
      </p:sp>
      <p:sp>
        <p:nvSpPr>
          <p:cNvPr id="317" name="Google Shape;317;p10"/>
          <p:cNvSpPr/>
          <p:nvPr/>
        </p:nvSpPr>
        <p:spPr>
          <a:xfrm>
            <a:off x="2971800" y="2139696"/>
            <a:ext cx="21488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Inline comments on elements, direct text editing, adjustment sliders for spacing/color/layou</a:t>
            </a:r>
            <a:r>
              <a:rPr lang="en-US" sz="900">
                <a:solidFill>
                  <a:srgbClr val="888898"/>
                </a:solidFill>
                <a:latin typeface="Calibri"/>
                <a:ea typeface="Calibri"/>
                <a:cs typeface="Calibri"/>
                <a:sym typeface="Calibri"/>
              </a:rPr>
              <a:t>t. C</a:t>
            </a:r>
            <a:r>
              <a:rPr b="0" i="0" lang="en-US" sz="900" u="none" cap="none" strike="noStrike">
                <a:solidFill>
                  <a:srgbClr val="888898"/>
                </a:solidFill>
                <a:latin typeface="Calibri"/>
                <a:ea typeface="Calibri"/>
                <a:cs typeface="Calibri"/>
                <a:sym typeface="Calibri"/>
              </a:rPr>
              <a:t>hanges are applied consistently across full design.</a:t>
            </a:r>
            <a:endParaRPr b="0" i="0" sz="900" u="none" cap="none" strike="noStrike">
              <a:solidFill>
                <a:schemeClr val="dk1"/>
              </a:solidFill>
              <a:latin typeface="Calibri"/>
              <a:ea typeface="Calibri"/>
              <a:cs typeface="Calibri"/>
              <a:sym typeface="Calibri"/>
            </a:endParaRPr>
          </a:p>
        </p:txBody>
      </p:sp>
      <p:sp>
        <p:nvSpPr>
          <p:cNvPr id="318" name="Google Shape;318;p10"/>
          <p:cNvSpPr/>
          <p:nvPr/>
        </p:nvSpPr>
        <p:spPr>
          <a:xfrm>
            <a:off x="365760" y="2807208"/>
            <a:ext cx="2359152" cy="905256"/>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0"/>
          <p:cNvSpPr/>
          <p:nvPr/>
        </p:nvSpPr>
        <p:spPr>
          <a:xfrm>
            <a:off x="475488" y="2898648"/>
            <a:ext cx="214884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Claude Code Handoff</a:t>
            </a:r>
            <a:endParaRPr b="0" i="0" sz="1100" u="none" cap="none" strike="noStrike">
              <a:solidFill>
                <a:schemeClr val="dk1"/>
              </a:solidFill>
              <a:latin typeface="Calibri"/>
              <a:ea typeface="Calibri"/>
              <a:cs typeface="Calibri"/>
              <a:sym typeface="Calibri"/>
            </a:endParaRPr>
          </a:p>
        </p:txBody>
      </p:sp>
      <p:sp>
        <p:nvSpPr>
          <p:cNvPr id="320" name="Google Shape;320;p10"/>
          <p:cNvSpPr/>
          <p:nvPr/>
        </p:nvSpPr>
        <p:spPr>
          <a:xfrm>
            <a:off x="475488" y="3118104"/>
            <a:ext cx="21488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Packages completed designs into a handoff bundle. One instruction to Claude Code generates production React/Next.js.</a:t>
            </a:r>
            <a:endParaRPr b="0" i="0" sz="900" u="none" cap="none" strike="noStrike">
              <a:solidFill>
                <a:schemeClr val="dk1"/>
              </a:solidFill>
              <a:latin typeface="Calibri"/>
              <a:ea typeface="Calibri"/>
              <a:cs typeface="Calibri"/>
              <a:sym typeface="Calibri"/>
            </a:endParaRPr>
          </a:p>
        </p:txBody>
      </p:sp>
      <p:sp>
        <p:nvSpPr>
          <p:cNvPr id="321" name="Google Shape;321;p10"/>
          <p:cNvSpPr/>
          <p:nvPr/>
        </p:nvSpPr>
        <p:spPr>
          <a:xfrm>
            <a:off x="2862072" y="2807208"/>
            <a:ext cx="2359152" cy="905256"/>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0"/>
          <p:cNvSpPr/>
          <p:nvPr/>
        </p:nvSpPr>
        <p:spPr>
          <a:xfrm>
            <a:off x="2971800" y="2898648"/>
            <a:ext cx="214884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Export Anywhere</a:t>
            </a:r>
            <a:endParaRPr b="0" i="0" sz="1100" u="none" cap="none" strike="noStrike">
              <a:solidFill>
                <a:schemeClr val="dk1"/>
              </a:solidFill>
              <a:latin typeface="Calibri"/>
              <a:ea typeface="Calibri"/>
              <a:cs typeface="Calibri"/>
              <a:sym typeface="Calibri"/>
            </a:endParaRPr>
          </a:p>
        </p:txBody>
      </p:sp>
      <p:sp>
        <p:nvSpPr>
          <p:cNvPr id="323" name="Google Shape;323;p10"/>
          <p:cNvSpPr/>
          <p:nvPr/>
        </p:nvSpPr>
        <p:spPr>
          <a:xfrm>
            <a:off x="2971800" y="3118104"/>
            <a:ext cx="21488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PPTX, PDF, standalone HTML, internal org URL, or direct to Canva. Strategic Canva partnership announced at launch.</a:t>
            </a:r>
            <a:endParaRPr b="0" i="0" sz="900" u="none" cap="none" strike="noStrike">
              <a:solidFill>
                <a:schemeClr val="dk1"/>
              </a:solidFill>
              <a:latin typeface="Calibri"/>
              <a:ea typeface="Calibri"/>
              <a:cs typeface="Calibri"/>
              <a:sym typeface="Calibri"/>
            </a:endParaRPr>
          </a:p>
        </p:txBody>
      </p:sp>
      <p:sp>
        <p:nvSpPr>
          <p:cNvPr id="324" name="Google Shape;324;p10"/>
          <p:cNvSpPr/>
          <p:nvPr/>
        </p:nvSpPr>
        <p:spPr>
          <a:xfrm>
            <a:off x="5413248" y="960120"/>
            <a:ext cx="3364992" cy="210312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0"/>
          <p:cNvSpPr/>
          <p:nvPr/>
        </p:nvSpPr>
        <p:spPr>
          <a:xfrm>
            <a:off x="5522976" y="1033272"/>
            <a:ext cx="3182112" cy="1554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55F7"/>
              </a:buClr>
              <a:buSzPts val="800"/>
              <a:buFont typeface="Calibri"/>
              <a:buNone/>
            </a:pPr>
            <a:r>
              <a:rPr b="1" i="0" lang="en-US" sz="800" u="none" cap="none" strike="noStrike">
                <a:solidFill>
                  <a:srgbClr val="A855F7"/>
                </a:solidFill>
                <a:latin typeface="Calibri"/>
                <a:ea typeface="Calibri"/>
                <a:cs typeface="Calibri"/>
                <a:sym typeface="Calibri"/>
              </a:rPr>
              <a:t>WHAT IT CREATES</a:t>
            </a:r>
            <a:endParaRPr b="0" i="0" sz="800" u="none" cap="none" strike="noStrike">
              <a:solidFill>
                <a:schemeClr val="dk1"/>
              </a:solidFill>
              <a:latin typeface="Calibri"/>
              <a:ea typeface="Calibri"/>
              <a:cs typeface="Calibri"/>
              <a:sym typeface="Calibri"/>
            </a:endParaRPr>
          </a:p>
        </p:txBody>
      </p:sp>
      <p:sp>
        <p:nvSpPr>
          <p:cNvPr id="326" name="Google Shape;326;p10"/>
          <p:cNvSpPr/>
          <p:nvPr/>
        </p:nvSpPr>
        <p:spPr>
          <a:xfrm>
            <a:off x="5532120" y="1188720"/>
            <a:ext cx="3154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  UI prototypes &amp; wireframes</a:t>
            </a:r>
            <a:endParaRPr b="0" i="0" sz="900" u="none" cap="none" strike="noStrike">
              <a:solidFill>
                <a:schemeClr val="dk1"/>
              </a:solidFill>
              <a:latin typeface="Calibri"/>
              <a:ea typeface="Calibri"/>
              <a:cs typeface="Calibri"/>
              <a:sym typeface="Calibri"/>
            </a:endParaRPr>
          </a:p>
        </p:txBody>
      </p:sp>
      <p:sp>
        <p:nvSpPr>
          <p:cNvPr id="327" name="Google Shape;327;p10"/>
          <p:cNvSpPr/>
          <p:nvPr/>
        </p:nvSpPr>
        <p:spPr>
          <a:xfrm>
            <a:off x="5532120" y="1399032"/>
            <a:ext cx="3154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  Pitch decks &amp; presentations</a:t>
            </a:r>
            <a:endParaRPr b="0" i="0" sz="900" u="none" cap="none" strike="noStrike">
              <a:solidFill>
                <a:schemeClr val="dk1"/>
              </a:solidFill>
              <a:latin typeface="Calibri"/>
              <a:ea typeface="Calibri"/>
              <a:cs typeface="Calibri"/>
              <a:sym typeface="Calibri"/>
            </a:endParaRPr>
          </a:p>
        </p:txBody>
      </p:sp>
      <p:sp>
        <p:nvSpPr>
          <p:cNvPr id="328" name="Google Shape;328;p10"/>
          <p:cNvSpPr/>
          <p:nvPr/>
        </p:nvSpPr>
        <p:spPr>
          <a:xfrm>
            <a:off x="5532120" y="1609344"/>
            <a:ext cx="3154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  Landing pages (exportable HTML)</a:t>
            </a:r>
            <a:endParaRPr b="0" i="0" sz="900" u="none" cap="none" strike="noStrike">
              <a:solidFill>
                <a:schemeClr val="dk1"/>
              </a:solidFill>
              <a:latin typeface="Calibri"/>
              <a:ea typeface="Calibri"/>
              <a:cs typeface="Calibri"/>
              <a:sym typeface="Calibri"/>
            </a:endParaRPr>
          </a:p>
        </p:txBody>
      </p:sp>
      <p:sp>
        <p:nvSpPr>
          <p:cNvPr id="329" name="Google Shape;329;p10"/>
          <p:cNvSpPr/>
          <p:nvPr/>
        </p:nvSpPr>
        <p:spPr>
          <a:xfrm>
            <a:off x="5532120" y="1819656"/>
            <a:ext cx="3154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  Marketing one-pagers</a:t>
            </a:r>
            <a:endParaRPr b="0" i="0" sz="900" u="none" cap="none" strike="noStrike">
              <a:solidFill>
                <a:schemeClr val="dk1"/>
              </a:solidFill>
              <a:latin typeface="Calibri"/>
              <a:ea typeface="Calibri"/>
              <a:cs typeface="Calibri"/>
              <a:sym typeface="Calibri"/>
            </a:endParaRPr>
          </a:p>
        </p:txBody>
      </p:sp>
      <p:sp>
        <p:nvSpPr>
          <p:cNvPr id="330" name="Google Shape;330;p10"/>
          <p:cNvSpPr/>
          <p:nvPr/>
        </p:nvSpPr>
        <p:spPr>
          <a:xfrm>
            <a:off x="5532120" y="2029968"/>
            <a:ext cx="3154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  Product mockups</a:t>
            </a:r>
            <a:endParaRPr b="0" i="0" sz="900" u="none" cap="none" strike="noStrike">
              <a:solidFill>
                <a:schemeClr val="dk1"/>
              </a:solidFill>
              <a:latin typeface="Calibri"/>
              <a:ea typeface="Calibri"/>
              <a:cs typeface="Calibri"/>
              <a:sym typeface="Calibri"/>
            </a:endParaRPr>
          </a:p>
        </p:txBody>
      </p:sp>
      <p:sp>
        <p:nvSpPr>
          <p:cNvPr id="331" name="Google Shape;331;p10"/>
          <p:cNvSpPr/>
          <p:nvPr/>
        </p:nvSpPr>
        <p:spPr>
          <a:xfrm>
            <a:off x="5532120" y="2240280"/>
            <a:ext cx="3154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  Code-powered prototypes (voice, 3D)</a:t>
            </a:r>
            <a:endParaRPr b="0" i="0" sz="900" u="none" cap="none" strike="noStrike">
              <a:solidFill>
                <a:schemeClr val="dk1"/>
              </a:solidFill>
              <a:latin typeface="Calibri"/>
              <a:ea typeface="Calibri"/>
              <a:cs typeface="Calibri"/>
              <a:sym typeface="Calibri"/>
            </a:endParaRPr>
          </a:p>
        </p:txBody>
      </p:sp>
      <p:sp>
        <p:nvSpPr>
          <p:cNvPr id="332" name="Google Shape;332;p10"/>
          <p:cNvSpPr/>
          <p:nvPr/>
        </p:nvSpPr>
        <p:spPr>
          <a:xfrm>
            <a:off x="5532120" y="2450592"/>
            <a:ext cx="3154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  Brand explorations &amp; variations</a:t>
            </a:r>
            <a:endParaRPr b="0" i="0" sz="900" u="none" cap="none" strike="noStrike">
              <a:solidFill>
                <a:schemeClr val="dk1"/>
              </a:solidFill>
              <a:latin typeface="Calibri"/>
              <a:ea typeface="Calibri"/>
              <a:cs typeface="Calibri"/>
              <a:sym typeface="Calibri"/>
            </a:endParaRPr>
          </a:p>
        </p:txBody>
      </p:sp>
      <p:sp>
        <p:nvSpPr>
          <p:cNvPr id="333" name="Google Shape;333;p10"/>
          <p:cNvSpPr/>
          <p:nvPr/>
        </p:nvSpPr>
        <p:spPr>
          <a:xfrm>
            <a:off x="5413250" y="3136398"/>
            <a:ext cx="3365100" cy="124950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0"/>
          <p:cNvSpPr/>
          <p:nvPr/>
        </p:nvSpPr>
        <p:spPr>
          <a:xfrm>
            <a:off x="5522976" y="3209544"/>
            <a:ext cx="3182112" cy="1554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55F7"/>
              </a:buClr>
              <a:buSzPts val="800"/>
              <a:buFont typeface="Calibri"/>
              <a:buNone/>
            </a:pPr>
            <a:r>
              <a:rPr b="1" i="0" lang="en-US" sz="800" u="none" cap="none" strike="noStrike">
                <a:solidFill>
                  <a:srgbClr val="A855F7"/>
                </a:solidFill>
                <a:latin typeface="Calibri"/>
                <a:ea typeface="Calibri"/>
                <a:cs typeface="Calibri"/>
                <a:sym typeface="Calibri"/>
              </a:rPr>
              <a:t>MARKET CONTEXT</a:t>
            </a:r>
            <a:endParaRPr b="0" i="0" sz="800" u="none" cap="none" strike="noStrike">
              <a:solidFill>
                <a:schemeClr val="dk1"/>
              </a:solidFill>
              <a:latin typeface="Calibri"/>
              <a:ea typeface="Calibri"/>
              <a:cs typeface="Calibri"/>
              <a:sym typeface="Calibri"/>
            </a:endParaRPr>
          </a:p>
        </p:txBody>
      </p:sp>
      <p:sp>
        <p:nvSpPr>
          <p:cNvPr id="335" name="Google Shape;335;p10"/>
          <p:cNvSpPr/>
          <p:nvPr/>
        </p:nvSpPr>
        <p:spPr>
          <a:xfrm>
            <a:off x="5532120" y="3346704"/>
            <a:ext cx="3154680" cy="1417320"/>
          </a:xfrm>
          <a:prstGeom prst="rect">
            <a:avLst/>
          </a:prstGeom>
          <a:noFill/>
          <a:ln>
            <a:noFill/>
          </a:ln>
        </p:spPr>
        <p:txBody>
          <a:bodyPr anchorCtr="0" anchor="t" bIns="45700" lIns="91425" spcFirstLastPara="1" rIns="91425" wrap="square" tIns="45700">
            <a:noAutofit/>
          </a:bodyPr>
          <a:lstStyle/>
          <a:p>
            <a:pPr indent="0" lvl="0" marL="0" marR="0" rtl="0" algn="l">
              <a:spcBef>
                <a:spcPts val="500"/>
              </a:spcBef>
              <a:spcAft>
                <a:spcPts val="0"/>
              </a:spcAft>
              <a:buClr>
                <a:srgbClr val="A855F7"/>
              </a:buClr>
              <a:buSzPts val="900"/>
              <a:buFont typeface="Calibri"/>
              <a:buNone/>
            </a:pPr>
            <a:r>
              <a:rPr b="1" i="0" lang="en-US" sz="900" u="none" cap="none" strike="noStrike">
                <a:solidFill>
                  <a:srgbClr val="A855F7"/>
                </a:solidFill>
                <a:latin typeface="Calibri"/>
                <a:ea typeface="Calibri"/>
                <a:cs typeface="Calibri"/>
                <a:sym typeface="Calibri"/>
              </a:rPr>
              <a:t>›  </a:t>
            </a:r>
            <a:r>
              <a:rPr b="0" i="0" lang="en-US" sz="900" u="none" cap="none" strike="noStrike">
                <a:solidFill>
                  <a:srgbClr val="888898"/>
                </a:solidFill>
                <a:latin typeface="Calibri"/>
                <a:ea typeface="Calibri"/>
                <a:cs typeface="Calibri"/>
                <a:sym typeface="Calibri"/>
              </a:rPr>
              <a:t>Canva partnership: Claude Design is the 'upstream creative engine' feeding into Canva's ecosystem</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A855F7"/>
              </a:buClr>
              <a:buSzPts val="900"/>
              <a:buFont typeface="Calibri"/>
              <a:buNone/>
            </a:pPr>
            <a:r>
              <a:rPr b="1" i="0" lang="en-US" sz="900" u="none" cap="none" strike="noStrike">
                <a:solidFill>
                  <a:srgbClr val="A855F7"/>
                </a:solidFill>
                <a:latin typeface="Calibri"/>
                <a:ea typeface="Calibri"/>
                <a:cs typeface="Calibri"/>
                <a:sym typeface="Calibri"/>
              </a:rPr>
              <a:t>›  </a:t>
            </a:r>
            <a:r>
              <a:rPr b="0" i="0" lang="en-US" sz="900" u="none" cap="none" strike="noStrike">
                <a:solidFill>
                  <a:srgbClr val="888898"/>
                </a:solidFill>
                <a:latin typeface="Calibri"/>
                <a:ea typeface="Calibri"/>
                <a:cs typeface="Calibri"/>
                <a:sym typeface="Calibri"/>
              </a:rPr>
              <a:t>Enterprise: off by default — admin enables under Organization Settings → Anthropic Labs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90C"/>
        </a:solidFill>
      </p:bgPr>
    </p:bg>
    <p:spTree>
      <p:nvGrpSpPr>
        <p:cNvPr id="340" name="Shape 340"/>
        <p:cNvGrpSpPr/>
        <p:nvPr/>
      </p:nvGrpSpPr>
      <p:grpSpPr>
        <a:xfrm>
          <a:off x="0" y="0"/>
          <a:ext cx="0" cy="0"/>
          <a:chOff x="0" y="0"/>
          <a:chExt cx="0" cy="0"/>
        </a:xfrm>
      </p:grpSpPr>
      <p:sp>
        <p:nvSpPr>
          <p:cNvPr id="341" name="Google Shape;341;p11"/>
          <p:cNvSpPr/>
          <p:nvPr/>
        </p:nvSpPr>
        <p:spPr>
          <a:xfrm>
            <a:off x="365760" y="164592"/>
            <a:ext cx="84124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ACCESS</a:t>
            </a:r>
            <a:endParaRPr b="0" i="0" sz="800" u="none" cap="none" strike="noStrike">
              <a:solidFill>
                <a:schemeClr val="dk1"/>
              </a:solidFill>
              <a:latin typeface="Calibri"/>
              <a:ea typeface="Calibri"/>
              <a:cs typeface="Calibri"/>
              <a:sym typeface="Calibri"/>
            </a:endParaRPr>
          </a:p>
        </p:txBody>
      </p:sp>
      <p:sp>
        <p:nvSpPr>
          <p:cNvPr id="342" name="Google Shape;342;p11"/>
          <p:cNvSpPr/>
          <p:nvPr/>
        </p:nvSpPr>
        <p:spPr>
          <a:xfrm>
            <a:off x="365760" y="347472"/>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2200"/>
              <a:buFont typeface="Calibri"/>
              <a:buNone/>
            </a:pPr>
            <a:r>
              <a:rPr b="1" i="0" lang="en-US" sz="2200" u="none" cap="none" strike="noStrike">
                <a:solidFill>
                  <a:srgbClr val="EEEEF2"/>
                </a:solidFill>
                <a:latin typeface="Calibri"/>
                <a:ea typeface="Calibri"/>
                <a:cs typeface="Calibri"/>
                <a:sym typeface="Calibri"/>
              </a:rPr>
              <a:t>Plans, Access &amp; Enterprise Controls</a:t>
            </a:r>
            <a:endParaRPr b="0" i="0" sz="2200" u="none" cap="none" strike="noStrike">
              <a:solidFill>
                <a:schemeClr val="dk1"/>
              </a:solidFill>
              <a:latin typeface="Calibri"/>
              <a:ea typeface="Calibri"/>
              <a:cs typeface="Calibri"/>
              <a:sym typeface="Calibri"/>
            </a:endParaRPr>
          </a:p>
        </p:txBody>
      </p:sp>
      <p:sp>
        <p:nvSpPr>
          <p:cNvPr id="343" name="Google Shape;343;p11"/>
          <p:cNvSpPr/>
          <p:nvPr/>
        </p:nvSpPr>
        <p:spPr>
          <a:xfrm>
            <a:off x="365760" y="822960"/>
            <a:ext cx="8412480" cy="16459"/>
          </a:xfrm>
          <a:prstGeom prst="rect">
            <a:avLst/>
          </a:prstGeom>
          <a:solidFill>
            <a:srgbClr val="2A2A38"/>
          </a:solidFill>
          <a:ln cap="flat" cmpd="sng" w="12700">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1"/>
          <p:cNvSpPr/>
          <p:nvPr/>
        </p:nvSpPr>
        <p:spPr>
          <a:xfrm>
            <a:off x="365760" y="960120"/>
            <a:ext cx="1627632" cy="278892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1"/>
          <p:cNvSpPr/>
          <p:nvPr/>
        </p:nvSpPr>
        <p:spPr>
          <a:xfrm>
            <a:off x="365760" y="960120"/>
            <a:ext cx="1627632" cy="36576"/>
          </a:xfrm>
          <a:prstGeom prst="rect">
            <a:avLst/>
          </a:prstGeom>
          <a:solidFill>
            <a:srgbClr val="3A3A50"/>
          </a:solidFill>
          <a:ln cap="flat" cmpd="sng" w="12700">
            <a:solidFill>
              <a:srgbClr val="3A3A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1"/>
          <p:cNvSpPr/>
          <p:nvPr/>
        </p:nvSpPr>
        <p:spPr>
          <a:xfrm>
            <a:off x="457200" y="1051560"/>
            <a:ext cx="1444752"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50"/>
              </a:buClr>
              <a:buSzPts val="1400"/>
              <a:buFont typeface="Calibri"/>
              <a:buNone/>
            </a:pPr>
            <a:r>
              <a:rPr b="1" i="0" lang="en-US" sz="1400" u="none" cap="none" strike="noStrike">
                <a:solidFill>
                  <a:srgbClr val="3A3A50"/>
                </a:solidFill>
                <a:latin typeface="Calibri"/>
                <a:ea typeface="Calibri"/>
                <a:cs typeface="Calibri"/>
                <a:sym typeface="Calibri"/>
              </a:rPr>
              <a:t>Free</a:t>
            </a:r>
            <a:endParaRPr b="0" i="0" sz="1400" u="none" cap="none" strike="noStrike">
              <a:solidFill>
                <a:schemeClr val="dk1"/>
              </a:solidFill>
              <a:latin typeface="Calibri"/>
              <a:ea typeface="Calibri"/>
              <a:cs typeface="Calibri"/>
              <a:sym typeface="Calibri"/>
            </a:endParaRPr>
          </a:p>
        </p:txBody>
      </p:sp>
      <p:sp>
        <p:nvSpPr>
          <p:cNvPr id="347" name="Google Shape;347;p11"/>
          <p:cNvSpPr/>
          <p:nvPr/>
        </p:nvSpPr>
        <p:spPr>
          <a:xfrm>
            <a:off x="457200" y="1417320"/>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claude.ai web &amp; mobile</a:t>
            </a:r>
            <a:endParaRPr b="0" i="0" sz="850" u="none" cap="none" strike="noStrike">
              <a:solidFill>
                <a:schemeClr val="dk1"/>
              </a:solidFill>
              <a:latin typeface="Calibri"/>
              <a:ea typeface="Calibri"/>
              <a:cs typeface="Calibri"/>
              <a:sym typeface="Calibri"/>
            </a:endParaRPr>
          </a:p>
        </p:txBody>
      </p:sp>
      <p:sp>
        <p:nvSpPr>
          <p:cNvPr id="348" name="Google Shape;348;p11"/>
          <p:cNvSpPr/>
          <p:nvPr/>
        </p:nvSpPr>
        <p:spPr>
          <a:xfrm>
            <a:off x="457200" y="1700784"/>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Sonnet 4.6 default</a:t>
            </a:r>
            <a:endParaRPr b="0" i="0" sz="850" u="none" cap="none" strike="noStrike">
              <a:solidFill>
                <a:schemeClr val="dk1"/>
              </a:solidFill>
              <a:latin typeface="Calibri"/>
              <a:ea typeface="Calibri"/>
              <a:cs typeface="Calibri"/>
              <a:sym typeface="Calibri"/>
            </a:endParaRPr>
          </a:p>
        </p:txBody>
      </p:sp>
      <p:sp>
        <p:nvSpPr>
          <p:cNvPr id="349" name="Google Shape;349;p11"/>
          <p:cNvSpPr/>
          <p:nvPr/>
        </p:nvSpPr>
        <p:spPr>
          <a:xfrm>
            <a:off x="457200" y="1984248"/>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File creation &amp; connectors</a:t>
            </a:r>
            <a:endParaRPr b="0" i="0" sz="850" u="none" cap="none" strike="noStrike">
              <a:solidFill>
                <a:schemeClr val="dk1"/>
              </a:solidFill>
              <a:latin typeface="Calibri"/>
              <a:ea typeface="Calibri"/>
              <a:cs typeface="Calibri"/>
              <a:sym typeface="Calibri"/>
            </a:endParaRPr>
          </a:p>
        </p:txBody>
      </p:sp>
      <p:sp>
        <p:nvSpPr>
          <p:cNvPr id="350" name="Google Shape;350;p11"/>
          <p:cNvSpPr/>
          <p:nvPr/>
        </p:nvSpPr>
        <p:spPr>
          <a:xfrm>
            <a:off x="457200" y="2267712"/>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Context compaction</a:t>
            </a:r>
            <a:endParaRPr b="0" i="0" sz="850" u="none" cap="none" strike="noStrike">
              <a:solidFill>
                <a:schemeClr val="dk1"/>
              </a:solidFill>
              <a:latin typeface="Calibri"/>
              <a:ea typeface="Calibri"/>
              <a:cs typeface="Calibri"/>
              <a:sym typeface="Calibri"/>
            </a:endParaRPr>
          </a:p>
        </p:txBody>
      </p:sp>
      <p:sp>
        <p:nvSpPr>
          <p:cNvPr id="351" name="Google Shape;351;p11"/>
          <p:cNvSpPr/>
          <p:nvPr/>
        </p:nvSpPr>
        <p:spPr>
          <a:xfrm>
            <a:off x="2084832" y="960120"/>
            <a:ext cx="1627632" cy="278892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1"/>
          <p:cNvSpPr/>
          <p:nvPr/>
        </p:nvSpPr>
        <p:spPr>
          <a:xfrm>
            <a:off x="2084832" y="960120"/>
            <a:ext cx="1627632" cy="36576"/>
          </a:xfrm>
          <a:prstGeom prst="rect">
            <a:avLst/>
          </a:prstGeom>
          <a:solidFill>
            <a:srgbClr val="888898"/>
          </a:solidFill>
          <a:ln cap="flat" cmpd="sng" w="12700">
            <a:solidFill>
              <a:srgbClr val="8888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1"/>
          <p:cNvSpPr/>
          <p:nvPr/>
        </p:nvSpPr>
        <p:spPr>
          <a:xfrm>
            <a:off x="2176272" y="1051560"/>
            <a:ext cx="1444752"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1400"/>
              <a:buFont typeface="Calibri"/>
              <a:buNone/>
            </a:pPr>
            <a:r>
              <a:rPr b="1" i="0" lang="en-US" sz="1400" u="none" cap="none" strike="noStrike">
                <a:solidFill>
                  <a:srgbClr val="888898"/>
                </a:solidFill>
                <a:latin typeface="Calibri"/>
                <a:ea typeface="Calibri"/>
                <a:cs typeface="Calibri"/>
                <a:sym typeface="Calibri"/>
              </a:rPr>
              <a:t>Pro $20</a:t>
            </a:r>
            <a:endParaRPr b="0" i="0" sz="1400" u="none" cap="none" strike="noStrike">
              <a:solidFill>
                <a:schemeClr val="dk1"/>
              </a:solidFill>
              <a:latin typeface="Calibri"/>
              <a:ea typeface="Calibri"/>
              <a:cs typeface="Calibri"/>
              <a:sym typeface="Calibri"/>
            </a:endParaRPr>
          </a:p>
        </p:txBody>
      </p:sp>
      <p:sp>
        <p:nvSpPr>
          <p:cNvPr id="354" name="Google Shape;354;p11"/>
          <p:cNvSpPr/>
          <p:nvPr/>
        </p:nvSpPr>
        <p:spPr>
          <a:xfrm>
            <a:off x="2176272" y="1417320"/>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5× usage vs Free</a:t>
            </a:r>
            <a:endParaRPr b="0" i="0" sz="850" u="none" cap="none" strike="noStrike">
              <a:solidFill>
                <a:schemeClr val="dk1"/>
              </a:solidFill>
              <a:latin typeface="Calibri"/>
              <a:ea typeface="Calibri"/>
              <a:cs typeface="Calibri"/>
              <a:sym typeface="Calibri"/>
            </a:endParaRPr>
          </a:p>
        </p:txBody>
      </p:sp>
      <p:sp>
        <p:nvSpPr>
          <p:cNvPr id="355" name="Google Shape;355;p11"/>
          <p:cNvSpPr/>
          <p:nvPr/>
        </p:nvSpPr>
        <p:spPr>
          <a:xfrm>
            <a:off x="2176272" y="1700784"/>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Claude Code access</a:t>
            </a:r>
            <a:endParaRPr b="0" i="0" sz="850" u="none" cap="none" strike="noStrike">
              <a:solidFill>
                <a:schemeClr val="dk1"/>
              </a:solidFill>
              <a:latin typeface="Calibri"/>
              <a:ea typeface="Calibri"/>
              <a:cs typeface="Calibri"/>
              <a:sym typeface="Calibri"/>
            </a:endParaRPr>
          </a:p>
        </p:txBody>
      </p:sp>
      <p:sp>
        <p:nvSpPr>
          <p:cNvPr id="356" name="Google Shape;356;p11"/>
          <p:cNvSpPr/>
          <p:nvPr/>
        </p:nvSpPr>
        <p:spPr>
          <a:xfrm>
            <a:off x="2176272" y="1984248"/>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Claude Design (research preview)</a:t>
            </a:r>
            <a:endParaRPr b="0" i="0" sz="850" u="none" cap="none" strike="noStrike">
              <a:solidFill>
                <a:schemeClr val="dk1"/>
              </a:solidFill>
              <a:latin typeface="Calibri"/>
              <a:ea typeface="Calibri"/>
              <a:cs typeface="Calibri"/>
              <a:sym typeface="Calibri"/>
            </a:endParaRPr>
          </a:p>
        </p:txBody>
      </p:sp>
      <p:sp>
        <p:nvSpPr>
          <p:cNvPr id="357" name="Google Shape;357;p11"/>
          <p:cNvSpPr/>
          <p:nvPr/>
        </p:nvSpPr>
        <p:spPr>
          <a:xfrm>
            <a:off x="2176272" y="2267712"/>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All model tiers</a:t>
            </a:r>
            <a:endParaRPr b="0" i="0" sz="850" u="none" cap="none" strike="noStrike">
              <a:solidFill>
                <a:schemeClr val="dk1"/>
              </a:solidFill>
              <a:latin typeface="Calibri"/>
              <a:ea typeface="Calibri"/>
              <a:cs typeface="Calibri"/>
              <a:sym typeface="Calibri"/>
            </a:endParaRPr>
          </a:p>
        </p:txBody>
      </p:sp>
      <p:sp>
        <p:nvSpPr>
          <p:cNvPr id="358" name="Google Shape;358;p11"/>
          <p:cNvSpPr/>
          <p:nvPr/>
        </p:nvSpPr>
        <p:spPr>
          <a:xfrm>
            <a:off x="3803904" y="960120"/>
            <a:ext cx="1627632" cy="278892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1"/>
          <p:cNvSpPr/>
          <p:nvPr/>
        </p:nvSpPr>
        <p:spPr>
          <a:xfrm>
            <a:off x="3803904" y="960120"/>
            <a:ext cx="1627632" cy="36576"/>
          </a:xfrm>
          <a:prstGeom prst="rect">
            <a:avLst/>
          </a:prstGeom>
          <a:solidFill>
            <a:srgbClr val="4D8EEF"/>
          </a:solidFill>
          <a:ln cap="flat" cmpd="sng" w="12700">
            <a:solidFill>
              <a:srgbClr val="4D8E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1"/>
          <p:cNvSpPr/>
          <p:nvPr/>
        </p:nvSpPr>
        <p:spPr>
          <a:xfrm>
            <a:off x="3895344" y="1051560"/>
            <a:ext cx="1444752"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D8EEF"/>
              </a:buClr>
              <a:buSzPts val="1400"/>
              <a:buFont typeface="Calibri"/>
              <a:buNone/>
            </a:pPr>
            <a:r>
              <a:rPr b="1" i="0" lang="en-US" sz="1400" u="none" cap="none" strike="noStrike">
                <a:solidFill>
                  <a:srgbClr val="4D8EEF"/>
                </a:solidFill>
                <a:latin typeface="Calibri"/>
                <a:ea typeface="Calibri"/>
                <a:cs typeface="Calibri"/>
                <a:sym typeface="Calibri"/>
              </a:rPr>
              <a:t>Max $100</a:t>
            </a:r>
            <a:endParaRPr b="0" i="0" sz="1400" u="none" cap="none" strike="noStrike">
              <a:solidFill>
                <a:schemeClr val="dk1"/>
              </a:solidFill>
              <a:latin typeface="Calibri"/>
              <a:ea typeface="Calibri"/>
              <a:cs typeface="Calibri"/>
              <a:sym typeface="Calibri"/>
            </a:endParaRPr>
          </a:p>
        </p:txBody>
      </p:sp>
      <p:sp>
        <p:nvSpPr>
          <p:cNvPr id="361" name="Google Shape;361;p11"/>
          <p:cNvSpPr/>
          <p:nvPr/>
        </p:nvSpPr>
        <p:spPr>
          <a:xfrm>
            <a:off x="3895344" y="1417320"/>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5–20× higher usage limits</a:t>
            </a:r>
            <a:endParaRPr b="0" i="0" sz="850" u="none" cap="none" strike="noStrike">
              <a:solidFill>
                <a:schemeClr val="dk1"/>
              </a:solidFill>
              <a:latin typeface="Calibri"/>
              <a:ea typeface="Calibri"/>
              <a:cs typeface="Calibri"/>
              <a:sym typeface="Calibri"/>
            </a:endParaRPr>
          </a:p>
        </p:txBody>
      </p:sp>
      <p:sp>
        <p:nvSpPr>
          <p:cNvPr id="362" name="Google Shape;362;p11"/>
          <p:cNvSpPr/>
          <p:nvPr/>
        </p:nvSpPr>
        <p:spPr>
          <a:xfrm>
            <a:off x="3895344" y="1700784"/>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Claude for Chrome (all tabs)</a:t>
            </a:r>
            <a:endParaRPr b="0" i="0" sz="850" u="none" cap="none" strike="noStrike">
              <a:solidFill>
                <a:schemeClr val="dk1"/>
              </a:solidFill>
              <a:latin typeface="Calibri"/>
              <a:ea typeface="Calibri"/>
              <a:cs typeface="Calibri"/>
              <a:sym typeface="Calibri"/>
            </a:endParaRPr>
          </a:p>
        </p:txBody>
      </p:sp>
      <p:sp>
        <p:nvSpPr>
          <p:cNvPr id="363" name="Google Shape;363;p11"/>
          <p:cNvSpPr/>
          <p:nvPr/>
        </p:nvSpPr>
        <p:spPr>
          <a:xfrm>
            <a:off x="3895344" y="1984248"/>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Opus models without caps</a:t>
            </a:r>
            <a:endParaRPr b="0" i="0" sz="850" u="none" cap="none" strike="noStrike">
              <a:solidFill>
                <a:schemeClr val="dk1"/>
              </a:solidFill>
              <a:latin typeface="Calibri"/>
              <a:ea typeface="Calibri"/>
              <a:cs typeface="Calibri"/>
              <a:sym typeface="Calibri"/>
            </a:endParaRPr>
          </a:p>
        </p:txBody>
      </p:sp>
      <p:sp>
        <p:nvSpPr>
          <p:cNvPr id="364" name="Google Shape;364;p11"/>
          <p:cNvSpPr/>
          <p:nvPr/>
        </p:nvSpPr>
        <p:spPr>
          <a:xfrm>
            <a:off x="3895344" y="2267712"/>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Priority access</a:t>
            </a:r>
            <a:endParaRPr b="0" i="0" sz="850" u="none" cap="none" strike="noStrike">
              <a:solidFill>
                <a:schemeClr val="dk1"/>
              </a:solidFill>
              <a:latin typeface="Calibri"/>
              <a:ea typeface="Calibri"/>
              <a:cs typeface="Calibri"/>
              <a:sym typeface="Calibri"/>
            </a:endParaRPr>
          </a:p>
        </p:txBody>
      </p:sp>
      <p:sp>
        <p:nvSpPr>
          <p:cNvPr id="365" name="Google Shape;365;p11"/>
          <p:cNvSpPr/>
          <p:nvPr/>
        </p:nvSpPr>
        <p:spPr>
          <a:xfrm>
            <a:off x="5522976" y="960120"/>
            <a:ext cx="1627632" cy="278892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1"/>
          <p:cNvSpPr/>
          <p:nvPr/>
        </p:nvSpPr>
        <p:spPr>
          <a:xfrm>
            <a:off x="5522976" y="960120"/>
            <a:ext cx="1627632" cy="36576"/>
          </a:xfrm>
          <a:prstGeom prst="rect">
            <a:avLst/>
          </a:prstGeom>
          <a:solidFill>
            <a:srgbClr val="1DC9A8"/>
          </a:solidFill>
          <a:ln cap="flat" cmpd="sng" w="12700">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1"/>
          <p:cNvSpPr/>
          <p:nvPr/>
        </p:nvSpPr>
        <p:spPr>
          <a:xfrm>
            <a:off x="5614416" y="1051560"/>
            <a:ext cx="1444752"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DC9A8"/>
              </a:buClr>
              <a:buSzPts val="1400"/>
              <a:buFont typeface="Calibri"/>
              <a:buNone/>
            </a:pPr>
            <a:r>
              <a:rPr b="1" i="0" lang="en-US" sz="1400" u="none" cap="none" strike="noStrike">
                <a:solidFill>
                  <a:srgbClr val="1DC9A8"/>
                </a:solidFill>
                <a:latin typeface="Calibri"/>
                <a:ea typeface="Calibri"/>
                <a:cs typeface="Calibri"/>
                <a:sym typeface="Calibri"/>
              </a:rPr>
              <a:t>Team $20 - $100</a:t>
            </a:r>
            <a:endParaRPr b="0" i="0" sz="1400" u="none" cap="none" strike="noStrike">
              <a:solidFill>
                <a:schemeClr val="dk1"/>
              </a:solidFill>
              <a:latin typeface="Calibri"/>
              <a:ea typeface="Calibri"/>
              <a:cs typeface="Calibri"/>
              <a:sym typeface="Calibri"/>
            </a:endParaRPr>
          </a:p>
        </p:txBody>
      </p:sp>
      <p:sp>
        <p:nvSpPr>
          <p:cNvPr id="368" name="Google Shape;368;p11"/>
          <p:cNvSpPr/>
          <p:nvPr/>
        </p:nvSpPr>
        <p:spPr>
          <a:xfrm>
            <a:off x="5614416" y="1417320"/>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Shared workspaces</a:t>
            </a:r>
            <a:endParaRPr b="0" i="0" sz="850" u="none" cap="none" strike="noStrike">
              <a:solidFill>
                <a:schemeClr val="dk1"/>
              </a:solidFill>
              <a:latin typeface="Calibri"/>
              <a:ea typeface="Calibri"/>
              <a:cs typeface="Calibri"/>
              <a:sym typeface="Calibri"/>
            </a:endParaRPr>
          </a:p>
        </p:txBody>
      </p:sp>
      <p:sp>
        <p:nvSpPr>
          <p:cNvPr id="369" name="Google Shape;369;p11"/>
          <p:cNvSpPr/>
          <p:nvPr/>
        </p:nvSpPr>
        <p:spPr>
          <a:xfrm>
            <a:off x="5614416" y="1700784"/>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Team usage management</a:t>
            </a:r>
            <a:endParaRPr b="0" i="0" sz="850" u="none" cap="none" strike="noStrike">
              <a:solidFill>
                <a:schemeClr val="dk1"/>
              </a:solidFill>
              <a:latin typeface="Calibri"/>
              <a:ea typeface="Calibri"/>
              <a:cs typeface="Calibri"/>
              <a:sym typeface="Calibri"/>
            </a:endParaRPr>
          </a:p>
        </p:txBody>
      </p:sp>
      <p:sp>
        <p:nvSpPr>
          <p:cNvPr id="370" name="Google Shape;370;p11"/>
          <p:cNvSpPr/>
          <p:nvPr/>
        </p:nvSpPr>
        <p:spPr>
          <a:xfrm>
            <a:off x="5614416" y="1984248"/>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MCP connectors shared</a:t>
            </a:r>
            <a:endParaRPr b="0" i="0" sz="850" u="none" cap="none" strike="noStrike">
              <a:solidFill>
                <a:schemeClr val="dk1"/>
              </a:solidFill>
              <a:latin typeface="Calibri"/>
              <a:ea typeface="Calibri"/>
              <a:cs typeface="Calibri"/>
              <a:sym typeface="Calibri"/>
            </a:endParaRPr>
          </a:p>
        </p:txBody>
      </p:sp>
      <p:sp>
        <p:nvSpPr>
          <p:cNvPr id="371" name="Google Shape;371;p11"/>
          <p:cNvSpPr/>
          <p:nvPr/>
        </p:nvSpPr>
        <p:spPr>
          <a:xfrm>
            <a:off x="5614416" y="2267712"/>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Admin-level controls</a:t>
            </a:r>
            <a:endParaRPr b="0" i="0" sz="850" u="none" cap="none" strike="noStrike">
              <a:solidFill>
                <a:schemeClr val="dk1"/>
              </a:solidFill>
              <a:latin typeface="Calibri"/>
              <a:ea typeface="Calibri"/>
              <a:cs typeface="Calibri"/>
              <a:sym typeface="Calibri"/>
            </a:endParaRPr>
          </a:p>
        </p:txBody>
      </p:sp>
      <p:sp>
        <p:nvSpPr>
          <p:cNvPr id="372" name="Google Shape;372;p11"/>
          <p:cNvSpPr/>
          <p:nvPr/>
        </p:nvSpPr>
        <p:spPr>
          <a:xfrm>
            <a:off x="7242048" y="960120"/>
            <a:ext cx="1627632" cy="278892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1"/>
          <p:cNvSpPr/>
          <p:nvPr/>
        </p:nvSpPr>
        <p:spPr>
          <a:xfrm>
            <a:off x="7242048" y="960120"/>
            <a:ext cx="1627632" cy="36576"/>
          </a:xfrm>
          <a:prstGeom prst="rect">
            <a:avLst/>
          </a:prstGeom>
          <a:solidFill>
            <a:srgbClr val="E8602A"/>
          </a:solidFill>
          <a:ln cap="flat" cmpd="sng" w="12700">
            <a:solidFill>
              <a:srgbClr val="E86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1"/>
          <p:cNvSpPr/>
          <p:nvPr/>
        </p:nvSpPr>
        <p:spPr>
          <a:xfrm>
            <a:off x="7333488" y="1051560"/>
            <a:ext cx="1444752"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1400"/>
              <a:buFont typeface="Calibri"/>
              <a:buNone/>
            </a:pPr>
            <a:r>
              <a:rPr b="1" i="0" lang="en-US" sz="1400" u="none" cap="none" strike="noStrike">
                <a:solidFill>
                  <a:srgbClr val="E8602A"/>
                </a:solidFill>
                <a:latin typeface="Calibri"/>
                <a:ea typeface="Calibri"/>
                <a:cs typeface="Calibri"/>
                <a:sym typeface="Calibri"/>
              </a:rPr>
              <a:t>Enterprise</a:t>
            </a:r>
            <a:endParaRPr b="0" i="0" sz="1400" u="none" cap="none" strike="noStrike">
              <a:solidFill>
                <a:schemeClr val="dk1"/>
              </a:solidFill>
              <a:latin typeface="Calibri"/>
              <a:ea typeface="Calibri"/>
              <a:cs typeface="Calibri"/>
              <a:sym typeface="Calibri"/>
            </a:endParaRPr>
          </a:p>
        </p:txBody>
      </p:sp>
      <p:sp>
        <p:nvSpPr>
          <p:cNvPr id="375" name="Google Shape;375;p11"/>
          <p:cNvSpPr/>
          <p:nvPr/>
        </p:nvSpPr>
        <p:spPr>
          <a:xfrm>
            <a:off x="7333488" y="1417320"/>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SSO (SAML/SCIM)</a:t>
            </a:r>
            <a:endParaRPr b="0" i="0" sz="850" u="none" cap="none" strike="noStrike">
              <a:solidFill>
                <a:schemeClr val="dk1"/>
              </a:solidFill>
              <a:latin typeface="Calibri"/>
              <a:ea typeface="Calibri"/>
              <a:cs typeface="Calibri"/>
              <a:sym typeface="Calibri"/>
            </a:endParaRPr>
          </a:p>
        </p:txBody>
      </p:sp>
      <p:sp>
        <p:nvSpPr>
          <p:cNvPr id="376" name="Google Shape;376;p11"/>
          <p:cNvSpPr/>
          <p:nvPr/>
        </p:nvSpPr>
        <p:spPr>
          <a:xfrm>
            <a:off x="7333488" y="1700784"/>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Audit logs + Compliance API</a:t>
            </a:r>
            <a:endParaRPr b="0" i="0" sz="850" u="none" cap="none" strike="noStrike">
              <a:solidFill>
                <a:schemeClr val="dk1"/>
              </a:solidFill>
              <a:latin typeface="Calibri"/>
              <a:ea typeface="Calibri"/>
              <a:cs typeface="Calibri"/>
              <a:sym typeface="Calibri"/>
            </a:endParaRPr>
          </a:p>
        </p:txBody>
      </p:sp>
      <p:sp>
        <p:nvSpPr>
          <p:cNvPr id="377" name="Google Shape;377;p11"/>
          <p:cNvSpPr/>
          <p:nvPr/>
        </p:nvSpPr>
        <p:spPr>
          <a:xfrm>
            <a:off x="7333488" y="1984248"/>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Regional data routing</a:t>
            </a:r>
            <a:endParaRPr b="0" i="0" sz="850" u="none" cap="none" strike="noStrike">
              <a:solidFill>
                <a:schemeClr val="dk1"/>
              </a:solidFill>
              <a:latin typeface="Calibri"/>
              <a:ea typeface="Calibri"/>
              <a:cs typeface="Calibri"/>
              <a:sym typeface="Calibri"/>
            </a:endParaRPr>
          </a:p>
        </p:txBody>
      </p:sp>
      <p:sp>
        <p:nvSpPr>
          <p:cNvPr id="378" name="Google Shape;378;p11"/>
          <p:cNvSpPr/>
          <p:nvPr/>
        </p:nvSpPr>
        <p:spPr>
          <a:xfrm>
            <a:off x="7333488" y="2267712"/>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Custom rate limits</a:t>
            </a:r>
            <a:endParaRPr b="0" i="0" sz="850" u="none" cap="none" strike="noStrike">
              <a:solidFill>
                <a:schemeClr val="dk1"/>
              </a:solidFill>
              <a:latin typeface="Calibri"/>
              <a:ea typeface="Calibri"/>
              <a:cs typeface="Calibri"/>
              <a:sym typeface="Calibri"/>
            </a:endParaRPr>
          </a:p>
        </p:txBody>
      </p:sp>
      <p:sp>
        <p:nvSpPr>
          <p:cNvPr id="379" name="Google Shape;379;p11"/>
          <p:cNvSpPr/>
          <p:nvPr/>
        </p:nvSpPr>
        <p:spPr>
          <a:xfrm>
            <a:off x="7333488" y="2551176"/>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Role-based access controls</a:t>
            </a:r>
            <a:endParaRPr b="0" i="0" sz="850" u="none" cap="none" strike="noStrike">
              <a:solidFill>
                <a:schemeClr val="dk1"/>
              </a:solidFill>
              <a:latin typeface="Calibri"/>
              <a:ea typeface="Calibri"/>
              <a:cs typeface="Calibri"/>
              <a:sym typeface="Calibri"/>
            </a:endParaRPr>
          </a:p>
        </p:txBody>
      </p:sp>
      <p:sp>
        <p:nvSpPr>
          <p:cNvPr id="380" name="Google Shape;380;p11"/>
          <p:cNvSpPr/>
          <p:nvPr/>
        </p:nvSpPr>
        <p:spPr>
          <a:xfrm>
            <a:off x="7333488" y="2834640"/>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OpenTelemetry observability</a:t>
            </a:r>
            <a:endParaRPr b="0" i="0" sz="850" u="none" cap="none" strike="noStrike">
              <a:solidFill>
                <a:schemeClr val="dk1"/>
              </a:solidFill>
              <a:latin typeface="Calibri"/>
              <a:ea typeface="Calibri"/>
              <a:cs typeface="Calibri"/>
              <a:sym typeface="Calibri"/>
            </a:endParaRPr>
          </a:p>
        </p:txBody>
      </p:sp>
      <p:sp>
        <p:nvSpPr>
          <p:cNvPr id="381" name="Google Shape;381;p11"/>
          <p:cNvSpPr/>
          <p:nvPr/>
        </p:nvSpPr>
        <p:spPr>
          <a:xfrm>
            <a:off x="7333488" y="3118104"/>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Group spend limits</a:t>
            </a:r>
            <a:endParaRPr b="0" i="0" sz="850" u="none" cap="none" strike="noStrike">
              <a:solidFill>
                <a:schemeClr val="dk1"/>
              </a:solidFill>
              <a:latin typeface="Calibri"/>
              <a:ea typeface="Calibri"/>
              <a:cs typeface="Calibri"/>
              <a:sym typeface="Calibri"/>
            </a:endParaRPr>
          </a:p>
        </p:txBody>
      </p:sp>
      <p:sp>
        <p:nvSpPr>
          <p:cNvPr id="382" name="Google Shape;382;p11"/>
          <p:cNvSpPr/>
          <p:nvPr/>
        </p:nvSpPr>
        <p:spPr>
          <a:xfrm>
            <a:off x="7333488" y="3401568"/>
            <a:ext cx="149047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850"/>
              <a:buFont typeface="Calibri"/>
              <a:buNone/>
            </a:pPr>
            <a:r>
              <a:rPr b="0" i="0" lang="en-US" sz="850" u="none" cap="none" strike="noStrike">
                <a:solidFill>
                  <a:srgbClr val="888898"/>
                </a:solidFill>
                <a:latin typeface="Calibri"/>
                <a:ea typeface="Calibri"/>
                <a:cs typeface="Calibri"/>
                <a:sym typeface="Calibri"/>
              </a:rPr>
              <a:t>›  No training on your data</a:t>
            </a:r>
            <a:endParaRPr b="0" i="0" sz="850" u="none" cap="none" strike="noStrike">
              <a:solidFill>
                <a:schemeClr val="dk1"/>
              </a:solidFill>
              <a:latin typeface="Calibri"/>
              <a:ea typeface="Calibri"/>
              <a:cs typeface="Calibri"/>
              <a:sym typeface="Calibri"/>
            </a:endParaRPr>
          </a:p>
        </p:txBody>
      </p:sp>
      <p:sp>
        <p:nvSpPr>
          <p:cNvPr id="383" name="Google Shape;383;p11"/>
          <p:cNvSpPr/>
          <p:nvPr/>
        </p:nvSpPr>
        <p:spPr>
          <a:xfrm>
            <a:off x="2491810" y="3869755"/>
            <a:ext cx="4160400" cy="109740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1"/>
          <p:cNvSpPr/>
          <p:nvPr/>
        </p:nvSpPr>
        <p:spPr>
          <a:xfrm>
            <a:off x="2583176" y="3904507"/>
            <a:ext cx="3977700" cy="155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SECURITY &amp; COMPLIANCE</a:t>
            </a:r>
            <a:endParaRPr b="0" i="0" sz="800" u="none" cap="none" strike="noStrike">
              <a:solidFill>
                <a:schemeClr val="dk1"/>
              </a:solidFill>
              <a:latin typeface="Calibri"/>
              <a:ea typeface="Calibri"/>
              <a:cs typeface="Calibri"/>
              <a:sym typeface="Calibri"/>
            </a:endParaRPr>
          </a:p>
        </p:txBody>
      </p:sp>
      <p:sp>
        <p:nvSpPr>
          <p:cNvPr id="385" name="Google Shape;385;p11"/>
          <p:cNvSpPr/>
          <p:nvPr/>
        </p:nvSpPr>
        <p:spPr>
          <a:xfrm>
            <a:off x="2606038" y="4069086"/>
            <a:ext cx="3931800" cy="82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602A"/>
              </a:buClr>
              <a:buSzPts val="900"/>
              <a:buFont typeface="Calibri"/>
              <a:buNone/>
            </a:pPr>
            <a:r>
              <a:rPr b="1" i="0" lang="en-US" sz="900" u="none" cap="none" strike="noStrike">
                <a:solidFill>
                  <a:srgbClr val="E8602A"/>
                </a:solidFill>
                <a:latin typeface="Calibri"/>
                <a:ea typeface="Calibri"/>
                <a:cs typeface="Calibri"/>
                <a:sym typeface="Calibri"/>
              </a:rPr>
              <a:t>›  </a:t>
            </a:r>
            <a:r>
              <a:rPr b="0" i="0" lang="en-US" sz="900" u="none" cap="none" strike="noStrike">
                <a:solidFill>
                  <a:srgbClr val="888898"/>
                </a:solidFill>
                <a:latin typeface="Calibri"/>
                <a:ea typeface="Calibri"/>
                <a:cs typeface="Calibri"/>
                <a:sym typeface="Calibri"/>
              </a:rPr>
              <a:t>Prompt injection resistance</a:t>
            </a:r>
            <a:r>
              <a:rPr lang="en-US" sz="900">
                <a:solidFill>
                  <a:srgbClr val="888898"/>
                </a:solidFill>
                <a:latin typeface="Calibri"/>
                <a:ea typeface="Calibri"/>
                <a:cs typeface="Calibri"/>
                <a:sym typeface="Calibri"/>
              </a:rPr>
              <a:t>.</a:t>
            </a:r>
            <a:r>
              <a:rPr b="0" i="0" lang="en-US" sz="900" u="none" cap="none" strike="noStrike">
                <a:solidFill>
                  <a:srgbClr val="888898"/>
                </a:solidFill>
                <a:latin typeface="Calibri"/>
                <a:ea typeface="Calibri"/>
                <a:cs typeface="Calibri"/>
                <a:sym typeface="Calibri"/>
              </a:rPr>
              <a:t> </a:t>
            </a:r>
            <a:r>
              <a:rPr lang="en-US" sz="900">
                <a:solidFill>
                  <a:srgbClr val="888898"/>
                </a:solidFill>
                <a:latin typeface="Calibri"/>
                <a:ea typeface="Calibri"/>
                <a:cs typeface="Calibri"/>
                <a:sym typeface="Calibri"/>
              </a:rPr>
              <a:t>Cri</a:t>
            </a:r>
            <a:r>
              <a:rPr b="0" i="0" lang="en-US" sz="900" u="none" cap="none" strike="noStrike">
                <a:solidFill>
                  <a:srgbClr val="888898"/>
                </a:solidFill>
                <a:latin typeface="Calibri"/>
                <a:ea typeface="Calibri"/>
                <a:cs typeface="Calibri"/>
                <a:sym typeface="Calibri"/>
              </a:rPr>
              <a:t>tical for agentic workflows reading untrusted external data.</a:t>
            </a:r>
            <a:endParaRPr b="0" i="0" sz="9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E8602A"/>
              </a:buClr>
              <a:buSzPts val="900"/>
              <a:buFont typeface="Calibri"/>
              <a:buNone/>
            </a:pPr>
            <a:r>
              <a:rPr b="1" i="0" lang="en-US" sz="900" u="none" cap="none" strike="noStrike">
                <a:solidFill>
                  <a:srgbClr val="E8602A"/>
                </a:solidFill>
                <a:latin typeface="Calibri"/>
                <a:ea typeface="Calibri"/>
                <a:cs typeface="Calibri"/>
                <a:sym typeface="Calibri"/>
              </a:rPr>
              <a:t>›  </a:t>
            </a:r>
            <a:r>
              <a:rPr b="0" i="0" lang="en-US" sz="900" u="none" cap="none" strike="noStrike">
                <a:solidFill>
                  <a:srgbClr val="888898"/>
                </a:solidFill>
                <a:latin typeface="Calibri"/>
                <a:ea typeface="Calibri"/>
                <a:cs typeface="Calibri"/>
                <a:sym typeface="Calibri"/>
              </a:rPr>
              <a:t>No training on Team/Enterprise data</a:t>
            </a:r>
            <a:endParaRPr b="0" i="0" sz="9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E8602A"/>
              </a:buClr>
              <a:buSzPts val="900"/>
              <a:buFont typeface="Calibri"/>
              <a:buNone/>
            </a:pPr>
            <a:r>
              <a:rPr b="1" i="0" lang="en-US" sz="900" u="none" cap="none" strike="noStrike">
                <a:solidFill>
                  <a:srgbClr val="E8602A"/>
                </a:solidFill>
                <a:latin typeface="Calibri"/>
                <a:ea typeface="Calibri"/>
                <a:cs typeface="Calibri"/>
                <a:sym typeface="Calibri"/>
              </a:rPr>
              <a:t>›  </a:t>
            </a:r>
            <a:r>
              <a:rPr b="0" i="0" lang="en-US" sz="900" u="none" cap="none" strike="noStrike">
                <a:solidFill>
                  <a:srgbClr val="888898"/>
                </a:solidFill>
                <a:latin typeface="Calibri"/>
                <a:ea typeface="Calibri"/>
                <a:cs typeface="Calibri"/>
                <a:sym typeface="Calibri"/>
              </a:rPr>
              <a:t>Regional routing</a:t>
            </a:r>
            <a:r>
              <a:rPr lang="en-US" sz="900">
                <a:solidFill>
                  <a:srgbClr val="888898"/>
                </a:solidFill>
                <a:latin typeface="Calibri"/>
                <a:ea typeface="Calibri"/>
                <a:cs typeface="Calibri"/>
                <a:sym typeface="Calibri"/>
              </a:rPr>
              <a:t>. </a:t>
            </a:r>
            <a:r>
              <a:rPr b="0" i="0" lang="en-US" sz="900" u="none" cap="none" strike="noStrike">
                <a:solidFill>
                  <a:srgbClr val="888898"/>
                </a:solidFill>
                <a:latin typeface="Calibri"/>
                <a:ea typeface="Calibri"/>
                <a:cs typeface="Calibri"/>
                <a:sym typeface="Calibri"/>
              </a:rPr>
              <a:t>Bedrock &amp; Vertex AI guarantee geographic data routing for compliance requirements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90C"/>
        </a:solidFill>
      </p:bgPr>
    </p:bg>
    <p:spTree>
      <p:nvGrpSpPr>
        <p:cNvPr id="390" name="Shape 390"/>
        <p:cNvGrpSpPr/>
        <p:nvPr/>
      </p:nvGrpSpPr>
      <p:grpSpPr>
        <a:xfrm>
          <a:off x="0" y="0"/>
          <a:ext cx="0" cy="0"/>
          <a:chOff x="0" y="0"/>
          <a:chExt cx="0" cy="0"/>
        </a:xfrm>
      </p:grpSpPr>
      <p:sp>
        <p:nvSpPr>
          <p:cNvPr id="391" name="Google Shape;391;p12"/>
          <p:cNvSpPr/>
          <p:nvPr/>
        </p:nvSpPr>
        <p:spPr>
          <a:xfrm>
            <a:off x="365760" y="164592"/>
            <a:ext cx="84124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SRE APPLICATION</a:t>
            </a:r>
            <a:endParaRPr b="0" i="0" sz="800" u="none" cap="none" strike="noStrike">
              <a:solidFill>
                <a:schemeClr val="dk1"/>
              </a:solidFill>
              <a:latin typeface="Calibri"/>
              <a:ea typeface="Calibri"/>
              <a:cs typeface="Calibri"/>
              <a:sym typeface="Calibri"/>
            </a:endParaRPr>
          </a:p>
        </p:txBody>
      </p:sp>
      <p:sp>
        <p:nvSpPr>
          <p:cNvPr id="392" name="Google Shape;392;p12"/>
          <p:cNvSpPr/>
          <p:nvPr/>
        </p:nvSpPr>
        <p:spPr>
          <a:xfrm>
            <a:off x="365760" y="347472"/>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2200"/>
              <a:buFont typeface="Calibri"/>
              <a:buNone/>
            </a:pPr>
            <a:r>
              <a:rPr b="1" i="0" lang="en-US" sz="2200" u="none" cap="none" strike="noStrike">
                <a:solidFill>
                  <a:srgbClr val="EEEEF2"/>
                </a:solidFill>
                <a:latin typeface="Calibri"/>
                <a:ea typeface="Calibri"/>
                <a:cs typeface="Calibri"/>
                <a:sym typeface="Calibri"/>
              </a:rPr>
              <a:t>SRE Use Cases — Incident Response &amp; Observability</a:t>
            </a:r>
            <a:endParaRPr b="0" i="0" sz="2200" u="none" cap="none" strike="noStrike">
              <a:solidFill>
                <a:schemeClr val="dk1"/>
              </a:solidFill>
              <a:latin typeface="Calibri"/>
              <a:ea typeface="Calibri"/>
              <a:cs typeface="Calibri"/>
              <a:sym typeface="Calibri"/>
            </a:endParaRPr>
          </a:p>
        </p:txBody>
      </p:sp>
      <p:sp>
        <p:nvSpPr>
          <p:cNvPr id="393" name="Google Shape;393;p12"/>
          <p:cNvSpPr/>
          <p:nvPr/>
        </p:nvSpPr>
        <p:spPr>
          <a:xfrm>
            <a:off x="365760" y="822960"/>
            <a:ext cx="8412480" cy="16459"/>
          </a:xfrm>
          <a:prstGeom prst="rect">
            <a:avLst/>
          </a:prstGeom>
          <a:solidFill>
            <a:srgbClr val="2A2A38"/>
          </a:solidFill>
          <a:ln cap="flat" cmpd="sng" w="12700">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2"/>
          <p:cNvSpPr/>
          <p:nvPr/>
        </p:nvSpPr>
        <p:spPr>
          <a:xfrm>
            <a:off x="365760" y="960120"/>
            <a:ext cx="4160520" cy="315468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2"/>
          <p:cNvSpPr/>
          <p:nvPr/>
        </p:nvSpPr>
        <p:spPr>
          <a:xfrm>
            <a:off x="365760" y="960120"/>
            <a:ext cx="45720" cy="3154680"/>
          </a:xfrm>
          <a:prstGeom prst="rect">
            <a:avLst/>
          </a:prstGeom>
          <a:solidFill>
            <a:srgbClr val="E8602A"/>
          </a:solidFill>
          <a:ln cap="flat" cmpd="sng" w="12700">
            <a:solidFill>
              <a:srgbClr val="E86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2"/>
          <p:cNvSpPr/>
          <p:nvPr/>
        </p:nvSpPr>
        <p:spPr>
          <a:xfrm>
            <a:off x="475488" y="1033272"/>
            <a:ext cx="3977640" cy="1554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INCIDENT RESPONSE</a:t>
            </a:r>
            <a:endParaRPr b="0" i="0" sz="800" u="none" cap="none" strike="noStrike">
              <a:solidFill>
                <a:schemeClr val="dk1"/>
              </a:solidFill>
              <a:latin typeface="Calibri"/>
              <a:ea typeface="Calibri"/>
              <a:cs typeface="Calibri"/>
              <a:sym typeface="Calibri"/>
            </a:endParaRPr>
          </a:p>
        </p:txBody>
      </p:sp>
      <p:sp>
        <p:nvSpPr>
          <p:cNvPr id="397" name="Google Shape;397;p12"/>
          <p:cNvSpPr/>
          <p:nvPr/>
        </p:nvSpPr>
        <p:spPr>
          <a:xfrm>
            <a:off x="475488" y="1188720"/>
            <a:ext cx="3931920" cy="28529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602A"/>
              </a:buClr>
              <a:buSzPts val="900"/>
              <a:buFont typeface="Calibri"/>
              <a:buNone/>
            </a:pPr>
            <a:r>
              <a:rPr b="1" i="0" lang="en-US" sz="900" u="none" cap="none" strike="noStrike">
                <a:solidFill>
                  <a:srgbClr val="E8602A"/>
                </a:solidFill>
                <a:latin typeface="Calibri"/>
                <a:ea typeface="Calibri"/>
                <a:cs typeface="Calibri"/>
                <a:sym typeface="Calibri"/>
              </a:rPr>
              <a:t>›  </a:t>
            </a:r>
            <a:r>
              <a:rPr b="1" i="0" lang="en-US" sz="900" u="none" cap="none" strike="noStrike">
                <a:solidFill>
                  <a:srgbClr val="EEEEF2"/>
                </a:solidFill>
                <a:latin typeface="Calibri"/>
                <a:ea typeface="Calibri"/>
                <a:cs typeface="Calibri"/>
                <a:sym typeface="Calibri"/>
              </a:rPr>
              <a:t>Log &amp; trace analysis at scale</a:t>
            </a:r>
            <a:r>
              <a:rPr b="1" lang="en-US" sz="900">
                <a:solidFill>
                  <a:srgbClr val="EEEEF2"/>
                </a:solidFill>
                <a:latin typeface="Calibri"/>
                <a:ea typeface="Calibri"/>
                <a:cs typeface="Calibri"/>
                <a:sym typeface="Calibri"/>
              </a:rPr>
              <a:t>: I</a:t>
            </a:r>
            <a:r>
              <a:rPr b="1" i="0" lang="en-US" sz="900" u="none" cap="none" strike="noStrike">
                <a:solidFill>
                  <a:srgbClr val="EEEEF2"/>
                </a:solidFill>
                <a:latin typeface="Calibri"/>
                <a:ea typeface="Calibri"/>
                <a:cs typeface="Calibri"/>
                <a:sym typeface="Calibri"/>
              </a:rPr>
              <a:t>ngest up to 75K lines of raw logs, stack traces, or distributed traces in a single request. No pre-filtering or truncation before you can ask a useful question.</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E8602A"/>
              </a:buClr>
              <a:buSzPts val="900"/>
              <a:buFont typeface="Calibri"/>
              <a:buNone/>
            </a:pPr>
            <a:r>
              <a:rPr b="1" i="0" lang="en-US" sz="900" u="none" cap="none" strike="noStrike">
                <a:solidFill>
                  <a:srgbClr val="E8602A"/>
                </a:solidFill>
                <a:latin typeface="Calibri"/>
                <a:ea typeface="Calibri"/>
                <a:cs typeface="Calibri"/>
                <a:sym typeface="Calibri"/>
              </a:rPr>
              <a:t>›  </a:t>
            </a:r>
            <a:r>
              <a:rPr b="1" i="0" lang="en-US" sz="900" u="none" cap="none" strike="noStrike">
                <a:solidFill>
                  <a:srgbClr val="EEEEF2"/>
                </a:solidFill>
                <a:latin typeface="Calibri"/>
                <a:ea typeface="Calibri"/>
                <a:cs typeface="Calibri"/>
                <a:sym typeface="Calibri"/>
              </a:rPr>
              <a:t>Runbook-assisted triage</a:t>
            </a:r>
            <a:r>
              <a:rPr b="1" lang="en-US" sz="900">
                <a:solidFill>
                  <a:srgbClr val="EEEEF2"/>
                </a:solidFill>
                <a:latin typeface="Calibri"/>
                <a:ea typeface="Calibri"/>
                <a:cs typeface="Calibri"/>
                <a:sym typeface="Calibri"/>
              </a:rPr>
              <a:t>: Lo</a:t>
            </a:r>
            <a:r>
              <a:rPr b="1" i="0" lang="en-US" sz="900" u="none" cap="none" strike="noStrike">
                <a:solidFill>
                  <a:srgbClr val="EEEEF2"/>
                </a:solidFill>
                <a:latin typeface="Calibri"/>
                <a:ea typeface="Calibri"/>
                <a:cs typeface="Calibri"/>
                <a:sym typeface="Calibri"/>
              </a:rPr>
              <a:t>ad your runbook library alongside incident data. Claude cross-references both simultaneously and surfaces relevant remediation steps for the specific failure mode.</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E8602A"/>
              </a:buClr>
              <a:buSzPts val="900"/>
              <a:buFont typeface="Calibri"/>
              <a:buNone/>
            </a:pPr>
            <a:r>
              <a:rPr b="1" i="0" lang="en-US" sz="900" u="none" cap="none" strike="noStrike">
                <a:solidFill>
                  <a:srgbClr val="E8602A"/>
                </a:solidFill>
                <a:latin typeface="Calibri"/>
                <a:ea typeface="Calibri"/>
                <a:cs typeface="Calibri"/>
                <a:sym typeface="Calibri"/>
              </a:rPr>
              <a:t>›  </a:t>
            </a:r>
            <a:r>
              <a:rPr b="1" i="0" lang="en-US" sz="900" u="none" cap="none" strike="noStrike">
                <a:solidFill>
                  <a:srgbClr val="EEEEF2"/>
                </a:solidFill>
                <a:latin typeface="Calibri"/>
                <a:ea typeface="Calibri"/>
                <a:cs typeface="Calibri"/>
                <a:sym typeface="Calibri"/>
              </a:rPr>
              <a:t>Post-mortem generation</a:t>
            </a:r>
            <a:r>
              <a:rPr b="1" lang="en-US" sz="900">
                <a:solidFill>
                  <a:srgbClr val="EEEEF2"/>
                </a:solidFill>
                <a:latin typeface="Calibri"/>
                <a:ea typeface="Calibri"/>
                <a:cs typeface="Calibri"/>
                <a:sym typeface="Calibri"/>
              </a:rPr>
              <a:t>: S</a:t>
            </a:r>
            <a:r>
              <a:rPr b="1" i="0" lang="en-US" sz="900" u="none" cap="none" strike="noStrike">
                <a:solidFill>
                  <a:srgbClr val="EEEEF2"/>
                </a:solidFill>
                <a:latin typeface="Calibri"/>
                <a:ea typeface="Calibri"/>
                <a:cs typeface="Calibri"/>
                <a:sym typeface="Calibri"/>
              </a:rPr>
              <a:t>tructured post-mortem draft from a raw Slack thread, alert history, or PagerDuty timeline in minutes. Edit rather than write from scratch.</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E8602A"/>
              </a:buClr>
              <a:buSzPts val="900"/>
              <a:buFont typeface="Calibri"/>
              <a:buNone/>
            </a:pPr>
            <a:r>
              <a:rPr b="1" i="0" lang="en-US" sz="900" u="none" cap="none" strike="noStrike">
                <a:solidFill>
                  <a:srgbClr val="E8602A"/>
                </a:solidFill>
                <a:latin typeface="Calibri"/>
                <a:ea typeface="Calibri"/>
                <a:cs typeface="Calibri"/>
                <a:sym typeface="Calibri"/>
              </a:rPr>
              <a:t>›  </a:t>
            </a:r>
            <a:r>
              <a:rPr b="1" i="0" lang="en-US" sz="900" u="none" cap="none" strike="noStrike">
                <a:solidFill>
                  <a:srgbClr val="EEEEF2"/>
                </a:solidFill>
                <a:latin typeface="Calibri"/>
                <a:ea typeface="Calibri"/>
                <a:cs typeface="Calibri"/>
                <a:sym typeface="Calibri"/>
              </a:rPr>
              <a:t>MCP-connected live triage</a:t>
            </a:r>
            <a:r>
              <a:rPr b="1" lang="en-US" sz="900">
                <a:solidFill>
                  <a:srgbClr val="EEEEF2"/>
                </a:solidFill>
                <a:latin typeface="Calibri"/>
                <a:ea typeface="Calibri"/>
                <a:cs typeface="Calibri"/>
                <a:sym typeface="Calibri"/>
              </a:rPr>
              <a:t>: </a:t>
            </a:r>
            <a:r>
              <a:rPr b="1" i="0" lang="en-US" sz="900" u="none" cap="none" strike="noStrike">
                <a:solidFill>
                  <a:srgbClr val="EEEEF2"/>
                </a:solidFill>
                <a:latin typeface="Calibri"/>
                <a:ea typeface="Calibri"/>
                <a:cs typeface="Calibri"/>
                <a:sym typeface="Calibri"/>
              </a:rPr>
              <a:t>with PagerDuty + Datadog MCP servers connected, Claude pulls the live alert, cross-references historical incidents, proposes a fix</a:t>
            </a:r>
            <a:r>
              <a:rPr b="1" lang="en-US" sz="900">
                <a:solidFill>
                  <a:srgbClr val="EEEEF2"/>
                </a:solidFill>
                <a:latin typeface="Calibri"/>
                <a:ea typeface="Calibri"/>
                <a:cs typeface="Calibri"/>
                <a:sym typeface="Calibri"/>
              </a:rPr>
              <a:t>, all </a:t>
            </a:r>
            <a:r>
              <a:rPr b="1" i="0" lang="en-US" sz="900" u="none" cap="none" strike="noStrike">
                <a:solidFill>
                  <a:srgbClr val="EEEEF2"/>
                </a:solidFill>
                <a:latin typeface="Calibri"/>
                <a:ea typeface="Calibri"/>
                <a:cs typeface="Calibri"/>
                <a:sym typeface="Calibri"/>
              </a:rPr>
              <a:t>without you having to leav</a:t>
            </a:r>
            <a:r>
              <a:rPr b="1" lang="en-US" sz="900">
                <a:solidFill>
                  <a:srgbClr val="EEEEF2"/>
                </a:solidFill>
                <a:latin typeface="Calibri"/>
                <a:ea typeface="Calibri"/>
                <a:cs typeface="Calibri"/>
                <a:sym typeface="Calibri"/>
              </a:rPr>
              <a:t>e</a:t>
            </a:r>
            <a:r>
              <a:rPr b="1" i="0" lang="en-US" sz="900" u="none" cap="none" strike="noStrike">
                <a:solidFill>
                  <a:srgbClr val="EEEEF2"/>
                </a:solidFill>
                <a:latin typeface="Calibri"/>
                <a:ea typeface="Calibri"/>
                <a:cs typeface="Calibri"/>
                <a:sym typeface="Calibri"/>
              </a:rPr>
              <a:t> the terminal.</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E8602A"/>
              </a:buClr>
              <a:buSzPts val="900"/>
              <a:buFont typeface="Calibri"/>
              <a:buNone/>
            </a:pPr>
            <a:r>
              <a:rPr b="1" i="0" lang="en-US" sz="900" u="none" cap="none" strike="noStrike">
                <a:solidFill>
                  <a:srgbClr val="E8602A"/>
                </a:solidFill>
                <a:latin typeface="Calibri"/>
                <a:ea typeface="Calibri"/>
                <a:cs typeface="Calibri"/>
                <a:sym typeface="Calibri"/>
              </a:rPr>
              <a:t>›  </a:t>
            </a:r>
            <a:r>
              <a:rPr b="1" i="0" lang="en-US" sz="900" u="none" cap="none" strike="noStrike">
                <a:solidFill>
                  <a:srgbClr val="EEEEF2"/>
                </a:solidFill>
                <a:latin typeface="Calibri"/>
                <a:ea typeface="Calibri"/>
                <a:cs typeface="Calibri"/>
                <a:sym typeface="Calibri"/>
              </a:rPr>
              <a:t>On-call handoff summaries</a:t>
            </a:r>
            <a:r>
              <a:rPr b="1" lang="en-US" sz="900">
                <a:solidFill>
                  <a:srgbClr val="EEEEF2"/>
                </a:solidFill>
                <a:latin typeface="Calibri"/>
                <a:ea typeface="Calibri"/>
                <a:cs typeface="Calibri"/>
                <a:sym typeface="Calibri"/>
              </a:rPr>
              <a:t>: S</a:t>
            </a:r>
            <a:r>
              <a:rPr b="1" i="0" lang="en-US" sz="900" u="none" cap="none" strike="noStrike">
                <a:solidFill>
                  <a:srgbClr val="EEEEF2"/>
                </a:solidFill>
                <a:latin typeface="Calibri"/>
                <a:ea typeface="Calibri"/>
                <a:cs typeface="Calibri"/>
                <a:sym typeface="Calibri"/>
              </a:rPr>
              <a:t>ummarize the last 8 hours of alerts, deployments, and Slack discussion into a structured handoff doc at shift change.</a:t>
            </a:r>
            <a:endParaRPr b="0" i="0" sz="900" u="none" cap="none" strike="noStrike">
              <a:solidFill>
                <a:schemeClr val="dk1"/>
              </a:solidFill>
              <a:latin typeface="Calibri"/>
              <a:ea typeface="Calibri"/>
              <a:cs typeface="Calibri"/>
              <a:sym typeface="Calibri"/>
            </a:endParaRPr>
          </a:p>
        </p:txBody>
      </p:sp>
      <p:sp>
        <p:nvSpPr>
          <p:cNvPr id="398" name="Google Shape;398;p12"/>
          <p:cNvSpPr/>
          <p:nvPr/>
        </p:nvSpPr>
        <p:spPr>
          <a:xfrm>
            <a:off x="4663440" y="960120"/>
            <a:ext cx="4114800" cy="315468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2"/>
          <p:cNvSpPr/>
          <p:nvPr/>
        </p:nvSpPr>
        <p:spPr>
          <a:xfrm>
            <a:off x="4663440" y="960120"/>
            <a:ext cx="45720" cy="3154680"/>
          </a:xfrm>
          <a:prstGeom prst="rect">
            <a:avLst/>
          </a:prstGeom>
          <a:solidFill>
            <a:srgbClr val="1DC9A8"/>
          </a:solidFill>
          <a:ln cap="flat" cmpd="sng" w="12700">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2"/>
          <p:cNvSpPr/>
          <p:nvPr/>
        </p:nvSpPr>
        <p:spPr>
          <a:xfrm>
            <a:off x="4773168" y="1033272"/>
            <a:ext cx="3931920" cy="1554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DC9A8"/>
              </a:buClr>
              <a:buSzPts val="800"/>
              <a:buFont typeface="Calibri"/>
              <a:buNone/>
            </a:pPr>
            <a:r>
              <a:rPr b="1" i="0" lang="en-US" sz="800" u="none" cap="none" strike="noStrike">
                <a:solidFill>
                  <a:srgbClr val="1DC9A8"/>
                </a:solidFill>
                <a:latin typeface="Calibri"/>
                <a:ea typeface="Calibri"/>
                <a:cs typeface="Calibri"/>
                <a:sym typeface="Calibri"/>
              </a:rPr>
              <a:t>OBSERVABILITY</a:t>
            </a:r>
            <a:endParaRPr b="0" i="0" sz="800" u="none" cap="none" strike="noStrike">
              <a:solidFill>
                <a:schemeClr val="dk1"/>
              </a:solidFill>
              <a:latin typeface="Calibri"/>
              <a:ea typeface="Calibri"/>
              <a:cs typeface="Calibri"/>
              <a:sym typeface="Calibri"/>
            </a:endParaRPr>
          </a:p>
        </p:txBody>
      </p:sp>
      <p:sp>
        <p:nvSpPr>
          <p:cNvPr id="401" name="Google Shape;401;p12"/>
          <p:cNvSpPr/>
          <p:nvPr/>
        </p:nvSpPr>
        <p:spPr>
          <a:xfrm>
            <a:off x="4773168" y="1188720"/>
            <a:ext cx="3886200" cy="28529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DC9A8"/>
              </a:buClr>
              <a:buSzPts val="900"/>
              <a:buFont typeface="Calibri"/>
              <a:buNone/>
            </a:pPr>
            <a:r>
              <a:rPr b="1" i="0" lang="en-US" sz="900" u="none" cap="none" strike="noStrike">
                <a:solidFill>
                  <a:schemeClr val="lt1"/>
                </a:solidFill>
                <a:latin typeface="Calibri"/>
                <a:ea typeface="Calibri"/>
                <a:cs typeface="Calibri"/>
                <a:sym typeface="Calibri"/>
              </a:rPr>
              <a:t>›  </a:t>
            </a:r>
            <a:r>
              <a:rPr b="1" i="0" lang="en-US" sz="900" u="none" cap="none" strike="noStrike">
                <a:solidFill>
                  <a:schemeClr val="lt1"/>
                </a:solidFill>
                <a:latin typeface="Calibri"/>
                <a:ea typeface="Calibri"/>
                <a:cs typeface="Calibri"/>
                <a:sym typeface="Calibri"/>
              </a:rPr>
              <a:t>Query generation</a:t>
            </a:r>
            <a:r>
              <a:rPr b="1" lang="en-US" sz="900">
                <a:solidFill>
                  <a:schemeClr val="lt1"/>
                </a:solidFill>
                <a:latin typeface="Calibri"/>
                <a:ea typeface="Calibri"/>
                <a:cs typeface="Calibri"/>
                <a:sym typeface="Calibri"/>
              </a:rPr>
              <a:t>: </a:t>
            </a:r>
            <a:r>
              <a:rPr b="1" i="0" lang="en-US" sz="900" u="none" cap="none" strike="noStrike">
                <a:solidFill>
                  <a:schemeClr val="lt1"/>
                </a:solidFill>
                <a:latin typeface="Calibri"/>
                <a:ea typeface="Calibri"/>
                <a:cs typeface="Calibri"/>
                <a:sym typeface="Calibri"/>
              </a:rPr>
              <a:t> </a:t>
            </a:r>
            <a:r>
              <a:rPr b="1" lang="en-US" sz="900">
                <a:solidFill>
                  <a:schemeClr val="lt1"/>
                </a:solidFill>
                <a:latin typeface="Calibri"/>
                <a:ea typeface="Calibri"/>
                <a:cs typeface="Calibri"/>
                <a:sym typeface="Calibri"/>
              </a:rPr>
              <a:t>G</a:t>
            </a:r>
            <a:r>
              <a:rPr b="1" i="0" lang="en-US" sz="900" u="none" cap="none" strike="noStrike">
                <a:solidFill>
                  <a:schemeClr val="lt1"/>
                </a:solidFill>
                <a:latin typeface="Calibri"/>
                <a:ea typeface="Calibri"/>
                <a:cs typeface="Calibri"/>
                <a:sym typeface="Calibri"/>
              </a:rPr>
              <a:t>enerate PromQL, LogQL, or Splunk SPL from plain-English descriptions. Explain what existing queries do and suggest optimizations.</a:t>
            </a:r>
            <a:endParaRPr b="1" i="0" sz="900" u="none" cap="none" strike="noStrike">
              <a:solidFill>
                <a:schemeClr val="lt1"/>
              </a:solidFill>
              <a:latin typeface="Calibri"/>
              <a:ea typeface="Calibri"/>
              <a:cs typeface="Calibri"/>
              <a:sym typeface="Calibri"/>
            </a:endParaRPr>
          </a:p>
          <a:p>
            <a:pPr indent="0" lvl="0" marL="0" marR="0" rtl="0" algn="l">
              <a:spcBef>
                <a:spcPts val="500"/>
              </a:spcBef>
              <a:spcAft>
                <a:spcPts val="0"/>
              </a:spcAft>
              <a:buClr>
                <a:srgbClr val="1DC9A8"/>
              </a:buClr>
              <a:buSzPts val="900"/>
              <a:buFont typeface="Calibri"/>
              <a:buNone/>
            </a:pPr>
            <a:r>
              <a:rPr b="1" i="0" lang="en-US" sz="900" u="none" cap="none" strike="noStrike">
                <a:solidFill>
                  <a:schemeClr val="lt1"/>
                </a:solidFill>
                <a:latin typeface="Calibri"/>
                <a:ea typeface="Calibri"/>
                <a:cs typeface="Calibri"/>
                <a:sym typeface="Calibri"/>
              </a:rPr>
              <a:t>›  </a:t>
            </a:r>
            <a:r>
              <a:rPr b="1" i="0" lang="en-US" sz="900" u="none" cap="none" strike="noStrike">
                <a:solidFill>
                  <a:schemeClr val="lt1"/>
                </a:solidFill>
                <a:latin typeface="Calibri"/>
                <a:ea typeface="Calibri"/>
                <a:cs typeface="Calibri"/>
                <a:sym typeface="Calibri"/>
              </a:rPr>
              <a:t>Alert noise analysis</a:t>
            </a:r>
            <a:r>
              <a:rPr b="1" lang="en-US" sz="900">
                <a:solidFill>
                  <a:schemeClr val="lt1"/>
                </a:solidFill>
                <a:latin typeface="Calibri"/>
                <a:ea typeface="Calibri"/>
                <a:cs typeface="Calibri"/>
                <a:sym typeface="Calibri"/>
              </a:rPr>
              <a:t>: S</a:t>
            </a:r>
            <a:r>
              <a:rPr b="1" i="0" lang="en-US" sz="900" u="none" cap="none" strike="noStrike">
                <a:solidFill>
                  <a:schemeClr val="lt1"/>
                </a:solidFill>
                <a:latin typeface="Calibri"/>
                <a:ea typeface="Calibri"/>
                <a:cs typeface="Calibri"/>
                <a:sym typeface="Calibri"/>
              </a:rPr>
              <a:t>ummarize weeks of alert history to identify noise vs. signal patterns, flapping alerts, and correlated failure modes.</a:t>
            </a:r>
            <a:endParaRPr b="1" i="0" sz="900" u="none" cap="none" strike="noStrike">
              <a:solidFill>
                <a:schemeClr val="lt1"/>
              </a:solidFill>
              <a:latin typeface="Calibri"/>
              <a:ea typeface="Calibri"/>
              <a:cs typeface="Calibri"/>
              <a:sym typeface="Calibri"/>
            </a:endParaRPr>
          </a:p>
          <a:p>
            <a:pPr indent="0" lvl="0" marL="0" marR="0" rtl="0" algn="l">
              <a:spcBef>
                <a:spcPts val="500"/>
              </a:spcBef>
              <a:spcAft>
                <a:spcPts val="0"/>
              </a:spcAft>
              <a:buClr>
                <a:srgbClr val="1DC9A8"/>
              </a:buClr>
              <a:buSzPts val="900"/>
              <a:buFont typeface="Calibri"/>
              <a:buNone/>
            </a:pPr>
            <a:r>
              <a:rPr b="1" i="0" lang="en-US" sz="900" u="none" cap="none" strike="noStrike">
                <a:solidFill>
                  <a:schemeClr val="lt1"/>
                </a:solidFill>
                <a:latin typeface="Calibri"/>
                <a:ea typeface="Calibri"/>
                <a:cs typeface="Calibri"/>
                <a:sym typeface="Calibri"/>
              </a:rPr>
              <a:t>›  </a:t>
            </a:r>
            <a:r>
              <a:rPr b="1" i="0" lang="en-US" sz="900" u="none" cap="none" strike="noStrike">
                <a:solidFill>
                  <a:schemeClr val="lt1"/>
                </a:solidFill>
                <a:latin typeface="Calibri"/>
                <a:ea typeface="Calibri"/>
                <a:cs typeface="Calibri"/>
                <a:sym typeface="Calibri"/>
              </a:rPr>
              <a:t>SLO drafting</a:t>
            </a:r>
            <a:r>
              <a:rPr b="1" lang="en-US" sz="900">
                <a:solidFill>
                  <a:schemeClr val="lt1"/>
                </a:solidFill>
                <a:latin typeface="Calibri"/>
                <a:ea typeface="Calibri"/>
                <a:cs typeface="Calibri"/>
                <a:sym typeface="Calibri"/>
              </a:rPr>
              <a:t>:</a:t>
            </a:r>
            <a:r>
              <a:rPr b="1" i="0" lang="en-US" sz="900" u="none" cap="none" strike="noStrike">
                <a:solidFill>
                  <a:schemeClr val="lt1"/>
                </a:solidFill>
                <a:latin typeface="Calibri"/>
                <a:ea typeface="Calibri"/>
                <a:cs typeface="Calibri"/>
                <a:sym typeface="Calibri"/>
              </a:rPr>
              <a:t> </a:t>
            </a:r>
            <a:r>
              <a:rPr b="1" lang="en-US" sz="900">
                <a:solidFill>
                  <a:schemeClr val="lt1"/>
                </a:solidFill>
                <a:latin typeface="Calibri"/>
                <a:ea typeface="Calibri"/>
                <a:cs typeface="Calibri"/>
                <a:sym typeface="Calibri"/>
              </a:rPr>
              <a:t>D</a:t>
            </a:r>
            <a:r>
              <a:rPr b="1" i="0" lang="en-US" sz="900" u="none" cap="none" strike="noStrike">
                <a:solidFill>
                  <a:schemeClr val="lt1"/>
                </a:solidFill>
                <a:latin typeface="Calibri"/>
                <a:ea typeface="Calibri"/>
                <a:cs typeface="Calibri"/>
                <a:sym typeface="Calibri"/>
              </a:rPr>
              <a:t>raft SLO definitions from service behavior descriptions and error budget history. Generate the PromQL recording rules to track them.</a:t>
            </a:r>
            <a:endParaRPr b="1" i="0" sz="900" u="none" cap="none" strike="noStrike">
              <a:solidFill>
                <a:schemeClr val="lt1"/>
              </a:solidFill>
              <a:latin typeface="Calibri"/>
              <a:ea typeface="Calibri"/>
              <a:cs typeface="Calibri"/>
              <a:sym typeface="Calibri"/>
            </a:endParaRPr>
          </a:p>
          <a:p>
            <a:pPr indent="0" lvl="0" marL="0" marR="0" rtl="0" algn="l">
              <a:spcBef>
                <a:spcPts val="500"/>
              </a:spcBef>
              <a:spcAft>
                <a:spcPts val="0"/>
              </a:spcAft>
              <a:buClr>
                <a:srgbClr val="1DC9A8"/>
              </a:buClr>
              <a:buSzPts val="900"/>
              <a:buFont typeface="Calibri"/>
              <a:buNone/>
            </a:pPr>
            <a:r>
              <a:rPr b="1" i="0" lang="en-US" sz="900" u="none" cap="none" strike="noStrike">
                <a:solidFill>
                  <a:schemeClr val="lt1"/>
                </a:solidFill>
                <a:latin typeface="Calibri"/>
                <a:ea typeface="Calibri"/>
                <a:cs typeface="Calibri"/>
                <a:sym typeface="Calibri"/>
              </a:rPr>
              <a:t>›  </a:t>
            </a:r>
            <a:r>
              <a:rPr b="1" i="0" lang="en-US" sz="900" u="none" cap="none" strike="noStrike">
                <a:solidFill>
                  <a:schemeClr val="lt1"/>
                </a:solidFill>
                <a:latin typeface="Calibri"/>
                <a:ea typeface="Calibri"/>
                <a:cs typeface="Calibri"/>
                <a:sym typeface="Calibri"/>
              </a:rPr>
              <a:t>Dashboard interpretation</a:t>
            </a:r>
            <a:r>
              <a:rPr b="1" lang="en-US" sz="900">
                <a:solidFill>
                  <a:schemeClr val="lt1"/>
                </a:solidFill>
                <a:latin typeface="Calibri"/>
                <a:ea typeface="Calibri"/>
                <a:cs typeface="Calibri"/>
                <a:sym typeface="Calibri"/>
              </a:rPr>
              <a:t>: F</a:t>
            </a:r>
            <a:r>
              <a:rPr b="1" i="0" lang="en-US" sz="900" u="none" cap="none" strike="noStrike">
                <a:solidFill>
                  <a:schemeClr val="lt1"/>
                </a:solidFill>
                <a:latin typeface="Calibri"/>
                <a:ea typeface="Calibri"/>
                <a:cs typeface="Calibri"/>
                <a:sym typeface="Calibri"/>
              </a:rPr>
              <a:t>eed Claude a screenshot of a Datadog/Grafana dashboard and get a written summary of what it shows, anomalies detected, and recommended next steps.</a:t>
            </a:r>
            <a:endParaRPr b="1" i="0" sz="900" u="none" cap="none" strike="noStrike">
              <a:solidFill>
                <a:schemeClr val="lt1"/>
              </a:solidFill>
              <a:latin typeface="Calibri"/>
              <a:ea typeface="Calibri"/>
              <a:cs typeface="Calibri"/>
              <a:sym typeface="Calibri"/>
            </a:endParaRPr>
          </a:p>
          <a:p>
            <a:pPr indent="0" lvl="0" marL="0" marR="0" rtl="0" algn="l">
              <a:spcBef>
                <a:spcPts val="500"/>
              </a:spcBef>
              <a:spcAft>
                <a:spcPts val="0"/>
              </a:spcAft>
              <a:buClr>
                <a:srgbClr val="1DC9A8"/>
              </a:buClr>
              <a:buSzPts val="900"/>
              <a:buFont typeface="Calibri"/>
              <a:buNone/>
            </a:pPr>
            <a:r>
              <a:rPr b="1" i="0" lang="en-US" sz="900" u="none" cap="none" strike="noStrike">
                <a:solidFill>
                  <a:schemeClr val="lt1"/>
                </a:solidFill>
                <a:latin typeface="Calibri"/>
                <a:ea typeface="Calibri"/>
                <a:cs typeface="Calibri"/>
                <a:sym typeface="Calibri"/>
              </a:rPr>
              <a:t>›  </a:t>
            </a:r>
            <a:r>
              <a:rPr b="1" i="0" lang="en-US" sz="900" u="none" cap="none" strike="noStrike">
                <a:solidFill>
                  <a:schemeClr val="lt1"/>
                </a:solidFill>
                <a:latin typeface="Calibri"/>
                <a:ea typeface="Calibri"/>
                <a:cs typeface="Calibri"/>
                <a:sym typeface="Calibri"/>
              </a:rPr>
              <a:t>Capacity planning</a:t>
            </a:r>
            <a:r>
              <a:rPr b="1" lang="en-US" sz="900">
                <a:solidFill>
                  <a:schemeClr val="lt1"/>
                </a:solidFill>
                <a:latin typeface="Calibri"/>
                <a:ea typeface="Calibri"/>
                <a:cs typeface="Calibri"/>
                <a:sym typeface="Calibri"/>
              </a:rPr>
              <a:t>: A</a:t>
            </a:r>
            <a:r>
              <a:rPr b="1" i="0" lang="en-US" sz="900" u="none" cap="none" strike="noStrike">
                <a:solidFill>
                  <a:schemeClr val="lt1"/>
                </a:solidFill>
                <a:latin typeface="Calibri"/>
                <a:ea typeface="Calibri"/>
                <a:cs typeface="Calibri"/>
                <a:sym typeface="Calibri"/>
              </a:rPr>
              <a:t>nalyze historical metrics, project growth curves, and summarize into a report with recommended headroom thresholds.</a:t>
            </a:r>
            <a:endParaRPr b="1" i="0" sz="900" u="none" cap="none" strike="noStrike">
              <a:solidFill>
                <a:schemeClr val="lt1"/>
              </a:solidFill>
              <a:latin typeface="Calibri"/>
              <a:ea typeface="Calibri"/>
              <a:cs typeface="Calibri"/>
              <a:sym typeface="Calibri"/>
            </a:endParaRPr>
          </a:p>
        </p:txBody>
      </p:sp>
      <p:sp>
        <p:nvSpPr>
          <p:cNvPr id="402" name="Google Shape;402;p12"/>
          <p:cNvSpPr/>
          <p:nvPr/>
        </p:nvSpPr>
        <p:spPr>
          <a:xfrm>
            <a:off x="365760" y="4206240"/>
            <a:ext cx="8412480" cy="713232"/>
          </a:xfrm>
          <a:prstGeom prst="rect">
            <a:avLst/>
          </a:prstGeom>
          <a:solidFill>
            <a:srgbClr val="18181F"/>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2"/>
          <p:cNvSpPr/>
          <p:nvPr/>
        </p:nvSpPr>
        <p:spPr>
          <a:xfrm>
            <a:off x="475488" y="4279392"/>
            <a:ext cx="8229600" cy="1554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SRE MCP INTEGRATION STACK — AVAILABLE TODAY</a:t>
            </a:r>
            <a:endParaRPr b="0" i="0" sz="800" u="none" cap="none" strike="noStrike">
              <a:solidFill>
                <a:schemeClr val="dk1"/>
              </a:solidFill>
              <a:latin typeface="Calibri"/>
              <a:ea typeface="Calibri"/>
              <a:cs typeface="Calibri"/>
              <a:sym typeface="Calibri"/>
            </a:endParaRPr>
          </a:p>
        </p:txBody>
      </p:sp>
      <p:sp>
        <p:nvSpPr>
          <p:cNvPr id="404" name="Google Shape;404;p12"/>
          <p:cNvSpPr/>
          <p:nvPr/>
        </p:nvSpPr>
        <p:spPr>
          <a:xfrm>
            <a:off x="502920" y="4453128"/>
            <a:ext cx="873252" cy="219456"/>
          </a:xfrm>
          <a:prstGeom prst="rect">
            <a:avLst/>
          </a:prstGeom>
          <a:solidFill>
            <a:srgbClr val="000000"/>
          </a:solidFill>
          <a:ln cap="flat" cmpd="sng" w="9525">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2"/>
          <p:cNvSpPr/>
          <p:nvPr/>
        </p:nvSpPr>
        <p:spPr>
          <a:xfrm>
            <a:off x="502920" y="4453128"/>
            <a:ext cx="87325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C9A8"/>
              </a:buClr>
              <a:buSzPts val="750"/>
              <a:buFont typeface="Calibri"/>
              <a:buNone/>
            </a:pPr>
            <a:r>
              <a:rPr b="1" i="0" lang="en-US" sz="750" u="none" cap="none" strike="noStrike">
                <a:solidFill>
                  <a:srgbClr val="1DC9A8"/>
                </a:solidFill>
                <a:latin typeface="Calibri"/>
                <a:ea typeface="Calibri"/>
                <a:cs typeface="Calibri"/>
                <a:sym typeface="Calibri"/>
              </a:rPr>
              <a:t>PagerDuty</a:t>
            </a:r>
            <a:endParaRPr b="0" i="0" sz="750" u="none" cap="none" strike="noStrike">
              <a:solidFill>
                <a:schemeClr val="dk1"/>
              </a:solidFill>
              <a:latin typeface="Calibri"/>
              <a:ea typeface="Calibri"/>
              <a:cs typeface="Calibri"/>
              <a:sym typeface="Calibri"/>
            </a:endParaRPr>
          </a:p>
        </p:txBody>
      </p:sp>
      <p:sp>
        <p:nvSpPr>
          <p:cNvPr id="406" name="Google Shape;406;p12"/>
          <p:cNvSpPr/>
          <p:nvPr/>
        </p:nvSpPr>
        <p:spPr>
          <a:xfrm>
            <a:off x="1467612" y="4453128"/>
            <a:ext cx="736092" cy="219456"/>
          </a:xfrm>
          <a:prstGeom prst="rect">
            <a:avLst/>
          </a:prstGeom>
          <a:solidFill>
            <a:srgbClr val="000000"/>
          </a:solidFill>
          <a:ln cap="flat" cmpd="sng" w="9525">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2"/>
          <p:cNvSpPr/>
          <p:nvPr/>
        </p:nvSpPr>
        <p:spPr>
          <a:xfrm>
            <a:off x="1467612" y="4453128"/>
            <a:ext cx="73609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C9A8"/>
              </a:buClr>
              <a:buSzPts val="750"/>
              <a:buFont typeface="Calibri"/>
              <a:buNone/>
            </a:pPr>
            <a:r>
              <a:rPr b="1" i="0" lang="en-US" sz="750" u="none" cap="none" strike="noStrike">
                <a:solidFill>
                  <a:srgbClr val="1DC9A8"/>
                </a:solidFill>
                <a:latin typeface="Calibri"/>
                <a:ea typeface="Calibri"/>
                <a:cs typeface="Calibri"/>
                <a:sym typeface="Calibri"/>
              </a:rPr>
              <a:t>Datadog</a:t>
            </a:r>
            <a:endParaRPr b="0" i="0" sz="750" u="none" cap="none" strike="noStrike">
              <a:solidFill>
                <a:schemeClr val="dk1"/>
              </a:solidFill>
              <a:latin typeface="Calibri"/>
              <a:ea typeface="Calibri"/>
              <a:cs typeface="Calibri"/>
              <a:sym typeface="Calibri"/>
            </a:endParaRPr>
          </a:p>
        </p:txBody>
      </p:sp>
      <p:sp>
        <p:nvSpPr>
          <p:cNvPr id="408" name="Google Shape;408;p12"/>
          <p:cNvSpPr/>
          <p:nvPr/>
        </p:nvSpPr>
        <p:spPr>
          <a:xfrm>
            <a:off x="2295144" y="4453128"/>
            <a:ext cx="941832" cy="219456"/>
          </a:xfrm>
          <a:prstGeom prst="rect">
            <a:avLst/>
          </a:prstGeom>
          <a:solidFill>
            <a:srgbClr val="000000"/>
          </a:solidFill>
          <a:ln cap="flat" cmpd="sng" w="9525">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2"/>
          <p:cNvSpPr/>
          <p:nvPr/>
        </p:nvSpPr>
        <p:spPr>
          <a:xfrm>
            <a:off x="2295144" y="4453128"/>
            <a:ext cx="94183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C9A8"/>
              </a:buClr>
              <a:buSzPts val="750"/>
              <a:buFont typeface="Calibri"/>
              <a:buNone/>
            </a:pPr>
            <a:r>
              <a:rPr b="1" i="0" lang="en-US" sz="750" u="none" cap="none" strike="noStrike">
                <a:solidFill>
                  <a:srgbClr val="1DC9A8"/>
                </a:solidFill>
                <a:latin typeface="Calibri"/>
                <a:ea typeface="Calibri"/>
                <a:cs typeface="Calibri"/>
                <a:sym typeface="Calibri"/>
              </a:rPr>
              <a:t>Prometheus</a:t>
            </a:r>
            <a:endParaRPr b="0" i="0" sz="750" u="none" cap="none" strike="noStrike">
              <a:solidFill>
                <a:schemeClr val="dk1"/>
              </a:solidFill>
              <a:latin typeface="Calibri"/>
              <a:ea typeface="Calibri"/>
              <a:cs typeface="Calibri"/>
              <a:sym typeface="Calibri"/>
            </a:endParaRPr>
          </a:p>
        </p:txBody>
      </p:sp>
      <p:sp>
        <p:nvSpPr>
          <p:cNvPr id="410" name="Google Shape;410;p12"/>
          <p:cNvSpPr/>
          <p:nvPr/>
        </p:nvSpPr>
        <p:spPr>
          <a:xfrm>
            <a:off x="3328416" y="4453128"/>
            <a:ext cx="736092" cy="219456"/>
          </a:xfrm>
          <a:prstGeom prst="rect">
            <a:avLst/>
          </a:prstGeom>
          <a:solidFill>
            <a:srgbClr val="000000"/>
          </a:solidFill>
          <a:ln cap="flat" cmpd="sng" w="9525">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2"/>
          <p:cNvSpPr/>
          <p:nvPr/>
        </p:nvSpPr>
        <p:spPr>
          <a:xfrm>
            <a:off x="3328416" y="4453128"/>
            <a:ext cx="73609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C9A8"/>
              </a:buClr>
              <a:buSzPts val="750"/>
              <a:buFont typeface="Calibri"/>
              <a:buNone/>
            </a:pPr>
            <a:r>
              <a:rPr b="1" i="0" lang="en-US" sz="750" u="none" cap="none" strike="noStrike">
                <a:solidFill>
                  <a:srgbClr val="1DC9A8"/>
                </a:solidFill>
                <a:latin typeface="Calibri"/>
                <a:ea typeface="Calibri"/>
                <a:cs typeface="Calibri"/>
                <a:sym typeface="Calibri"/>
              </a:rPr>
              <a:t>Grafana</a:t>
            </a:r>
            <a:endParaRPr b="0" i="0" sz="750" u="none" cap="none" strike="noStrike">
              <a:solidFill>
                <a:schemeClr val="dk1"/>
              </a:solidFill>
              <a:latin typeface="Calibri"/>
              <a:ea typeface="Calibri"/>
              <a:cs typeface="Calibri"/>
              <a:sym typeface="Calibri"/>
            </a:endParaRPr>
          </a:p>
        </p:txBody>
      </p:sp>
      <p:sp>
        <p:nvSpPr>
          <p:cNvPr id="412" name="Google Shape;412;p12"/>
          <p:cNvSpPr/>
          <p:nvPr/>
        </p:nvSpPr>
        <p:spPr>
          <a:xfrm>
            <a:off x="4155948" y="4453128"/>
            <a:ext cx="667512" cy="219456"/>
          </a:xfrm>
          <a:prstGeom prst="rect">
            <a:avLst/>
          </a:prstGeom>
          <a:solidFill>
            <a:srgbClr val="000000"/>
          </a:solidFill>
          <a:ln cap="flat" cmpd="sng" w="9525">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2"/>
          <p:cNvSpPr/>
          <p:nvPr/>
        </p:nvSpPr>
        <p:spPr>
          <a:xfrm>
            <a:off x="4155948" y="4453128"/>
            <a:ext cx="66751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C9A8"/>
              </a:buClr>
              <a:buSzPts val="750"/>
              <a:buFont typeface="Calibri"/>
              <a:buNone/>
            </a:pPr>
            <a:r>
              <a:rPr b="1" i="0" lang="en-US" sz="750" u="none" cap="none" strike="noStrike">
                <a:solidFill>
                  <a:srgbClr val="1DC9A8"/>
                </a:solidFill>
                <a:latin typeface="Calibri"/>
                <a:ea typeface="Calibri"/>
                <a:cs typeface="Calibri"/>
                <a:sym typeface="Calibri"/>
              </a:rPr>
              <a:t>GitHub</a:t>
            </a:r>
            <a:endParaRPr b="0" i="0" sz="750" u="none" cap="none" strike="noStrike">
              <a:solidFill>
                <a:schemeClr val="dk1"/>
              </a:solidFill>
              <a:latin typeface="Calibri"/>
              <a:ea typeface="Calibri"/>
              <a:cs typeface="Calibri"/>
              <a:sym typeface="Calibri"/>
            </a:endParaRPr>
          </a:p>
        </p:txBody>
      </p:sp>
      <p:sp>
        <p:nvSpPr>
          <p:cNvPr id="414" name="Google Shape;414;p12"/>
          <p:cNvSpPr/>
          <p:nvPr/>
        </p:nvSpPr>
        <p:spPr>
          <a:xfrm>
            <a:off x="4914900" y="4453128"/>
            <a:ext cx="530352" cy="219456"/>
          </a:xfrm>
          <a:prstGeom prst="rect">
            <a:avLst/>
          </a:prstGeom>
          <a:solidFill>
            <a:srgbClr val="000000"/>
          </a:solidFill>
          <a:ln cap="flat" cmpd="sng" w="9525">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2"/>
          <p:cNvSpPr/>
          <p:nvPr/>
        </p:nvSpPr>
        <p:spPr>
          <a:xfrm>
            <a:off x="4914900" y="4453128"/>
            <a:ext cx="53035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C9A8"/>
              </a:buClr>
              <a:buSzPts val="750"/>
              <a:buFont typeface="Calibri"/>
              <a:buNone/>
            </a:pPr>
            <a:r>
              <a:rPr b="1" i="0" lang="en-US" sz="750" u="none" cap="none" strike="noStrike">
                <a:solidFill>
                  <a:srgbClr val="1DC9A8"/>
                </a:solidFill>
                <a:latin typeface="Calibri"/>
                <a:ea typeface="Calibri"/>
                <a:cs typeface="Calibri"/>
                <a:sym typeface="Calibri"/>
              </a:rPr>
              <a:t>Jira</a:t>
            </a:r>
            <a:endParaRPr b="0" i="0" sz="750" u="none" cap="none" strike="noStrike">
              <a:solidFill>
                <a:schemeClr val="dk1"/>
              </a:solidFill>
              <a:latin typeface="Calibri"/>
              <a:ea typeface="Calibri"/>
              <a:cs typeface="Calibri"/>
              <a:sym typeface="Calibri"/>
            </a:endParaRPr>
          </a:p>
        </p:txBody>
      </p:sp>
      <p:sp>
        <p:nvSpPr>
          <p:cNvPr id="416" name="Google Shape;416;p12"/>
          <p:cNvSpPr/>
          <p:nvPr/>
        </p:nvSpPr>
        <p:spPr>
          <a:xfrm>
            <a:off x="5570964" y="4453141"/>
            <a:ext cx="941700" cy="219600"/>
          </a:xfrm>
          <a:prstGeom prst="rect">
            <a:avLst/>
          </a:prstGeom>
          <a:solidFill>
            <a:srgbClr val="000000"/>
          </a:solidFill>
          <a:ln cap="flat" cmpd="sng" w="9525">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2"/>
          <p:cNvSpPr/>
          <p:nvPr/>
        </p:nvSpPr>
        <p:spPr>
          <a:xfrm>
            <a:off x="5570964" y="4425703"/>
            <a:ext cx="9417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C9A8"/>
              </a:buClr>
              <a:buSzPts val="750"/>
              <a:buFont typeface="Calibri"/>
              <a:buNone/>
            </a:pPr>
            <a:r>
              <a:rPr b="1" i="0" lang="en-US" sz="750" u="none" cap="none" strike="noStrike">
                <a:solidFill>
                  <a:srgbClr val="1DC9A8"/>
                </a:solidFill>
                <a:latin typeface="Calibri"/>
                <a:ea typeface="Calibri"/>
                <a:cs typeface="Calibri"/>
                <a:sym typeface="Calibri"/>
              </a:rPr>
              <a:t>Kubernetes</a:t>
            </a:r>
            <a:endParaRPr b="0" i="0" sz="750" u="none" cap="none" strike="noStrike">
              <a:solidFill>
                <a:schemeClr val="dk1"/>
              </a:solidFill>
              <a:latin typeface="Calibri"/>
              <a:ea typeface="Calibri"/>
              <a:cs typeface="Calibri"/>
              <a:sym typeface="Calibri"/>
            </a:endParaRPr>
          </a:p>
        </p:txBody>
      </p:sp>
      <p:sp>
        <p:nvSpPr>
          <p:cNvPr id="418" name="Google Shape;418;p12"/>
          <p:cNvSpPr/>
          <p:nvPr/>
        </p:nvSpPr>
        <p:spPr>
          <a:xfrm>
            <a:off x="6775702" y="4453300"/>
            <a:ext cx="530400" cy="219600"/>
          </a:xfrm>
          <a:prstGeom prst="rect">
            <a:avLst/>
          </a:prstGeom>
          <a:solidFill>
            <a:srgbClr val="000000"/>
          </a:solidFill>
          <a:ln cap="flat" cmpd="sng" w="9525">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2"/>
          <p:cNvSpPr/>
          <p:nvPr/>
        </p:nvSpPr>
        <p:spPr>
          <a:xfrm>
            <a:off x="6672849" y="4453303"/>
            <a:ext cx="6675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C9A8"/>
              </a:buClr>
              <a:buSzPts val="750"/>
              <a:buFont typeface="Calibri"/>
              <a:buNone/>
            </a:pPr>
            <a:r>
              <a:rPr b="1" i="0" lang="en-US" sz="750" u="none" cap="none" strike="noStrike">
                <a:solidFill>
                  <a:srgbClr val="1DC9A8"/>
                </a:solidFill>
                <a:latin typeface="Calibri"/>
                <a:ea typeface="Calibri"/>
                <a:cs typeface="Calibri"/>
                <a:sym typeface="Calibri"/>
              </a:rPr>
              <a:t>Docker</a:t>
            </a:r>
            <a:endParaRPr b="0" i="0" sz="750" u="none" cap="none" strike="noStrike">
              <a:solidFill>
                <a:schemeClr val="dk1"/>
              </a:solidFill>
              <a:latin typeface="Calibri"/>
              <a:ea typeface="Calibri"/>
              <a:cs typeface="Calibri"/>
              <a:sym typeface="Calibri"/>
            </a:endParaRPr>
          </a:p>
        </p:txBody>
      </p:sp>
      <p:sp>
        <p:nvSpPr>
          <p:cNvPr id="420" name="Google Shape;420;p12"/>
          <p:cNvSpPr/>
          <p:nvPr/>
        </p:nvSpPr>
        <p:spPr>
          <a:xfrm>
            <a:off x="7500513" y="4453453"/>
            <a:ext cx="941700" cy="219600"/>
          </a:xfrm>
          <a:prstGeom prst="rect">
            <a:avLst/>
          </a:prstGeom>
          <a:solidFill>
            <a:srgbClr val="000000"/>
          </a:solidFill>
          <a:ln cap="flat" cmpd="sng" w="9525">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2"/>
          <p:cNvSpPr/>
          <p:nvPr/>
        </p:nvSpPr>
        <p:spPr>
          <a:xfrm>
            <a:off x="7500513" y="4453378"/>
            <a:ext cx="9417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C9A8"/>
              </a:buClr>
              <a:buSzPts val="750"/>
              <a:buFont typeface="Calibri"/>
              <a:buNone/>
            </a:pPr>
            <a:r>
              <a:rPr b="1" i="0" lang="en-US" sz="750" u="none" cap="none" strike="noStrike">
                <a:solidFill>
                  <a:srgbClr val="1DC9A8"/>
                </a:solidFill>
                <a:latin typeface="Calibri"/>
                <a:ea typeface="Calibri"/>
                <a:cs typeface="Calibri"/>
                <a:sym typeface="Calibri"/>
              </a:rPr>
              <a:t>CloudWatch</a:t>
            </a:r>
            <a:endParaRPr b="0" i="0" sz="750" u="none" cap="none" strike="noStrike">
              <a:solidFill>
                <a:schemeClr val="dk1"/>
              </a:solidFill>
              <a:latin typeface="Calibri"/>
              <a:ea typeface="Calibri"/>
              <a:cs typeface="Calibri"/>
              <a:sym typeface="Calibri"/>
            </a:endParaRPr>
          </a:p>
        </p:txBody>
      </p:sp>
      <p:sp>
        <p:nvSpPr>
          <p:cNvPr id="422" name="Google Shape;422;p12"/>
          <p:cNvSpPr/>
          <p:nvPr/>
        </p:nvSpPr>
        <p:spPr>
          <a:xfrm>
            <a:off x="10776204" y="4453128"/>
            <a:ext cx="873252" cy="219456"/>
          </a:xfrm>
          <a:prstGeom prst="rect">
            <a:avLst/>
          </a:prstGeom>
          <a:solidFill>
            <a:srgbClr val="000000"/>
          </a:solidFill>
          <a:ln cap="flat" cmpd="sng" w="9525">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2"/>
          <p:cNvSpPr/>
          <p:nvPr/>
        </p:nvSpPr>
        <p:spPr>
          <a:xfrm>
            <a:off x="10776204" y="4453128"/>
            <a:ext cx="87325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C9A8"/>
              </a:buClr>
              <a:buSzPts val="750"/>
              <a:buFont typeface="Calibri"/>
              <a:buNone/>
            </a:pPr>
            <a:r>
              <a:rPr b="1" i="0" lang="en-US" sz="750" u="none" cap="none" strike="noStrike">
                <a:solidFill>
                  <a:srgbClr val="1DC9A8"/>
                </a:solidFill>
                <a:latin typeface="Calibri"/>
                <a:ea typeface="Calibri"/>
                <a:cs typeface="Calibri"/>
                <a:sym typeface="Calibri"/>
              </a:rPr>
              <a:t>New Relic</a:t>
            </a:r>
            <a:endParaRPr b="0" i="0" sz="750" u="none" cap="none" strike="noStrike">
              <a:solidFill>
                <a:schemeClr val="dk1"/>
              </a:solidFill>
              <a:latin typeface="Calibri"/>
              <a:ea typeface="Calibri"/>
              <a:cs typeface="Calibri"/>
              <a:sym typeface="Calibri"/>
            </a:endParaRPr>
          </a:p>
        </p:txBody>
      </p:sp>
      <p:sp>
        <p:nvSpPr>
          <p:cNvPr id="424" name="Google Shape;424;p12"/>
          <p:cNvSpPr/>
          <p:nvPr/>
        </p:nvSpPr>
        <p:spPr>
          <a:xfrm>
            <a:off x="11740896" y="4453128"/>
            <a:ext cx="667512" cy="219456"/>
          </a:xfrm>
          <a:prstGeom prst="rect">
            <a:avLst/>
          </a:prstGeom>
          <a:solidFill>
            <a:srgbClr val="000000"/>
          </a:solidFill>
          <a:ln cap="flat" cmpd="sng" w="9525">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2"/>
          <p:cNvSpPr/>
          <p:nvPr/>
        </p:nvSpPr>
        <p:spPr>
          <a:xfrm>
            <a:off x="11740896" y="4453128"/>
            <a:ext cx="66751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C9A8"/>
              </a:buClr>
              <a:buSzPts val="750"/>
              <a:buFont typeface="Calibri"/>
              <a:buNone/>
            </a:pPr>
            <a:r>
              <a:rPr b="1" i="0" lang="en-US" sz="750" u="none" cap="none" strike="noStrike">
                <a:solidFill>
                  <a:srgbClr val="1DC9A8"/>
                </a:solidFill>
                <a:latin typeface="Calibri"/>
                <a:ea typeface="Calibri"/>
                <a:cs typeface="Calibri"/>
                <a:sym typeface="Calibri"/>
              </a:rPr>
              <a:t>Linear</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90C"/>
        </a:solidFill>
      </p:bgPr>
    </p:bg>
    <p:spTree>
      <p:nvGrpSpPr>
        <p:cNvPr id="430" name="Shape 430"/>
        <p:cNvGrpSpPr/>
        <p:nvPr/>
      </p:nvGrpSpPr>
      <p:grpSpPr>
        <a:xfrm>
          <a:off x="0" y="0"/>
          <a:ext cx="0" cy="0"/>
          <a:chOff x="0" y="0"/>
          <a:chExt cx="0" cy="0"/>
        </a:xfrm>
      </p:grpSpPr>
      <p:sp>
        <p:nvSpPr>
          <p:cNvPr id="431" name="Google Shape;431;p13"/>
          <p:cNvSpPr/>
          <p:nvPr/>
        </p:nvSpPr>
        <p:spPr>
          <a:xfrm>
            <a:off x="365760" y="164592"/>
            <a:ext cx="84124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SRE APPLICATION</a:t>
            </a:r>
            <a:endParaRPr b="0" i="0" sz="800" u="none" cap="none" strike="noStrike">
              <a:solidFill>
                <a:schemeClr val="dk1"/>
              </a:solidFill>
              <a:latin typeface="Calibri"/>
              <a:ea typeface="Calibri"/>
              <a:cs typeface="Calibri"/>
              <a:sym typeface="Calibri"/>
            </a:endParaRPr>
          </a:p>
        </p:txBody>
      </p:sp>
      <p:sp>
        <p:nvSpPr>
          <p:cNvPr id="432" name="Google Shape;432;p13"/>
          <p:cNvSpPr/>
          <p:nvPr/>
        </p:nvSpPr>
        <p:spPr>
          <a:xfrm>
            <a:off x="365760" y="347472"/>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2200"/>
              <a:buFont typeface="Calibri"/>
              <a:buNone/>
            </a:pPr>
            <a:r>
              <a:rPr b="1" i="0" lang="en-US" sz="2200" u="none" cap="none" strike="noStrike">
                <a:solidFill>
                  <a:srgbClr val="EEEEF2"/>
                </a:solidFill>
                <a:latin typeface="Calibri"/>
                <a:ea typeface="Calibri"/>
                <a:cs typeface="Calibri"/>
                <a:sym typeface="Calibri"/>
              </a:rPr>
              <a:t>SRE Use Cases — Automation, Code Review &amp; Documentation</a:t>
            </a:r>
            <a:endParaRPr b="0" i="0" sz="2200" u="none" cap="none" strike="noStrike">
              <a:solidFill>
                <a:schemeClr val="dk1"/>
              </a:solidFill>
              <a:latin typeface="Calibri"/>
              <a:ea typeface="Calibri"/>
              <a:cs typeface="Calibri"/>
              <a:sym typeface="Calibri"/>
            </a:endParaRPr>
          </a:p>
        </p:txBody>
      </p:sp>
      <p:sp>
        <p:nvSpPr>
          <p:cNvPr id="433" name="Google Shape;433;p13"/>
          <p:cNvSpPr/>
          <p:nvPr/>
        </p:nvSpPr>
        <p:spPr>
          <a:xfrm>
            <a:off x="365760" y="822960"/>
            <a:ext cx="8412480" cy="16459"/>
          </a:xfrm>
          <a:prstGeom prst="rect">
            <a:avLst/>
          </a:prstGeom>
          <a:solidFill>
            <a:srgbClr val="2A2A38"/>
          </a:solidFill>
          <a:ln cap="flat" cmpd="sng" w="12700">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3"/>
          <p:cNvSpPr/>
          <p:nvPr/>
        </p:nvSpPr>
        <p:spPr>
          <a:xfrm>
            <a:off x="246885" y="996695"/>
            <a:ext cx="2807100" cy="367590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3"/>
          <p:cNvSpPr/>
          <p:nvPr/>
        </p:nvSpPr>
        <p:spPr>
          <a:xfrm>
            <a:off x="246822" y="960120"/>
            <a:ext cx="2807100" cy="36600"/>
          </a:xfrm>
          <a:prstGeom prst="rect">
            <a:avLst/>
          </a:prstGeom>
          <a:solidFill>
            <a:srgbClr val="E8602A"/>
          </a:solidFill>
          <a:ln cap="flat" cmpd="sng" w="12700">
            <a:solidFill>
              <a:srgbClr val="E86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3"/>
          <p:cNvSpPr/>
          <p:nvPr/>
        </p:nvSpPr>
        <p:spPr>
          <a:xfrm>
            <a:off x="475488" y="1024128"/>
            <a:ext cx="2624400" cy="16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602A"/>
              </a:buClr>
              <a:buSzPts val="800"/>
              <a:buFont typeface="Calibri"/>
              <a:buNone/>
            </a:pPr>
            <a:r>
              <a:rPr b="1" i="0" lang="en-US" sz="800" u="none" cap="none" strike="noStrike">
                <a:solidFill>
                  <a:srgbClr val="E8602A"/>
                </a:solidFill>
                <a:latin typeface="Calibri"/>
                <a:ea typeface="Calibri"/>
                <a:cs typeface="Calibri"/>
                <a:sym typeface="Calibri"/>
              </a:rPr>
              <a:t>INFRASTRUCTURE &amp; CODE REVIEW</a:t>
            </a:r>
            <a:endParaRPr b="0" i="0" sz="800" u="none" cap="none" strike="noStrike">
              <a:solidFill>
                <a:schemeClr val="dk1"/>
              </a:solidFill>
              <a:latin typeface="Calibri"/>
              <a:ea typeface="Calibri"/>
              <a:cs typeface="Calibri"/>
              <a:sym typeface="Calibri"/>
            </a:endParaRPr>
          </a:p>
        </p:txBody>
      </p:sp>
      <p:sp>
        <p:nvSpPr>
          <p:cNvPr id="437" name="Google Shape;437;p13"/>
          <p:cNvSpPr/>
          <p:nvPr/>
        </p:nvSpPr>
        <p:spPr>
          <a:xfrm>
            <a:off x="475488" y="1261872"/>
            <a:ext cx="2578608"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Terraform / Helm / K8s YAML</a:t>
            </a:r>
            <a:endParaRPr b="0" i="0" sz="1100" u="none" cap="none" strike="noStrike">
              <a:solidFill>
                <a:schemeClr val="dk1"/>
              </a:solidFill>
              <a:latin typeface="Calibri"/>
              <a:ea typeface="Calibri"/>
              <a:cs typeface="Calibri"/>
              <a:sym typeface="Calibri"/>
            </a:endParaRPr>
          </a:p>
        </p:txBody>
      </p:sp>
      <p:sp>
        <p:nvSpPr>
          <p:cNvPr id="438" name="Google Shape;438;p13"/>
          <p:cNvSpPr/>
          <p:nvPr/>
        </p:nvSpPr>
        <p:spPr>
          <a:xfrm>
            <a:off x="475488" y="1481328"/>
            <a:ext cx="2578608" cy="8046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Security misconfigurations, anti-patterns, and config drift across the full file set</a:t>
            </a:r>
            <a:r>
              <a:rPr lang="en-US" sz="900">
                <a:solidFill>
                  <a:srgbClr val="888898"/>
                </a:solidFill>
                <a:latin typeface="Calibri"/>
                <a:ea typeface="Calibri"/>
                <a:cs typeface="Calibri"/>
                <a:sym typeface="Calibri"/>
              </a:rPr>
              <a:t>,</a:t>
            </a:r>
            <a:r>
              <a:rPr b="0" i="0" lang="en-US" sz="900" u="none" cap="none" strike="noStrike">
                <a:solidFill>
                  <a:srgbClr val="888898"/>
                </a:solidFill>
                <a:latin typeface="Calibri"/>
                <a:ea typeface="Calibri"/>
                <a:cs typeface="Calibri"/>
                <a:sym typeface="Calibri"/>
              </a:rPr>
              <a:t> not just the diff. Load the entire repo in one context window.</a:t>
            </a:r>
            <a:endParaRPr b="0" i="0" sz="900" u="none" cap="none" strike="noStrike">
              <a:solidFill>
                <a:schemeClr val="dk1"/>
              </a:solidFill>
              <a:latin typeface="Calibri"/>
              <a:ea typeface="Calibri"/>
              <a:cs typeface="Calibri"/>
              <a:sym typeface="Calibri"/>
            </a:endParaRPr>
          </a:p>
        </p:txBody>
      </p:sp>
      <p:sp>
        <p:nvSpPr>
          <p:cNvPr id="439" name="Google Shape;439;p13"/>
          <p:cNvSpPr/>
          <p:nvPr/>
        </p:nvSpPr>
        <p:spPr>
          <a:xfrm>
            <a:off x="475488" y="2377440"/>
            <a:ext cx="2578608"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Codebase comprehension</a:t>
            </a:r>
            <a:endParaRPr b="0" i="0" sz="1100" u="none" cap="none" strike="noStrike">
              <a:solidFill>
                <a:schemeClr val="dk1"/>
              </a:solidFill>
              <a:latin typeface="Calibri"/>
              <a:ea typeface="Calibri"/>
              <a:cs typeface="Calibri"/>
              <a:sym typeface="Calibri"/>
            </a:endParaRPr>
          </a:p>
        </p:txBody>
      </p:sp>
      <p:sp>
        <p:nvSpPr>
          <p:cNvPr id="440" name="Google Shape;440;p13"/>
          <p:cNvSpPr/>
          <p:nvPr/>
        </p:nvSpPr>
        <p:spPr>
          <a:xfrm>
            <a:off x="475488" y="2596896"/>
            <a:ext cx="2578608" cy="8046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Map build system dependencies before touching shared libraries.</a:t>
            </a:r>
            <a:endParaRPr b="0" i="0" sz="900" u="none" cap="none" strike="noStrike">
              <a:solidFill>
                <a:schemeClr val="dk1"/>
              </a:solidFill>
              <a:latin typeface="Calibri"/>
              <a:ea typeface="Calibri"/>
              <a:cs typeface="Calibri"/>
              <a:sym typeface="Calibri"/>
            </a:endParaRPr>
          </a:p>
        </p:txBody>
      </p:sp>
      <p:sp>
        <p:nvSpPr>
          <p:cNvPr id="441" name="Google Shape;441;p13"/>
          <p:cNvSpPr/>
          <p:nvPr/>
        </p:nvSpPr>
        <p:spPr>
          <a:xfrm>
            <a:off x="475488" y="3493008"/>
            <a:ext cx="2578608"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Automated CI/CD review</a:t>
            </a:r>
            <a:endParaRPr b="0" i="0" sz="1100" u="none" cap="none" strike="noStrike">
              <a:solidFill>
                <a:schemeClr val="dk1"/>
              </a:solidFill>
              <a:latin typeface="Calibri"/>
              <a:ea typeface="Calibri"/>
              <a:cs typeface="Calibri"/>
              <a:sym typeface="Calibri"/>
            </a:endParaRPr>
          </a:p>
        </p:txBody>
      </p:sp>
      <p:sp>
        <p:nvSpPr>
          <p:cNvPr id="442" name="Google Shape;442;p13"/>
          <p:cNvSpPr/>
          <p:nvPr/>
        </p:nvSpPr>
        <p:spPr>
          <a:xfrm>
            <a:off x="475488" y="3712464"/>
            <a:ext cx="2578608" cy="8046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Claude Code runs inside GitHub Actions</a:t>
            </a:r>
            <a:r>
              <a:rPr lang="en-US" sz="900">
                <a:solidFill>
                  <a:srgbClr val="888898"/>
                </a:solidFill>
                <a:latin typeface="Calibri"/>
                <a:ea typeface="Calibri"/>
                <a:cs typeface="Calibri"/>
                <a:sym typeface="Calibri"/>
              </a:rPr>
              <a:t>.</a:t>
            </a:r>
            <a:r>
              <a:rPr b="0" i="0" lang="en-US" sz="900" u="none" cap="none" strike="noStrike">
                <a:solidFill>
                  <a:srgbClr val="888898"/>
                </a:solidFill>
                <a:latin typeface="Calibri"/>
                <a:ea typeface="Calibri"/>
                <a:cs typeface="Calibri"/>
                <a:sym typeface="Calibri"/>
              </a:rPr>
              <a:t> </a:t>
            </a:r>
            <a:r>
              <a:rPr lang="en-US" sz="900">
                <a:solidFill>
                  <a:srgbClr val="888898"/>
                </a:solidFill>
                <a:latin typeface="Calibri"/>
                <a:ea typeface="Calibri"/>
                <a:cs typeface="Calibri"/>
                <a:sym typeface="Calibri"/>
              </a:rPr>
              <a:t>R</a:t>
            </a:r>
            <a:r>
              <a:rPr b="0" i="0" lang="en-US" sz="900" u="none" cap="none" strike="noStrike">
                <a:solidFill>
                  <a:srgbClr val="888898"/>
                </a:solidFill>
                <a:latin typeface="Calibri"/>
                <a:ea typeface="Calibri"/>
                <a:cs typeface="Calibri"/>
                <a:sym typeface="Calibri"/>
              </a:rPr>
              <a:t>eviews PRs, flags regressions, generates test cases, and suggests fixes</a:t>
            </a:r>
            <a:r>
              <a:rPr lang="en-US" sz="900">
                <a:solidFill>
                  <a:srgbClr val="888898"/>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443" name="Google Shape;443;p13"/>
          <p:cNvSpPr/>
          <p:nvPr/>
        </p:nvSpPr>
        <p:spPr>
          <a:xfrm>
            <a:off x="3250616" y="960120"/>
            <a:ext cx="2807100" cy="367590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3"/>
          <p:cNvSpPr/>
          <p:nvPr/>
        </p:nvSpPr>
        <p:spPr>
          <a:xfrm>
            <a:off x="3250616" y="960120"/>
            <a:ext cx="2807100" cy="36600"/>
          </a:xfrm>
          <a:prstGeom prst="rect">
            <a:avLst/>
          </a:prstGeom>
          <a:solidFill>
            <a:srgbClr val="1DC9A8"/>
          </a:solidFill>
          <a:ln cap="flat" cmpd="sng" w="12700">
            <a:solidFill>
              <a:srgbClr val="1DC9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3"/>
          <p:cNvSpPr/>
          <p:nvPr/>
        </p:nvSpPr>
        <p:spPr>
          <a:xfrm>
            <a:off x="3419818" y="1046953"/>
            <a:ext cx="2624400" cy="16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DC9A8"/>
              </a:buClr>
              <a:buSzPts val="800"/>
              <a:buFont typeface="Calibri"/>
              <a:buNone/>
            </a:pPr>
            <a:r>
              <a:rPr b="1" i="0" lang="en-US" sz="800" u="none" cap="none" strike="noStrike">
                <a:solidFill>
                  <a:srgbClr val="1DC9A8"/>
                </a:solidFill>
                <a:latin typeface="Calibri"/>
                <a:ea typeface="Calibri"/>
                <a:cs typeface="Calibri"/>
                <a:sym typeface="Calibri"/>
              </a:rPr>
              <a:t>SCRIPTING &amp; AUTOMATION</a:t>
            </a:r>
            <a:endParaRPr b="0" i="0" sz="800" u="none" cap="none" strike="noStrike">
              <a:solidFill>
                <a:schemeClr val="dk1"/>
              </a:solidFill>
              <a:latin typeface="Calibri"/>
              <a:ea typeface="Calibri"/>
              <a:cs typeface="Calibri"/>
              <a:sym typeface="Calibri"/>
            </a:endParaRPr>
          </a:p>
        </p:txBody>
      </p:sp>
      <p:sp>
        <p:nvSpPr>
          <p:cNvPr id="446" name="Google Shape;446;p13"/>
          <p:cNvSpPr/>
          <p:nvPr/>
        </p:nvSpPr>
        <p:spPr>
          <a:xfrm>
            <a:off x="3419856" y="1261872"/>
            <a:ext cx="2578608"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Script generation</a:t>
            </a:r>
            <a:endParaRPr b="0" i="0" sz="1100" u="none" cap="none" strike="noStrike">
              <a:solidFill>
                <a:schemeClr val="dk1"/>
              </a:solidFill>
              <a:latin typeface="Calibri"/>
              <a:ea typeface="Calibri"/>
              <a:cs typeface="Calibri"/>
              <a:sym typeface="Calibri"/>
            </a:endParaRPr>
          </a:p>
        </p:txBody>
      </p:sp>
      <p:sp>
        <p:nvSpPr>
          <p:cNvPr id="447" name="Google Shape;447;p13"/>
          <p:cNvSpPr/>
          <p:nvPr/>
        </p:nvSpPr>
        <p:spPr>
          <a:xfrm>
            <a:off x="3419856" y="1481328"/>
            <a:ext cx="2578608" cy="8046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Generate </a:t>
            </a:r>
            <a:r>
              <a:rPr lang="en-US" sz="900">
                <a:solidFill>
                  <a:srgbClr val="888898"/>
                </a:solidFill>
                <a:latin typeface="Calibri"/>
                <a:ea typeface="Calibri"/>
                <a:cs typeface="Calibri"/>
                <a:sym typeface="Calibri"/>
              </a:rPr>
              <a:t>scripts using natural language by providing the expected behavior and constraints</a:t>
            </a:r>
            <a:r>
              <a:rPr b="0" i="0" lang="en-US" sz="900" u="none" cap="none" strike="noStrike">
                <a:solidFill>
                  <a:srgbClr val="888898"/>
                </a:solidFill>
                <a:latin typeface="Calibri"/>
                <a:ea typeface="Calibri"/>
                <a:cs typeface="Calibri"/>
                <a:sym typeface="Calibri"/>
              </a:rPr>
              <a:t>. </a:t>
            </a:r>
            <a:r>
              <a:rPr lang="en-US" sz="900">
                <a:solidFill>
                  <a:srgbClr val="888898"/>
                </a:solidFill>
                <a:latin typeface="Calibri"/>
                <a:ea typeface="Calibri"/>
                <a:cs typeface="Calibri"/>
                <a:sym typeface="Calibri"/>
              </a:rPr>
              <a:t>Let Claude write the boilerplate code.</a:t>
            </a:r>
            <a:endParaRPr b="0" i="0" sz="900" u="none" cap="none" strike="noStrike">
              <a:solidFill>
                <a:schemeClr val="dk1"/>
              </a:solidFill>
              <a:latin typeface="Calibri"/>
              <a:ea typeface="Calibri"/>
              <a:cs typeface="Calibri"/>
              <a:sym typeface="Calibri"/>
            </a:endParaRPr>
          </a:p>
        </p:txBody>
      </p:sp>
      <p:sp>
        <p:nvSpPr>
          <p:cNvPr id="448" name="Google Shape;448;p13"/>
          <p:cNvSpPr/>
          <p:nvPr/>
        </p:nvSpPr>
        <p:spPr>
          <a:xfrm>
            <a:off x="3419856" y="2377440"/>
            <a:ext cx="2578608"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Query &amp; filter tools</a:t>
            </a:r>
            <a:endParaRPr b="0" i="0" sz="1100" u="none" cap="none" strike="noStrike">
              <a:solidFill>
                <a:schemeClr val="dk1"/>
              </a:solidFill>
              <a:latin typeface="Calibri"/>
              <a:ea typeface="Calibri"/>
              <a:cs typeface="Calibri"/>
              <a:sym typeface="Calibri"/>
            </a:endParaRPr>
          </a:p>
        </p:txBody>
      </p:sp>
      <p:sp>
        <p:nvSpPr>
          <p:cNvPr id="449" name="Google Shape;449;p13"/>
          <p:cNvSpPr/>
          <p:nvPr/>
        </p:nvSpPr>
        <p:spPr>
          <a:xfrm>
            <a:off x="3419856" y="2596896"/>
            <a:ext cx="2578608" cy="8046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Write and explain regex, jq filters, awk pipelines. Translate between PromQL ↔ LogQL ↔ Splunk SPL. Explain what existing queries do.</a:t>
            </a:r>
            <a:endParaRPr b="0" i="0" sz="900" u="none" cap="none" strike="noStrike">
              <a:solidFill>
                <a:schemeClr val="dk1"/>
              </a:solidFill>
              <a:latin typeface="Calibri"/>
              <a:ea typeface="Calibri"/>
              <a:cs typeface="Calibri"/>
              <a:sym typeface="Calibri"/>
            </a:endParaRPr>
          </a:p>
        </p:txBody>
      </p:sp>
      <p:sp>
        <p:nvSpPr>
          <p:cNvPr id="450" name="Google Shape;450;p13"/>
          <p:cNvSpPr/>
          <p:nvPr/>
        </p:nvSpPr>
        <p:spPr>
          <a:xfrm>
            <a:off x="3419856" y="3493008"/>
            <a:ext cx="2578608"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Autonomous deploy agent</a:t>
            </a:r>
            <a:endParaRPr b="0" i="0" sz="1100" u="none" cap="none" strike="noStrike">
              <a:solidFill>
                <a:schemeClr val="dk1"/>
              </a:solidFill>
              <a:latin typeface="Calibri"/>
              <a:ea typeface="Calibri"/>
              <a:cs typeface="Calibri"/>
              <a:sym typeface="Calibri"/>
            </a:endParaRPr>
          </a:p>
        </p:txBody>
      </p:sp>
      <p:sp>
        <p:nvSpPr>
          <p:cNvPr id="451" name="Google Shape;451;p13"/>
          <p:cNvSpPr/>
          <p:nvPr/>
        </p:nvSpPr>
        <p:spPr>
          <a:xfrm>
            <a:off x="3419856" y="3712464"/>
            <a:ext cx="2578608" cy="8046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Claude Code + MCP: query logs on failure, diagnose root cause, recommend fix, trigger patch deployment within governed, auditable workflows.</a:t>
            </a:r>
            <a:endParaRPr b="0" i="0" sz="900" u="none" cap="none" strike="noStrike">
              <a:solidFill>
                <a:schemeClr val="dk1"/>
              </a:solidFill>
              <a:latin typeface="Calibri"/>
              <a:ea typeface="Calibri"/>
              <a:cs typeface="Calibri"/>
              <a:sym typeface="Calibri"/>
            </a:endParaRPr>
          </a:p>
        </p:txBody>
      </p:sp>
      <p:sp>
        <p:nvSpPr>
          <p:cNvPr id="452" name="Google Shape;452;p13"/>
          <p:cNvSpPr/>
          <p:nvPr/>
        </p:nvSpPr>
        <p:spPr>
          <a:xfrm>
            <a:off x="6208446" y="960133"/>
            <a:ext cx="2807100" cy="3675900"/>
          </a:xfrm>
          <a:prstGeom prst="rect">
            <a:avLst/>
          </a:prstGeom>
          <a:solidFill>
            <a:srgbClr val="131317"/>
          </a:solidFill>
          <a:ln cap="flat" cmpd="sng" w="9525">
            <a:solidFill>
              <a:srgbClr val="2A2A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3"/>
          <p:cNvSpPr/>
          <p:nvPr/>
        </p:nvSpPr>
        <p:spPr>
          <a:xfrm>
            <a:off x="6208471" y="960220"/>
            <a:ext cx="2807100" cy="36600"/>
          </a:xfrm>
          <a:prstGeom prst="rect">
            <a:avLst/>
          </a:prstGeom>
          <a:solidFill>
            <a:srgbClr val="4D8EEF"/>
          </a:solidFill>
          <a:ln cap="flat" cmpd="sng" w="12700">
            <a:solidFill>
              <a:srgbClr val="4D8E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3"/>
          <p:cNvSpPr/>
          <p:nvPr/>
        </p:nvSpPr>
        <p:spPr>
          <a:xfrm>
            <a:off x="6364124" y="1046991"/>
            <a:ext cx="2624400" cy="16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D8EEF"/>
              </a:buClr>
              <a:buSzPts val="800"/>
              <a:buFont typeface="Calibri"/>
              <a:buNone/>
            </a:pPr>
            <a:r>
              <a:rPr b="1" i="0" lang="en-US" sz="800" u="none" cap="none" strike="noStrike">
                <a:solidFill>
                  <a:srgbClr val="4D8EEF"/>
                </a:solidFill>
                <a:latin typeface="Calibri"/>
                <a:ea typeface="Calibri"/>
                <a:cs typeface="Calibri"/>
                <a:sym typeface="Calibri"/>
              </a:rPr>
              <a:t>KNOWLEDGE &amp; DOCUMENTATION</a:t>
            </a:r>
            <a:endParaRPr b="0" i="0" sz="800" u="none" cap="none" strike="noStrike">
              <a:solidFill>
                <a:schemeClr val="dk1"/>
              </a:solidFill>
              <a:latin typeface="Calibri"/>
              <a:ea typeface="Calibri"/>
              <a:cs typeface="Calibri"/>
              <a:sym typeface="Calibri"/>
            </a:endParaRPr>
          </a:p>
        </p:txBody>
      </p:sp>
      <p:sp>
        <p:nvSpPr>
          <p:cNvPr id="455" name="Google Shape;455;p13"/>
          <p:cNvSpPr/>
          <p:nvPr/>
        </p:nvSpPr>
        <p:spPr>
          <a:xfrm>
            <a:off x="6364224" y="1261872"/>
            <a:ext cx="2578608"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Runbook generation</a:t>
            </a:r>
            <a:endParaRPr b="0" i="0" sz="1100" u="none" cap="none" strike="noStrike">
              <a:solidFill>
                <a:schemeClr val="dk1"/>
              </a:solidFill>
              <a:latin typeface="Calibri"/>
              <a:ea typeface="Calibri"/>
              <a:cs typeface="Calibri"/>
              <a:sym typeface="Calibri"/>
            </a:endParaRPr>
          </a:p>
        </p:txBody>
      </p:sp>
      <p:sp>
        <p:nvSpPr>
          <p:cNvPr id="456" name="Google Shape;456;p13"/>
          <p:cNvSpPr/>
          <p:nvPr/>
        </p:nvSpPr>
        <p:spPr>
          <a:xfrm>
            <a:off x="6364224" y="1481328"/>
            <a:ext cx="2578608" cy="8046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Auto-generate runbooks from code or architecture diagrams. Keep them in sync as services evolve. No more stale docs.</a:t>
            </a:r>
            <a:endParaRPr b="0" i="0" sz="900" u="none" cap="none" strike="noStrike">
              <a:solidFill>
                <a:schemeClr val="dk1"/>
              </a:solidFill>
              <a:latin typeface="Calibri"/>
              <a:ea typeface="Calibri"/>
              <a:cs typeface="Calibri"/>
              <a:sym typeface="Calibri"/>
            </a:endParaRPr>
          </a:p>
        </p:txBody>
      </p:sp>
      <p:sp>
        <p:nvSpPr>
          <p:cNvPr id="457" name="Google Shape;457;p13"/>
          <p:cNvSpPr/>
          <p:nvPr/>
        </p:nvSpPr>
        <p:spPr>
          <a:xfrm>
            <a:off x="6364224" y="2377440"/>
            <a:ext cx="2578608"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ADR writing</a:t>
            </a:r>
            <a:endParaRPr b="0" i="0" sz="1100" u="none" cap="none" strike="noStrike">
              <a:solidFill>
                <a:schemeClr val="dk1"/>
              </a:solidFill>
              <a:latin typeface="Calibri"/>
              <a:ea typeface="Calibri"/>
              <a:cs typeface="Calibri"/>
              <a:sym typeface="Calibri"/>
            </a:endParaRPr>
          </a:p>
        </p:txBody>
      </p:sp>
      <p:sp>
        <p:nvSpPr>
          <p:cNvPr id="458" name="Google Shape;458;p13"/>
          <p:cNvSpPr/>
          <p:nvPr/>
        </p:nvSpPr>
        <p:spPr>
          <a:xfrm>
            <a:off x="6364224" y="2596896"/>
            <a:ext cx="2578608" cy="8046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Write Architecture Decision Records from Slack threads, Jira tickets, or design review notes in consistent format across the team.</a:t>
            </a:r>
            <a:endParaRPr b="0" i="0" sz="900" u="none" cap="none" strike="noStrike">
              <a:solidFill>
                <a:schemeClr val="dk1"/>
              </a:solidFill>
              <a:latin typeface="Calibri"/>
              <a:ea typeface="Calibri"/>
              <a:cs typeface="Calibri"/>
              <a:sym typeface="Calibri"/>
            </a:endParaRPr>
          </a:p>
        </p:txBody>
      </p:sp>
      <p:sp>
        <p:nvSpPr>
          <p:cNvPr id="459" name="Google Shape;459;p13"/>
          <p:cNvSpPr/>
          <p:nvPr/>
        </p:nvSpPr>
        <p:spPr>
          <a:xfrm>
            <a:off x="6364224" y="3493008"/>
            <a:ext cx="2578608"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EEF2"/>
              </a:buClr>
              <a:buSzPts val="1100"/>
              <a:buFont typeface="Calibri"/>
              <a:buNone/>
            </a:pPr>
            <a:r>
              <a:rPr b="1" i="0" lang="en-US" sz="1100" u="none" cap="none" strike="noStrike">
                <a:solidFill>
                  <a:srgbClr val="EEEEF2"/>
                </a:solidFill>
                <a:latin typeface="Calibri"/>
                <a:ea typeface="Calibri"/>
                <a:cs typeface="Calibri"/>
                <a:sym typeface="Calibri"/>
              </a:rPr>
              <a:t>Unified knowledge query</a:t>
            </a:r>
            <a:endParaRPr b="0" i="0" sz="1100" u="none" cap="none" strike="noStrike">
              <a:solidFill>
                <a:schemeClr val="dk1"/>
              </a:solidFill>
              <a:latin typeface="Calibri"/>
              <a:ea typeface="Calibri"/>
              <a:cs typeface="Calibri"/>
              <a:sym typeface="Calibri"/>
            </a:endParaRPr>
          </a:p>
        </p:txBody>
      </p:sp>
      <p:sp>
        <p:nvSpPr>
          <p:cNvPr id="460" name="Google Shape;460;p13"/>
          <p:cNvSpPr/>
          <p:nvPr/>
        </p:nvSpPr>
        <p:spPr>
          <a:xfrm>
            <a:off x="6364224" y="3712464"/>
            <a:ext cx="2578608" cy="8046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98"/>
              </a:buClr>
              <a:buSzPts val="900"/>
              <a:buFont typeface="Calibri"/>
              <a:buNone/>
            </a:pPr>
            <a:r>
              <a:rPr b="0" i="0" lang="en-US" sz="900" u="none" cap="none" strike="noStrike">
                <a:solidFill>
                  <a:srgbClr val="888898"/>
                </a:solidFill>
                <a:latin typeface="Calibri"/>
                <a:ea typeface="Calibri"/>
                <a:cs typeface="Calibri"/>
                <a:sym typeface="Calibri"/>
              </a:rPr>
              <a:t>Ask Claude across your entire wiki, runbook library, and past incident reports simultaneously</a:t>
            </a:r>
            <a:r>
              <a:rPr lang="en-US" sz="900">
                <a:solidFill>
                  <a:srgbClr val="888898"/>
                </a:solidFill>
                <a:latin typeface="Calibri"/>
                <a:ea typeface="Calibri"/>
                <a:cs typeface="Calibri"/>
                <a:sym typeface="Calibri"/>
              </a:rPr>
              <a:t>. O</a:t>
            </a:r>
            <a:r>
              <a:rPr b="0" i="0" lang="en-US" sz="900" u="none" cap="none" strike="noStrike">
                <a:solidFill>
                  <a:srgbClr val="888898"/>
                </a:solidFill>
                <a:latin typeface="Calibri"/>
                <a:ea typeface="Calibri"/>
                <a:cs typeface="Calibri"/>
                <a:sym typeface="Calibri"/>
              </a:rPr>
              <a:t>ne query instead of five browser tabs.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